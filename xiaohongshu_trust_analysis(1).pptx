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1" r:id="rId3"/>
    <p:sldMasterId id="2147483654" r:id="rId4"/>
  </p:sldMasterIdLst>
  <p:notesMasterIdLst>
    <p:notesMasterId r:id="rId6"/>
  </p:notesMasterIdLst>
  <p:sldIdLst>
    <p:sldId id="256" r:id="rId5"/>
    <p:sldId id="265" r:id="rId7"/>
    <p:sldId id="257" r:id="rId8"/>
    <p:sldId id="259" r:id="rId9"/>
    <p:sldId id="270" r:id="rId10"/>
    <p:sldId id="260" r:id="rId11"/>
    <p:sldId id="273" r:id="rId12"/>
    <p:sldId id="263" r:id="rId13"/>
    <p:sldId id="261" r:id="rId14"/>
    <p:sldId id="274" r:id="rId15"/>
    <p:sldId id="266" r:id="rId16"/>
    <p:sldId id="267" r:id="rId17"/>
    <p:sldId id="271" r:id="rId18"/>
    <p:sldId id="272" r:id="rId19"/>
  </p:sldIdLst>
  <p:sldSz cx="13004800" cy="7315200"/>
  <p:notesSz cx="7315200" cy="13004800"/>
  <p:custDataLst>
    <p:tags r:id="rId23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10000"/>
    <a:srgbClr val="D88C8C"/>
    <a:srgbClr val="CE9A9A"/>
    <a:srgbClr val="FFEBEB"/>
    <a:srgbClr val="FFD1D1"/>
    <a:srgbClr val="FED1C6"/>
    <a:srgbClr val="4D4D4D"/>
    <a:srgbClr val="C17D7D"/>
    <a:srgbClr val="FFF7F9"/>
    <a:srgbClr val="FE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4" d="100"/>
          <a:sy n="64" d="100"/>
        </p:scale>
        <p:origin x="37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3" Type="http://schemas.openxmlformats.org/officeDocument/2006/relationships/tags" Target="tags/tag10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+mn-ea"/>
                <a:cs typeface="+mn-cs"/>
              </a:rPr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hf sldNum="0" hdr="0" ftr="0" dt="0"/>
  <p:txStyles>
    <p:titleStyle>
      <a:lvl1pPr algn="ctr" defTabSz="731520" rtl="0" eaLnBrk="1" latinLnBrk="0" hangingPunct="1">
        <a:spcBef>
          <a:spcPct val="0"/>
        </a:spcBef>
        <a:buNone/>
        <a:defRPr sz="35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73152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594360" indent="-228600" algn="l" defTabSz="731520" rtl="0" eaLnBrk="1" latinLnBrk="0" hangingPunct="1">
        <a:spcBef>
          <a:spcPct val="20000"/>
        </a:spcBef>
        <a:buFont typeface="Arial" panose="020B0604020202020204" pitchFamily="34" charset="0"/>
        <a:buChar char="–"/>
        <a:defRPr sz="224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defTabSz="731520" rtl="0" eaLnBrk="1" latinLnBrk="0" hangingPunct="1">
        <a:spcBef>
          <a:spcPct val="200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182880" algn="l" defTabSz="731520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182880" algn="l" defTabSz="731520" rtl="0" eaLnBrk="1" latinLnBrk="0" hangingPunct="1">
        <a:spcBef>
          <a:spcPct val="20000"/>
        </a:spcBef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182880" algn="l" defTabSz="73152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182880" algn="l" defTabSz="73152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182880" algn="l" defTabSz="73152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182880" algn="l" defTabSz="73152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3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tags" Target="../tags/tag6.xml"/><Relationship Id="rId1" Type="http://schemas.openxmlformats.org/officeDocument/2006/relationships/hyperlink" Target="https://vb.net/" TargetMode="Externa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004800" cy="7315200"/>
          </a:xfrm>
          <a:custGeom>
            <a:avLst/>
            <a:gdLst/>
            <a:ahLst/>
            <a:cxnLst/>
            <a:rect l="l" t="t" r="r" b="b"/>
            <a:pathLst>
              <a:path w="13004800" h="7315200">
                <a:moveTo>
                  <a:pt x="0" y="0"/>
                </a:moveTo>
                <a:lnTo>
                  <a:pt x="13004800" y="0"/>
                </a:lnTo>
                <a:lnTo>
                  <a:pt x="130048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C2C2C">
                  <a:alpha val="40000"/>
                </a:srgbClr>
              </a:gs>
              <a:gs pos="100000">
                <a:srgbClr val="2C2C2C">
                  <a:alpha val="40000"/>
                </a:srgbClr>
              </a:gs>
            </a:gsLst>
            <a:lin ang="16200000" scaled="1"/>
          </a:gra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52400" y="2590165"/>
            <a:ext cx="127000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Noto Sans SC" panose="020B0200000000000000" pitchFamily="34" charset="-120"/>
              </a:rPr>
              <a:t>小红书校园博主</a:t>
            </a:r>
            <a:endParaRPr lang="en-US" sz="1600" dirty="0">
              <a:latin typeface="华文中宋" panose="02010600040101010101" charset="-122"/>
              <a:ea typeface="华文中宋" panose="02010600040101010101" charset="-122"/>
            </a:endParaRPr>
          </a:p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Noto Sans SC" panose="020B0200000000000000" pitchFamily="34" charset="-120"/>
              </a:rPr>
              <a:t>信任构建语言策略分析</a:t>
            </a:r>
            <a:endParaRPr lang="en-US" sz="16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304800" y="3784600"/>
            <a:ext cx="12395200" cy="22745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lang="zh-CN" altLang="en-US" sz="2400" dirty="0">
              <a:solidFill>
                <a:srgbClr val="FFFFFF">
                  <a:alpha val="80000"/>
                </a:srgb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5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1985" y="274955"/>
            <a:ext cx="1803400" cy="1193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6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SC Medium" panose="020B0200000000000000" charset="-122"/>
                <a:ea typeface="Noto Sans SC Medium" panose="020B0200000000000000" charset="-122"/>
              </a:rPr>
              <a:t>目录</a:t>
            </a:r>
            <a:endParaRPr lang="zh-CN" altLang="en-US" sz="6600" b="1" dirty="0">
              <a:solidFill>
                <a:schemeClr val="tx1">
                  <a:lumMod val="65000"/>
                  <a:lumOff val="35000"/>
                </a:schemeClr>
              </a:solidFill>
              <a:latin typeface="Noto Sans SC Medium" panose="020B0200000000000000" charset="-122"/>
              <a:ea typeface="Noto Sans SC Medium" panose="020B0200000000000000" charset="-122"/>
            </a:endParaRPr>
          </a:p>
        </p:txBody>
      </p:sp>
      <p:sp>
        <p:nvSpPr>
          <p:cNvPr id="6" name="Shape 1"/>
          <p:cNvSpPr/>
          <p:nvPr>
            <p:custDataLst>
              <p:tags r:id="rId2"/>
            </p:custDataLst>
          </p:nvPr>
        </p:nvSpPr>
        <p:spPr>
          <a:xfrm>
            <a:off x="2714171" y="1628955"/>
            <a:ext cx="0" cy="5226770"/>
          </a:xfrm>
          <a:prstGeom prst="line">
            <a:avLst/>
          </a:prstGeom>
          <a:noFill/>
          <a:ln w="50800">
            <a:solidFill>
              <a:srgbClr val="E8B4B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7" name="文本框 6"/>
          <p:cNvSpPr txBox="1"/>
          <p:nvPr/>
        </p:nvSpPr>
        <p:spPr>
          <a:xfrm>
            <a:off x="1807844" y="1735662"/>
            <a:ext cx="9734971" cy="5355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4D4D4D"/>
                </a:solidFill>
                <a:latin typeface="Noto Serif SC Medium" panose="02020200000000000000" charset="-122"/>
                <a:ea typeface="Noto Serif SC Medium" panose="02020200000000000000" charset="-122"/>
                <a:cs typeface="Noto Serif SC Medium" panose="02020200000000000000" charset="-122"/>
                <a:sym typeface="+mn-ea"/>
              </a:rPr>
              <a:t>01		</a:t>
            </a:r>
            <a:r>
              <a:rPr lang="en-US" sz="3600" b="1" dirty="0" err="1">
                <a:solidFill>
                  <a:srgbClr val="4D4D4D"/>
                </a:solidFill>
                <a:latin typeface="Noto Serif SC Medium" panose="02020200000000000000" charset="-122"/>
                <a:ea typeface="Noto Serif SC Medium" panose="02020200000000000000" charset="-122"/>
                <a:cs typeface="Noto Serif SC Medium" panose="02020200000000000000" charset="-122"/>
                <a:sym typeface="+mn-ea"/>
              </a:rPr>
              <a:t>核心研究问题</a:t>
            </a:r>
            <a:r>
              <a:rPr lang="en-US" sz="3600" b="1" dirty="0">
                <a:solidFill>
                  <a:srgbClr val="4D4D4D"/>
                </a:solidFill>
                <a:latin typeface="Noto Serif SC Medium" panose="02020200000000000000" charset="-122"/>
                <a:ea typeface="Noto Serif SC Medium" panose="02020200000000000000" charset="-122"/>
                <a:cs typeface="Noto Serif SC Medium" panose="02020200000000000000" charset="-122"/>
                <a:sym typeface="+mn-ea"/>
              </a:rPr>
              <a:t>&amp;</a:t>
            </a:r>
            <a:r>
              <a:rPr lang="zh-CN" altLang="en-US" sz="3600" b="1" dirty="0">
                <a:solidFill>
                  <a:srgbClr val="4D4D4D"/>
                </a:solidFill>
                <a:latin typeface="Noto Serif SC Medium" panose="02020200000000000000" charset="-122"/>
                <a:ea typeface="Noto Serif SC Medium" panose="02020200000000000000" charset="-122"/>
                <a:cs typeface="Noto Serif SC Medium" panose="02020200000000000000" charset="-122"/>
                <a:sym typeface="+mn-ea"/>
              </a:rPr>
              <a:t>研究框架</a:t>
            </a:r>
            <a:endParaRPr lang="en-US" altLang="en-US" sz="3600" b="1" dirty="0">
              <a:solidFill>
                <a:srgbClr val="4D4D4D"/>
              </a:solidFill>
              <a:latin typeface="Noto Serif SC Medium" panose="02020200000000000000" charset="-122"/>
              <a:ea typeface="Noto Serif SC Medium" panose="02020200000000000000" charset="-122"/>
              <a:cs typeface="Noto Serif SC Medium" panose="02020200000000000000" charset="-122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1796958" y="2901071"/>
            <a:ext cx="7428230" cy="5355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4D4D4D"/>
                </a:solidFill>
                <a:latin typeface="Noto Serif SC Medium" panose="02020200000000000000" charset="-122"/>
                <a:ea typeface="Noto Serif SC Medium" panose="02020200000000000000" charset="-122"/>
                <a:cs typeface="Noto Serif SC Medium" panose="02020200000000000000" charset="-122"/>
                <a:sym typeface="+mn-ea"/>
              </a:rPr>
              <a:t>02		</a:t>
            </a:r>
            <a:r>
              <a:rPr lang="zh-CN" altLang="en-US" sz="3600" b="1" dirty="0">
                <a:solidFill>
                  <a:srgbClr val="4D4D4D"/>
                </a:solidFill>
                <a:latin typeface="Noto Serif SC Medium" panose="02020200000000000000" charset="-122"/>
                <a:ea typeface="Noto Serif SC Medium" panose="02020200000000000000" charset="-122"/>
                <a:cs typeface="Noto Serif SC Medium" panose="02020200000000000000" charset="-122"/>
                <a:sym typeface="+mn-ea"/>
              </a:rPr>
              <a:t>数据概览与分布</a:t>
            </a:r>
            <a:endParaRPr lang="zh-CN" altLang="en-US" sz="3600" b="1" dirty="0">
              <a:solidFill>
                <a:srgbClr val="4D4D4D"/>
              </a:solidFill>
              <a:latin typeface="Noto Serif SC Medium" panose="02020200000000000000" charset="-122"/>
              <a:ea typeface="Noto Serif SC Medium" panose="02020200000000000000" charset="-122"/>
              <a:cs typeface="Noto Serif SC Medium" panose="02020200000000000000" charset="-122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1807845" y="4068468"/>
            <a:ext cx="8750935" cy="5355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4D4D4D"/>
                </a:solidFill>
                <a:latin typeface="Noto Serif SC Medium" panose="02020200000000000000" charset="-122"/>
                <a:ea typeface="Noto Serif SC Medium" panose="02020200000000000000" charset="-122"/>
                <a:cs typeface="Noto Serif SC Medium" panose="02020200000000000000" charset="-122"/>
                <a:sym typeface="+mn-ea"/>
              </a:rPr>
              <a:t>03		</a:t>
            </a:r>
            <a:r>
              <a:rPr lang="zh-CN" altLang="en-US" sz="3600" b="1" dirty="0">
                <a:solidFill>
                  <a:srgbClr val="4D4D4D"/>
                </a:solidFill>
                <a:latin typeface="Noto Serif SC Medium" panose="02020200000000000000" charset="-122"/>
                <a:ea typeface="Noto Serif SC Medium" panose="02020200000000000000" charset="-122"/>
                <a:cs typeface="Noto Serif SC Medium" panose="02020200000000000000" charset="-122"/>
                <a:sym typeface="+mn-ea"/>
              </a:rPr>
              <a:t>策略效果可视化分析</a:t>
            </a:r>
            <a:endParaRPr lang="zh-CN" altLang="en-US" sz="3600" b="1" dirty="0">
              <a:solidFill>
                <a:srgbClr val="4D4D4D"/>
              </a:solidFill>
              <a:latin typeface="Noto Serif SC Medium" panose="02020200000000000000" charset="-122"/>
              <a:ea typeface="Noto Serif SC Medium" panose="02020200000000000000" charset="-122"/>
              <a:cs typeface="Noto Serif SC Medium" panose="02020200000000000000" charset="-122"/>
              <a:sym typeface="+mn-ea"/>
            </a:endParaRPr>
          </a:p>
        </p:txBody>
      </p:sp>
      <p:sp>
        <p:nvSpPr>
          <p:cNvPr id="2" name="Shape 27"/>
          <p:cNvSpPr/>
          <p:nvPr/>
        </p:nvSpPr>
        <p:spPr>
          <a:xfrm>
            <a:off x="7115313" y="635766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217959" y="285750"/>
                </a:moveTo>
                <a:cubicBezTo>
                  <a:pt x="223391" y="269156"/>
                  <a:pt x="234255" y="254124"/>
                  <a:pt x="246534" y="241176"/>
                </a:cubicBezTo>
                <a:cubicBezTo>
                  <a:pt x="270867" y="215578"/>
                  <a:pt x="285750" y="180975"/>
                  <a:pt x="285750" y="142875"/>
                </a:cubicBezTo>
                <a:cubicBezTo>
                  <a:pt x="285750" y="63996"/>
                  <a:pt x="221754" y="0"/>
                  <a:pt x="142875" y="0"/>
                </a:cubicBezTo>
                <a:cubicBezTo>
                  <a:pt x="63996" y="0"/>
                  <a:pt x="0" y="63996"/>
                  <a:pt x="0" y="142875"/>
                </a:cubicBezTo>
                <a:cubicBezTo>
                  <a:pt x="0" y="180975"/>
                  <a:pt x="14883" y="215578"/>
                  <a:pt x="39216" y="241176"/>
                </a:cubicBezTo>
                <a:cubicBezTo>
                  <a:pt x="51495" y="254124"/>
                  <a:pt x="62433" y="269156"/>
                  <a:pt x="67791" y="285750"/>
                </a:cubicBezTo>
                <a:lnTo>
                  <a:pt x="217884" y="285750"/>
                </a:lnTo>
                <a:close/>
                <a:moveTo>
                  <a:pt x="214313" y="321469"/>
                </a:moveTo>
                <a:lnTo>
                  <a:pt x="71438" y="321469"/>
                </a:lnTo>
                <a:lnTo>
                  <a:pt x="71438" y="333375"/>
                </a:lnTo>
                <a:cubicBezTo>
                  <a:pt x="71438" y="366266"/>
                  <a:pt x="98078" y="392906"/>
                  <a:pt x="130969" y="392906"/>
                </a:cubicBezTo>
                <a:lnTo>
                  <a:pt x="154781" y="392906"/>
                </a:lnTo>
                <a:cubicBezTo>
                  <a:pt x="187672" y="392906"/>
                  <a:pt x="214313" y="366266"/>
                  <a:pt x="214313" y="333375"/>
                </a:cubicBezTo>
                <a:lnTo>
                  <a:pt x="214313" y="321469"/>
                </a:lnTo>
                <a:close/>
                <a:moveTo>
                  <a:pt x="136922" y="83344"/>
                </a:moveTo>
                <a:cubicBezTo>
                  <a:pt x="107305" y="83344"/>
                  <a:pt x="83344" y="107305"/>
                  <a:pt x="83344" y="136922"/>
                </a:cubicBezTo>
                <a:cubicBezTo>
                  <a:pt x="83344" y="146819"/>
                  <a:pt x="75381" y="154781"/>
                  <a:pt x="65484" y="154781"/>
                </a:cubicBezTo>
                <a:cubicBezTo>
                  <a:pt x="55587" y="154781"/>
                  <a:pt x="47625" y="146819"/>
                  <a:pt x="47625" y="136922"/>
                </a:cubicBezTo>
                <a:cubicBezTo>
                  <a:pt x="47625" y="87585"/>
                  <a:pt x="87585" y="47625"/>
                  <a:pt x="136922" y="47625"/>
                </a:cubicBezTo>
                <a:cubicBezTo>
                  <a:pt x="146819" y="47625"/>
                  <a:pt x="154781" y="55587"/>
                  <a:pt x="154781" y="65484"/>
                </a:cubicBezTo>
                <a:cubicBezTo>
                  <a:pt x="154781" y="75381"/>
                  <a:pt x="146819" y="83344"/>
                  <a:pt x="136922" y="83344"/>
                </a:cubicBezTo>
                <a:close/>
              </a:path>
            </a:pathLst>
          </a:custGeom>
          <a:solidFill>
            <a:srgbClr val="D88C8C"/>
          </a:solidFill>
        </p:spPr>
        <p:txBody>
          <a:bodyPr/>
          <a:lstStyle/>
          <a:p>
            <a:endParaRPr lang="zh-CN" altLang="en-US">
              <a:solidFill>
                <a:srgbClr val="D88C8C"/>
              </a:solidFill>
            </a:endParaRPr>
          </a:p>
        </p:txBody>
      </p:sp>
      <p:sp>
        <p:nvSpPr>
          <p:cNvPr id="5" name="Text 28"/>
          <p:cNvSpPr/>
          <p:nvPr/>
        </p:nvSpPr>
        <p:spPr>
          <a:xfrm>
            <a:off x="7645538" y="470666"/>
            <a:ext cx="4991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D88C8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研究核心问题</a:t>
            </a:r>
            <a:endParaRPr lang="en-US" sz="1600" dirty="0">
              <a:solidFill>
                <a:srgbClr val="D88C8C"/>
              </a:solidFill>
            </a:endParaRPr>
          </a:p>
        </p:txBody>
      </p:sp>
      <p:sp>
        <p:nvSpPr>
          <p:cNvPr id="12" name="Text 29"/>
          <p:cNvSpPr/>
          <p:nvPr/>
        </p:nvSpPr>
        <p:spPr>
          <a:xfrm>
            <a:off x="7645538" y="877066"/>
            <a:ext cx="4978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D88C8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小红书校园博主使用了哪些语言策略来建立读者信任？</a:t>
            </a:r>
            <a:endParaRPr lang="en-US" sz="1600" dirty="0">
              <a:solidFill>
                <a:srgbClr val="D88C8C"/>
              </a:solidFill>
            </a:endParaRPr>
          </a:p>
        </p:txBody>
      </p:sp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1807844" y="6320194"/>
            <a:ext cx="7428230" cy="5355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4D4D4D"/>
                </a:solidFill>
                <a:latin typeface="Noto Serif SC Medium" panose="02020200000000000000" charset="-122"/>
                <a:ea typeface="Noto Serif SC Medium" panose="02020200000000000000" charset="-122"/>
                <a:cs typeface="Noto Serif SC Medium" panose="02020200000000000000" charset="-122"/>
                <a:sym typeface="+mn-ea"/>
              </a:rPr>
              <a:t>05		</a:t>
            </a:r>
            <a:r>
              <a:rPr lang="zh-CN" altLang="en-US" sz="3600" b="1" dirty="0">
                <a:solidFill>
                  <a:srgbClr val="4D4D4D"/>
                </a:solidFill>
                <a:latin typeface="Noto Serif SC Medium" panose="02020200000000000000" charset="-122"/>
                <a:ea typeface="Noto Serif SC Medium" panose="02020200000000000000" charset="-122"/>
                <a:cs typeface="Noto Serif SC Medium" panose="02020200000000000000" charset="-122"/>
                <a:sym typeface="+mn-ea"/>
              </a:rPr>
              <a:t>总结与反思</a:t>
            </a:r>
            <a:endParaRPr lang="zh-CN" altLang="en-US" sz="3600" b="1" dirty="0">
              <a:solidFill>
                <a:srgbClr val="4D4D4D"/>
              </a:solidFill>
              <a:latin typeface="Noto Serif SC Medium" panose="02020200000000000000" charset="-122"/>
              <a:ea typeface="Noto Serif SC Medium" panose="02020200000000000000" charset="-122"/>
              <a:cs typeface="Noto Serif SC Medium" panose="02020200000000000000" charset="-122"/>
              <a:sym typeface="+mn-ea"/>
            </a:endParaRPr>
          </a:p>
        </p:txBody>
      </p:sp>
      <p:sp>
        <p:nvSpPr>
          <p:cNvPr id="15" name="Text 7"/>
          <p:cNvSpPr/>
          <p:nvPr/>
        </p:nvSpPr>
        <p:spPr>
          <a:xfrm>
            <a:off x="3763819" y="2265265"/>
            <a:ext cx="49784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身份展示、经验证明、关系建立三大核心策略维度分析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3752933" y="3401544"/>
            <a:ext cx="53213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863个样本的完整数据分析，涵盖三个策略维度的分布特征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17" name="Text 19"/>
          <p:cNvSpPr/>
          <p:nvPr/>
        </p:nvSpPr>
        <p:spPr>
          <a:xfrm>
            <a:off x="3759200" y="4596916"/>
            <a:ext cx="37592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各策略维度与互动效果的关联性深度分析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1801578" y="5206032"/>
            <a:ext cx="8750935" cy="5355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4D4D4D"/>
                </a:solidFill>
                <a:latin typeface="Noto Serif SC Medium" panose="02020200000000000000" charset="-122"/>
                <a:ea typeface="Noto Serif SC Medium" panose="02020200000000000000" charset="-122"/>
                <a:cs typeface="Noto Serif SC Medium" panose="02020200000000000000" charset="-122"/>
                <a:sym typeface="+mn-ea"/>
              </a:rPr>
              <a:t>04		</a:t>
            </a:r>
            <a:r>
              <a:rPr lang="zh-CN" altLang="en-US" sz="3600" b="1" dirty="0">
                <a:solidFill>
                  <a:srgbClr val="4D4D4D"/>
                </a:solidFill>
                <a:latin typeface="Noto Serif SC Medium" panose="02020200000000000000" charset="-122"/>
                <a:ea typeface="Noto Serif SC Medium" panose="02020200000000000000" charset="-122"/>
                <a:cs typeface="Noto Serif SC Medium" panose="02020200000000000000" charset="-122"/>
                <a:sym typeface="+mn-ea"/>
              </a:rPr>
              <a:t>高效策略组合</a:t>
            </a:r>
            <a:endParaRPr lang="zh-CN" altLang="en-US" sz="3600" b="1" dirty="0">
              <a:solidFill>
                <a:srgbClr val="4D4D4D"/>
              </a:solidFill>
              <a:latin typeface="Noto Serif SC Medium" panose="02020200000000000000" charset="-122"/>
              <a:ea typeface="Noto Serif SC Medium" panose="02020200000000000000" charset="-122"/>
              <a:cs typeface="Noto Serif SC Medium" panose="02020200000000000000" charset="-122"/>
              <a:sym typeface="+mn-ea"/>
            </a:endParaRPr>
          </a:p>
        </p:txBody>
      </p:sp>
      <p:sp>
        <p:nvSpPr>
          <p:cNvPr id="20" name="Text 19"/>
          <p:cNvSpPr/>
          <p:nvPr/>
        </p:nvSpPr>
        <p:spPr>
          <a:xfrm>
            <a:off x="3752933" y="5734480"/>
            <a:ext cx="37592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识别最有互动效果的语言策略组合模式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138238"/>
            <a:ext cx="12547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2C2C2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01 核心</a:t>
            </a:r>
            <a:r>
              <a:rPr lang="en-US" sz="4800" b="1" dirty="0">
                <a:solidFill>
                  <a:srgbClr val="2C2C2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  <a:sym typeface="+mn-ea"/>
              </a:rPr>
              <a:t>研究</a:t>
            </a:r>
            <a:r>
              <a:rPr lang="en-US" sz="4800" b="1" dirty="0">
                <a:solidFill>
                  <a:srgbClr val="2C2C2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问题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2255838"/>
            <a:ext cx="0" cy="825500"/>
          </a:xfrm>
          <a:prstGeom prst="line">
            <a:avLst/>
          </a:prstGeom>
          <a:noFill/>
          <a:ln w="50800">
            <a:solidFill>
              <a:srgbClr val="E8B4B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36600" y="2357438"/>
            <a:ext cx="12077700" cy="622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2C2C2C"/>
                </a:solidFill>
                <a:latin typeface="华文中宋" panose="02010600040101010101" charset="-122"/>
                <a:ea typeface="华文中宋" panose="02010600040101010101" charset="-122"/>
                <a:cs typeface="Noto Sans SC" panose="020B0200000000000000" pitchFamily="34" charset="-120"/>
              </a:rPr>
              <a:t>小红书校园博主使用了哪些语言策略来建立读者信任？</a:t>
            </a:r>
            <a:endParaRPr lang="en-US" sz="3000" dirty="0">
              <a:solidFill>
                <a:srgbClr val="2C2C2C"/>
              </a:solidFill>
              <a:latin typeface="华文中宋" panose="02010600040101010101" charset="-122"/>
              <a:ea typeface="华文中宋" panose="02010600040101010101" charset="-122"/>
              <a:cs typeface="Noto Sans SC" panose="020B0200000000000000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81000" y="3586163"/>
            <a:ext cx="3810000" cy="2590800"/>
          </a:xfrm>
          <a:custGeom>
            <a:avLst/>
            <a:gdLst/>
            <a:ahLst/>
            <a:cxnLst/>
            <a:rect l="l" t="t" r="r" b="b"/>
            <a:pathLst>
              <a:path w="3810000" h="2590800">
                <a:moveTo>
                  <a:pt x="101611" y="0"/>
                </a:moveTo>
                <a:lnTo>
                  <a:pt x="3708389" y="0"/>
                </a:lnTo>
                <a:cubicBezTo>
                  <a:pt x="3764507" y="0"/>
                  <a:pt x="3810000" y="45493"/>
                  <a:pt x="3810000" y="101611"/>
                </a:cubicBezTo>
                <a:lnTo>
                  <a:pt x="3810000" y="2489189"/>
                </a:lnTo>
                <a:cubicBezTo>
                  <a:pt x="3810000" y="2545307"/>
                  <a:pt x="3764507" y="2590800"/>
                  <a:pt x="3708389" y="2590800"/>
                </a:cubicBezTo>
                <a:lnTo>
                  <a:pt x="101611" y="2590800"/>
                </a:lnTo>
                <a:cubicBezTo>
                  <a:pt x="45493" y="2590800"/>
                  <a:pt x="0" y="2545307"/>
                  <a:pt x="0" y="2489189"/>
                </a:cubicBezTo>
                <a:lnTo>
                  <a:pt x="0" y="101611"/>
                </a:lnTo>
                <a:cubicBezTo>
                  <a:pt x="0" y="45530"/>
                  <a:pt x="45530" y="0"/>
                  <a:pt x="101611" y="0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36600" y="39036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96912" y="285899"/>
                </a:moveTo>
                <a:cubicBezTo>
                  <a:pt x="280467" y="257324"/>
                  <a:pt x="249585" y="238125"/>
                  <a:pt x="214313" y="238125"/>
                </a:cubicBezTo>
                <a:lnTo>
                  <a:pt x="166688" y="238125"/>
                </a:lnTo>
                <a:cubicBezTo>
                  <a:pt x="131415" y="238125"/>
                  <a:pt x="100533" y="257324"/>
                  <a:pt x="84088" y="285899"/>
                </a:cubicBezTo>
                <a:cubicBezTo>
                  <a:pt x="110282" y="315069"/>
                  <a:pt x="148233" y="333375"/>
                  <a:pt x="190500" y="333375"/>
                </a:cubicBezTo>
                <a:cubicBezTo>
                  <a:pt x="232767" y="333375"/>
                  <a:pt x="270718" y="314995"/>
                  <a:pt x="296912" y="285899"/>
                </a:cubicBezTo>
                <a:close/>
                <a:moveTo>
                  <a:pt x="0" y="190500"/>
                </a:moveTo>
                <a:cubicBezTo>
                  <a:pt x="0" y="85360"/>
                  <a:pt x="85360" y="0"/>
                  <a:pt x="190500" y="0"/>
                </a:cubicBezTo>
                <a:cubicBezTo>
                  <a:pt x="295640" y="0"/>
                  <a:pt x="381000" y="85360"/>
                  <a:pt x="381000" y="190500"/>
                </a:cubicBezTo>
                <a:cubicBezTo>
                  <a:pt x="381000" y="295640"/>
                  <a:pt x="295640" y="381000"/>
                  <a:pt x="190500" y="381000"/>
                </a:cubicBezTo>
                <a:cubicBezTo>
                  <a:pt x="85360" y="381000"/>
                  <a:pt x="0" y="295640"/>
                  <a:pt x="0" y="190500"/>
                </a:cubicBezTo>
                <a:close/>
                <a:moveTo>
                  <a:pt x="190500" y="202406"/>
                </a:moveTo>
                <a:cubicBezTo>
                  <a:pt x="220071" y="202406"/>
                  <a:pt x="244078" y="178399"/>
                  <a:pt x="244078" y="148828"/>
                </a:cubicBezTo>
                <a:cubicBezTo>
                  <a:pt x="244078" y="119258"/>
                  <a:pt x="220071" y="95250"/>
                  <a:pt x="190500" y="95250"/>
                </a:cubicBezTo>
                <a:cubicBezTo>
                  <a:pt x="160929" y="95250"/>
                  <a:pt x="136922" y="119258"/>
                  <a:pt x="136922" y="148828"/>
                </a:cubicBezTo>
                <a:cubicBezTo>
                  <a:pt x="136922" y="178399"/>
                  <a:pt x="160929" y="202406"/>
                  <a:pt x="190500" y="202406"/>
                </a:cubicBezTo>
                <a:close/>
              </a:path>
            </a:pathLst>
          </a:custGeom>
          <a:solidFill>
            <a:srgbClr val="E8B4B8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365250" y="3890962"/>
            <a:ext cx="1981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2C2C2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身份展示策略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4500563"/>
            <a:ext cx="33020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C2C2C"/>
                </a:solidFill>
                <a:highlight>
                  <a:srgbClr val="E8B4B8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研究点： </a:t>
            </a:r>
            <a:r>
              <a:rPr lang="en-US" sz="1600" dirty="0">
                <a:solidFill>
                  <a:srgbClr val="6B6B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博主如何介绍自己来建立权威感？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5262563"/>
            <a:ext cx="33020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C2C2C"/>
                </a:solidFill>
                <a:highlight>
                  <a:srgbClr val="E8B4B8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分析焦点： </a:t>
            </a:r>
            <a:r>
              <a:rPr lang="en-US" sz="1600" dirty="0">
                <a:solidFill>
                  <a:srgbClr val="6B6B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身份信息的具体程度（具体/泛称/无）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97400" y="3586163"/>
            <a:ext cx="3810000" cy="2590800"/>
          </a:xfrm>
          <a:custGeom>
            <a:avLst/>
            <a:gdLst/>
            <a:ahLst/>
            <a:cxnLst/>
            <a:rect l="l" t="t" r="r" b="b"/>
            <a:pathLst>
              <a:path w="3810000" h="2590800">
                <a:moveTo>
                  <a:pt x="101611" y="0"/>
                </a:moveTo>
                <a:lnTo>
                  <a:pt x="3708389" y="0"/>
                </a:lnTo>
                <a:cubicBezTo>
                  <a:pt x="3764507" y="0"/>
                  <a:pt x="3810000" y="45493"/>
                  <a:pt x="3810000" y="101611"/>
                </a:cubicBezTo>
                <a:lnTo>
                  <a:pt x="3810000" y="2489189"/>
                </a:lnTo>
                <a:cubicBezTo>
                  <a:pt x="3810000" y="2545307"/>
                  <a:pt x="3764507" y="2590800"/>
                  <a:pt x="3708389" y="2590800"/>
                </a:cubicBezTo>
                <a:lnTo>
                  <a:pt x="101611" y="2590800"/>
                </a:lnTo>
                <a:cubicBezTo>
                  <a:pt x="45493" y="2590800"/>
                  <a:pt x="0" y="2545307"/>
                  <a:pt x="0" y="2489189"/>
                </a:cubicBezTo>
                <a:lnTo>
                  <a:pt x="0" y="101611"/>
                </a:lnTo>
                <a:cubicBezTo>
                  <a:pt x="0" y="45530"/>
                  <a:pt x="45530" y="0"/>
                  <a:pt x="101611" y="0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953000" y="39036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47625" y="47625"/>
                </a:moveTo>
                <a:cubicBezTo>
                  <a:pt x="47625" y="34454"/>
                  <a:pt x="36984" y="23812"/>
                  <a:pt x="23812" y="23812"/>
                </a:cubicBezTo>
                <a:cubicBezTo>
                  <a:pt x="10641" y="23812"/>
                  <a:pt x="0" y="34454"/>
                  <a:pt x="0" y="47625"/>
                </a:cubicBezTo>
                <a:lnTo>
                  <a:pt x="0" y="297656"/>
                </a:lnTo>
                <a:cubicBezTo>
                  <a:pt x="0" y="330547"/>
                  <a:pt x="26640" y="357188"/>
                  <a:pt x="59531" y="357188"/>
                </a:cubicBezTo>
                <a:lnTo>
                  <a:pt x="357188" y="357188"/>
                </a:lnTo>
                <a:cubicBezTo>
                  <a:pt x="370359" y="357188"/>
                  <a:pt x="381000" y="346546"/>
                  <a:pt x="381000" y="333375"/>
                </a:cubicBezTo>
                <a:cubicBezTo>
                  <a:pt x="381000" y="320204"/>
                  <a:pt x="370359" y="309563"/>
                  <a:pt x="357188" y="309563"/>
                </a:cubicBezTo>
                <a:lnTo>
                  <a:pt x="59531" y="309563"/>
                </a:lnTo>
                <a:cubicBezTo>
                  <a:pt x="52983" y="309563"/>
                  <a:pt x="47625" y="304205"/>
                  <a:pt x="47625" y="297656"/>
                </a:cubicBezTo>
                <a:lnTo>
                  <a:pt x="47625" y="47625"/>
                </a:lnTo>
                <a:close/>
                <a:moveTo>
                  <a:pt x="350193" y="112068"/>
                </a:moveTo>
                <a:cubicBezTo>
                  <a:pt x="359494" y="102766"/>
                  <a:pt x="359494" y="87660"/>
                  <a:pt x="350193" y="78358"/>
                </a:cubicBezTo>
                <a:cubicBezTo>
                  <a:pt x="340891" y="69056"/>
                  <a:pt x="325785" y="69056"/>
                  <a:pt x="316483" y="78358"/>
                </a:cubicBezTo>
                <a:lnTo>
                  <a:pt x="238125" y="156790"/>
                </a:lnTo>
                <a:lnTo>
                  <a:pt x="195411" y="114151"/>
                </a:lnTo>
                <a:cubicBezTo>
                  <a:pt x="186110" y="104849"/>
                  <a:pt x="171004" y="104849"/>
                  <a:pt x="161702" y="114151"/>
                </a:cubicBezTo>
                <a:lnTo>
                  <a:pt x="90264" y="185589"/>
                </a:lnTo>
                <a:cubicBezTo>
                  <a:pt x="80963" y="194890"/>
                  <a:pt x="80963" y="209996"/>
                  <a:pt x="90264" y="219298"/>
                </a:cubicBezTo>
                <a:cubicBezTo>
                  <a:pt x="99566" y="228600"/>
                  <a:pt x="114672" y="228600"/>
                  <a:pt x="123974" y="219298"/>
                </a:cubicBezTo>
                <a:lnTo>
                  <a:pt x="178594" y="164678"/>
                </a:lnTo>
                <a:lnTo>
                  <a:pt x="221307" y="207392"/>
                </a:lnTo>
                <a:cubicBezTo>
                  <a:pt x="230609" y="216694"/>
                  <a:pt x="245715" y="216694"/>
                  <a:pt x="255017" y="207392"/>
                </a:cubicBezTo>
                <a:lnTo>
                  <a:pt x="350267" y="112142"/>
                </a:lnTo>
                <a:close/>
              </a:path>
            </a:pathLst>
          </a:custGeom>
          <a:solidFill>
            <a:srgbClr val="E8B4B8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581650" y="3890962"/>
            <a:ext cx="1981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2C2C2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经验证明策略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02200" y="4500563"/>
            <a:ext cx="33020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C2C2C"/>
                </a:solidFill>
                <a:highlight>
                  <a:srgbClr val="E8B4B8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研究点： </a:t>
            </a:r>
            <a:r>
              <a:rPr lang="en-US" sz="1600" dirty="0">
                <a:solidFill>
                  <a:srgbClr val="6B6B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博主如何证明内容真实可靠？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02200" y="5262563"/>
            <a:ext cx="33020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C2C2C"/>
                </a:solidFill>
                <a:highlight>
                  <a:srgbClr val="E8B4B8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分析焦点： </a:t>
            </a:r>
            <a:r>
              <a:rPr lang="en-US" sz="1600" dirty="0">
                <a:solidFill>
                  <a:srgbClr val="6B6B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证据的强弱程度（L1量化证据 - L4纯观点）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813800" y="3586163"/>
            <a:ext cx="3810000" cy="2590800"/>
          </a:xfrm>
          <a:custGeom>
            <a:avLst/>
            <a:gdLst/>
            <a:ahLst/>
            <a:cxnLst/>
            <a:rect l="l" t="t" r="r" b="b"/>
            <a:pathLst>
              <a:path w="3810000" h="2590800">
                <a:moveTo>
                  <a:pt x="101611" y="0"/>
                </a:moveTo>
                <a:lnTo>
                  <a:pt x="3708389" y="0"/>
                </a:lnTo>
                <a:cubicBezTo>
                  <a:pt x="3764507" y="0"/>
                  <a:pt x="3810000" y="45493"/>
                  <a:pt x="3810000" y="101611"/>
                </a:cubicBezTo>
                <a:lnTo>
                  <a:pt x="3810000" y="2489189"/>
                </a:lnTo>
                <a:cubicBezTo>
                  <a:pt x="3810000" y="2545307"/>
                  <a:pt x="3764507" y="2590800"/>
                  <a:pt x="3708389" y="2590800"/>
                </a:cubicBezTo>
                <a:lnTo>
                  <a:pt x="101611" y="2590800"/>
                </a:lnTo>
                <a:cubicBezTo>
                  <a:pt x="45493" y="2590800"/>
                  <a:pt x="0" y="2545307"/>
                  <a:pt x="0" y="2489189"/>
                </a:cubicBezTo>
                <a:lnTo>
                  <a:pt x="0" y="101611"/>
                </a:lnTo>
                <a:cubicBezTo>
                  <a:pt x="0" y="45530"/>
                  <a:pt x="45530" y="0"/>
                  <a:pt x="101611" y="0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9145588" y="3903663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200099" y="63401"/>
                </a:moveTo>
                <a:lnTo>
                  <a:pt x="113333" y="159841"/>
                </a:lnTo>
                <a:cubicBezTo>
                  <a:pt x="109910" y="163637"/>
                  <a:pt x="110058" y="169515"/>
                  <a:pt x="113705" y="173162"/>
                </a:cubicBezTo>
                <a:cubicBezTo>
                  <a:pt x="136401" y="195858"/>
                  <a:pt x="173236" y="195858"/>
                  <a:pt x="195932" y="173162"/>
                </a:cubicBezTo>
                <a:lnTo>
                  <a:pt x="219596" y="149498"/>
                </a:lnTo>
                <a:cubicBezTo>
                  <a:pt x="222721" y="146372"/>
                  <a:pt x="226665" y="144661"/>
                  <a:pt x="230684" y="144363"/>
                </a:cubicBezTo>
                <a:cubicBezTo>
                  <a:pt x="235744" y="143917"/>
                  <a:pt x="240953" y="145628"/>
                  <a:pt x="244822" y="149498"/>
                </a:cubicBezTo>
                <a:lnTo>
                  <a:pt x="376238" y="279797"/>
                </a:lnTo>
                <a:lnTo>
                  <a:pt x="428625" y="238125"/>
                </a:lnTo>
                <a:lnTo>
                  <a:pt x="428625" y="23812"/>
                </a:lnTo>
                <a:lnTo>
                  <a:pt x="345281" y="71438"/>
                </a:lnTo>
                <a:lnTo>
                  <a:pt x="327571" y="59606"/>
                </a:lnTo>
                <a:cubicBezTo>
                  <a:pt x="315813" y="51792"/>
                  <a:pt x="302047" y="47625"/>
                  <a:pt x="287908" y="47625"/>
                </a:cubicBezTo>
                <a:lnTo>
                  <a:pt x="235521" y="47625"/>
                </a:lnTo>
                <a:cubicBezTo>
                  <a:pt x="234702" y="47625"/>
                  <a:pt x="233809" y="47625"/>
                  <a:pt x="232990" y="47699"/>
                </a:cubicBezTo>
                <a:cubicBezTo>
                  <a:pt x="220414" y="48369"/>
                  <a:pt x="208583" y="54025"/>
                  <a:pt x="200099" y="63401"/>
                </a:cubicBezTo>
                <a:close/>
                <a:moveTo>
                  <a:pt x="86767" y="135954"/>
                </a:moveTo>
                <a:lnTo>
                  <a:pt x="166241" y="47625"/>
                </a:lnTo>
                <a:lnTo>
                  <a:pt x="136773" y="47625"/>
                </a:lnTo>
                <a:cubicBezTo>
                  <a:pt x="117797" y="47625"/>
                  <a:pt x="99640" y="55141"/>
                  <a:pt x="86246" y="68535"/>
                </a:cubicBezTo>
                <a:lnTo>
                  <a:pt x="83344" y="71438"/>
                </a:lnTo>
                <a:lnTo>
                  <a:pt x="0" y="23812"/>
                </a:lnTo>
                <a:lnTo>
                  <a:pt x="0" y="238125"/>
                </a:lnTo>
                <a:lnTo>
                  <a:pt x="116384" y="335087"/>
                </a:lnTo>
                <a:cubicBezTo>
                  <a:pt x="133499" y="349374"/>
                  <a:pt x="155079" y="357188"/>
                  <a:pt x="177329" y="357188"/>
                </a:cubicBezTo>
                <a:lnTo>
                  <a:pt x="189012" y="357188"/>
                </a:lnTo>
                <a:lnTo>
                  <a:pt x="183803" y="351979"/>
                </a:lnTo>
                <a:cubicBezTo>
                  <a:pt x="176808" y="344984"/>
                  <a:pt x="176808" y="333673"/>
                  <a:pt x="183803" y="326752"/>
                </a:cubicBezTo>
                <a:cubicBezTo>
                  <a:pt x="190798" y="319832"/>
                  <a:pt x="202109" y="319757"/>
                  <a:pt x="209029" y="326752"/>
                </a:cubicBezTo>
                <a:lnTo>
                  <a:pt x="239539" y="357262"/>
                </a:lnTo>
                <a:lnTo>
                  <a:pt x="246236" y="357262"/>
                </a:lnTo>
                <a:cubicBezTo>
                  <a:pt x="260449" y="357262"/>
                  <a:pt x="274365" y="354062"/>
                  <a:pt x="287015" y="348109"/>
                </a:cubicBezTo>
                <a:lnTo>
                  <a:pt x="267146" y="328166"/>
                </a:lnTo>
                <a:cubicBezTo>
                  <a:pt x="260152" y="321171"/>
                  <a:pt x="260152" y="309860"/>
                  <a:pt x="267146" y="302940"/>
                </a:cubicBezTo>
                <a:cubicBezTo>
                  <a:pt x="274141" y="296019"/>
                  <a:pt x="285452" y="295945"/>
                  <a:pt x="292373" y="302940"/>
                </a:cubicBezTo>
                <a:lnTo>
                  <a:pt x="316185" y="326752"/>
                </a:lnTo>
                <a:lnTo>
                  <a:pt x="329208" y="313730"/>
                </a:lnTo>
                <a:cubicBezTo>
                  <a:pt x="335831" y="307107"/>
                  <a:pt x="337765" y="297507"/>
                  <a:pt x="334863" y="289099"/>
                </a:cubicBezTo>
                <a:lnTo>
                  <a:pt x="232246" y="187300"/>
                </a:lnTo>
                <a:lnTo>
                  <a:pt x="221159" y="198388"/>
                </a:lnTo>
                <a:cubicBezTo>
                  <a:pt x="184472" y="235074"/>
                  <a:pt x="125090" y="235074"/>
                  <a:pt x="88404" y="198388"/>
                </a:cubicBezTo>
                <a:cubicBezTo>
                  <a:pt x="71289" y="181273"/>
                  <a:pt x="70619" y="153814"/>
                  <a:pt x="86767" y="135880"/>
                </a:cubicBezTo>
                <a:close/>
              </a:path>
            </a:pathLst>
          </a:custGeom>
          <a:solidFill>
            <a:srgbClr val="E8B4B8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798050" y="3890962"/>
            <a:ext cx="1981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2C2C2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关系建立策略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18600" y="4500563"/>
            <a:ext cx="33020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C2C2C"/>
                </a:solidFill>
                <a:highlight>
                  <a:srgbClr val="E8B4B8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研究点： </a:t>
            </a:r>
            <a:r>
              <a:rPr lang="en-US" sz="1600" dirty="0">
                <a:solidFill>
                  <a:srgbClr val="6B6B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博主如何拉近与读者的心理距离？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18600" y="5262563"/>
            <a:ext cx="33020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C2C2C"/>
                </a:solidFill>
                <a:highlight>
                  <a:srgbClr val="E8B4B8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分析焦点： </a:t>
            </a:r>
            <a:r>
              <a:rPr lang="en-US" sz="1600" dirty="0">
                <a:solidFill>
                  <a:srgbClr val="6B6B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人称使用的倾向性（指导型/分享型/混合型）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6400" y="406400"/>
            <a:ext cx="1584960" cy="406400"/>
          </a:xfrm>
          <a:custGeom>
            <a:avLst/>
            <a:gdLst/>
            <a:ahLst/>
            <a:cxnLst/>
            <a:rect l="l" t="t" r="r" b="b"/>
            <a:pathLst>
              <a:path w="1981200" h="508000">
                <a:moveTo>
                  <a:pt x="254000" y="0"/>
                </a:moveTo>
                <a:lnTo>
                  <a:pt x="1727200" y="0"/>
                </a:lnTo>
                <a:cubicBezTo>
                  <a:pt x="1867386" y="0"/>
                  <a:pt x="1981200" y="113814"/>
                  <a:pt x="1981200" y="254000"/>
                </a:cubicBezTo>
                <a:lnTo>
                  <a:pt x="1981200" y="254000"/>
                </a:lnTo>
                <a:cubicBezTo>
                  <a:pt x="1981200" y="394186"/>
                  <a:pt x="1867386" y="508000"/>
                  <a:pt x="17272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D88C8C">
              <a:alpha val="73725"/>
            </a:srgbClr>
          </a:solidFill>
        </p:spPr>
        <p:txBody>
          <a:bodyPr/>
          <a:lstStyle/>
          <a:p>
            <a:pPr defTabSz="731520"/>
            <a:endParaRPr lang="zh-CN" altLang="en-US" sz="1440">
              <a:solidFill>
                <a:srgbClr val="000000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99440" y="528320"/>
            <a:ext cx="142240" cy="16256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01600" y="63500"/>
                </a:moveTo>
                <a:lnTo>
                  <a:pt x="101600" y="101600"/>
                </a:lnTo>
                <a:lnTo>
                  <a:pt x="152400" y="101600"/>
                </a:lnTo>
                <a:lnTo>
                  <a:pt x="152400" y="63500"/>
                </a:lnTo>
                <a:lnTo>
                  <a:pt x="101600" y="63500"/>
                </a:lnTo>
                <a:close/>
                <a:moveTo>
                  <a:pt x="76200" y="63500"/>
                </a:moveTo>
                <a:lnTo>
                  <a:pt x="25400" y="63500"/>
                </a:lnTo>
                <a:lnTo>
                  <a:pt x="25400" y="101600"/>
                </a:lnTo>
                <a:lnTo>
                  <a:pt x="76200" y="101600"/>
                </a:lnTo>
                <a:lnTo>
                  <a:pt x="76200" y="63500"/>
                </a:lnTo>
                <a:close/>
                <a:moveTo>
                  <a:pt x="0" y="127000"/>
                </a:moveTo>
                <a:lnTo>
                  <a:pt x="0" y="38100"/>
                </a:lnTo>
                <a:cubicBezTo>
                  <a:pt x="0" y="24090"/>
                  <a:pt x="11390" y="12700"/>
                  <a:pt x="25400" y="12700"/>
                </a:cubicBezTo>
                <a:lnTo>
                  <a:pt x="152400" y="12700"/>
                </a:lnTo>
                <a:cubicBezTo>
                  <a:pt x="166410" y="12700"/>
                  <a:pt x="177800" y="24090"/>
                  <a:pt x="177800" y="38100"/>
                </a:cubicBezTo>
                <a:lnTo>
                  <a:pt x="177800" y="165100"/>
                </a:lnTo>
                <a:cubicBezTo>
                  <a:pt x="177800" y="179110"/>
                  <a:pt x="166410" y="190500"/>
                  <a:pt x="152400" y="190500"/>
                </a:cubicBezTo>
                <a:lnTo>
                  <a:pt x="25400" y="190500"/>
                </a:lnTo>
                <a:cubicBezTo>
                  <a:pt x="11390" y="190500"/>
                  <a:pt x="0" y="179110"/>
                  <a:pt x="0" y="165100"/>
                </a:cubicBezTo>
                <a:lnTo>
                  <a:pt x="0" y="127000"/>
                </a:lnTo>
                <a:close/>
                <a:moveTo>
                  <a:pt x="152400" y="127000"/>
                </a:moveTo>
                <a:lnTo>
                  <a:pt x="101600" y="127000"/>
                </a:lnTo>
                <a:lnTo>
                  <a:pt x="101600" y="165100"/>
                </a:lnTo>
                <a:lnTo>
                  <a:pt x="152400" y="165100"/>
                </a:lnTo>
                <a:lnTo>
                  <a:pt x="152400" y="127000"/>
                </a:lnTo>
                <a:close/>
                <a:moveTo>
                  <a:pt x="76200" y="165100"/>
                </a:moveTo>
                <a:lnTo>
                  <a:pt x="76200" y="127000"/>
                </a:lnTo>
                <a:lnTo>
                  <a:pt x="25400" y="127000"/>
                </a:lnTo>
                <a:lnTo>
                  <a:pt x="25400" y="165100"/>
                </a:lnTo>
                <a:lnTo>
                  <a:pt x="76200" y="165100"/>
                </a:lnTo>
                <a:close/>
              </a:path>
            </a:pathLst>
          </a:custGeom>
          <a:solidFill>
            <a:srgbClr val="FEFDF7"/>
          </a:solidFill>
        </p:spPr>
        <p:txBody>
          <a:bodyPr/>
          <a:lstStyle/>
          <a:p>
            <a:pPr defTabSz="731520"/>
            <a:endParaRPr lang="zh-CN" altLang="en-US" sz="1440">
              <a:solidFill>
                <a:srgbClr val="000000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690880" y="406400"/>
            <a:ext cx="1381760" cy="406400"/>
          </a:xfrm>
          <a:prstGeom prst="rect">
            <a:avLst/>
          </a:prstGeom>
          <a:noFill/>
        </p:spPr>
        <p:txBody>
          <a:bodyPr wrap="square" lIns="162560" tIns="81280" rIns="162560" bIns="81280" rtlCol="0" anchor="ctr"/>
          <a:lstStyle/>
          <a:p>
            <a:pPr defTabSz="731520">
              <a:lnSpc>
                <a:spcPct val="130000"/>
              </a:lnSpc>
            </a:pPr>
            <a:r>
              <a:rPr lang="en-US" sz="1280" b="1" dirty="0">
                <a:solidFill>
                  <a:srgbClr val="FEFDF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数据标注指南</a:t>
            </a:r>
            <a:endParaRPr lang="en-US" sz="128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06400" y="955040"/>
            <a:ext cx="12374880" cy="5621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731520">
              <a:lnSpc>
                <a:spcPct val="90000"/>
              </a:lnSpc>
            </a:pPr>
            <a:r>
              <a:rPr lang="en-US" sz="2880" b="1" dirty="0"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01 </a:t>
            </a:r>
            <a:r>
              <a:rPr lang="en-US" sz="2880" b="1" dirty="0" err="1"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分析工具：操作化定义框架</a:t>
            </a:r>
            <a:endParaRPr lang="en-US" sz="1280" dirty="0"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09787" y="1639148"/>
            <a:ext cx="12188614" cy="365760"/>
          </a:xfrm>
          <a:custGeom>
            <a:avLst/>
            <a:gdLst/>
            <a:ahLst/>
            <a:cxnLst/>
            <a:rect l="l" t="t" r="r" b="b"/>
            <a:pathLst>
              <a:path w="15235767" h="973667">
                <a:moveTo>
                  <a:pt x="152398" y="0"/>
                </a:moveTo>
                <a:lnTo>
                  <a:pt x="15083368" y="0"/>
                </a:lnTo>
                <a:cubicBezTo>
                  <a:pt x="15167536" y="0"/>
                  <a:pt x="15235767" y="68231"/>
                  <a:pt x="15235767" y="152398"/>
                </a:cubicBezTo>
                <a:lnTo>
                  <a:pt x="15235767" y="821268"/>
                </a:lnTo>
                <a:cubicBezTo>
                  <a:pt x="15235767" y="905436"/>
                  <a:pt x="15167536" y="973667"/>
                  <a:pt x="15083368" y="973667"/>
                </a:cubicBezTo>
                <a:lnTo>
                  <a:pt x="152398" y="973667"/>
                </a:lnTo>
                <a:cubicBezTo>
                  <a:pt x="68287" y="973667"/>
                  <a:pt x="0" y="905379"/>
                  <a:pt x="0" y="821268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 w="8467">
            <a:solidFill>
              <a:srgbClr val="8FBC8F">
                <a:alpha val="30196"/>
              </a:srgbClr>
            </a:solidFill>
            <a:prstDash val="solid"/>
          </a:ln>
        </p:spPr>
        <p:txBody>
          <a:bodyPr/>
          <a:lstStyle/>
          <a:p>
            <a:pPr defTabSz="731520"/>
            <a:endParaRPr lang="zh-CN" altLang="en-US" sz="1440" b="1" dirty="0">
              <a:solidFill>
                <a:srgbClr val="000000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535093" y="1551094"/>
            <a:ext cx="12022667" cy="528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731520">
              <a:lnSpc>
                <a:spcPct val="140000"/>
              </a:lnSpc>
            </a:pPr>
            <a:r>
              <a:rPr lang="en-US" sz="1280" dirty="0"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我们将抽象的"信任构建语言策略"概念，系统转化为可观测、可量化的具体变量，并通过对</a:t>
            </a:r>
            <a:r>
              <a:rPr lang="en-US" sz="1280" b="1" dirty="0"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863份研究样本</a:t>
            </a:r>
            <a:r>
              <a:rPr lang="en-US" sz="1280" dirty="0"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的规范化内容编码与多维度交叉分析，</a:t>
            </a:r>
            <a:r>
              <a:rPr lang="en-US" sz="1100" dirty="0"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深度揭示其内在作用规律</a:t>
            </a:r>
            <a:r>
              <a:rPr lang="en-US" sz="1280" dirty="0"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sz="1280" dirty="0"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6720" y="2289388"/>
            <a:ext cx="6014720" cy="1625600"/>
          </a:xfrm>
          <a:custGeom>
            <a:avLst/>
            <a:gdLst/>
            <a:ahLst/>
            <a:cxnLst/>
            <a:rect l="l" t="t" r="r" b="b"/>
            <a:pathLst>
              <a:path w="7518400" h="2032000">
                <a:moveTo>
                  <a:pt x="50800" y="0"/>
                </a:moveTo>
                <a:lnTo>
                  <a:pt x="7366000" y="0"/>
                </a:lnTo>
                <a:cubicBezTo>
                  <a:pt x="7450112" y="0"/>
                  <a:pt x="7518400" y="68288"/>
                  <a:pt x="7518400" y="152400"/>
                </a:cubicBezTo>
                <a:lnTo>
                  <a:pt x="7518400" y="1879600"/>
                </a:lnTo>
                <a:cubicBezTo>
                  <a:pt x="7518400" y="1963712"/>
                  <a:pt x="7450112" y="2032000"/>
                  <a:pt x="7366000" y="2032000"/>
                </a:cubicBezTo>
                <a:lnTo>
                  <a:pt x="50800" y="2032000"/>
                </a:lnTo>
                <a:cubicBezTo>
                  <a:pt x="22763" y="2032000"/>
                  <a:pt x="0" y="2009237"/>
                  <a:pt x="0" y="1981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</p:spPr>
        <p:txBody>
          <a:bodyPr/>
          <a:lstStyle/>
          <a:p>
            <a:pPr defTabSz="731520"/>
            <a:endParaRPr lang="zh-CN" altLang="en-US" sz="1440">
              <a:solidFill>
                <a:srgbClr val="D88C8C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26720" y="2289388"/>
            <a:ext cx="40640" cy="1625600"/>
          </a:xfrm>
          <a:custGeom>
            <a:avLst/>
            <a:gdLst/>
            <a:ahLst/>
            <a:cxnLst/>
            <a:rect l="l" t="t" r="r" b="b"/>
            <a:pathLst>
              <a:path w="50800" h="2032000">
                <a:moveTo>
                  <a:pt x="50800" y="0"/>
                </a:moveTo>
                <a:lnTo>
                  <a:pt x="50800" y="0"/>
                </a:lnTo>
                <a:lnTo>
                  <a:pt x="50800" y="2032000"/>
                </a:lnTo>
                <a:lnTo>
                  <a:pt x="50800" y="2032000"/>
                </a:lnTo>
                <a:cubicBezTo>
                  <a:pt x="22763" y="2032000"/>
                  <a:pt x="0" y="2009237"/>
                  <a:pt x="0" y="1981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88C8C"/>
          </a:solidFill>
        </p:spPr>
        <p:txBody>
          <a:bodyPr/>
          <a:lstStyle/>
          <a:p>
            <a:pPr defTabSz="731520"/>
            <a:endParaRPr lang="zh-CN" altLang="en-US" sz="1440">
              <a:solidFill>
                <a:srgbClr val="000000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68960" y="2411308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D88C8C"/>
          </a:solidFill>
        </p:spPr>
        <p:txBody>
          <a:bodyPr/>
          <a:lstStyle/>
          <a:p>
            <a:pPr defTabSz="731520"/>
            <a:endParaRPr lang="zh-CN" altLang="en-US" sz="1440">
              <a:solidFill>
                <a:srgbClr val="000000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28320" y="2411308"/>
            <a:ext cx="48768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defTabSz="731520">
              <a:lnSpc>
                <a:spcPct val="130000"/>
              </a:lnSpc>
            </a:pPr>
            <a:r>
              <a:rPr lang="en-US" sz="128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01</a:t>
            </a:r>
            <a:endParaRPr lang="en-US" sz="128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97280" y="2472268"/>
            <a:ext cx="1188720" cy="28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731520">
              <a:lnSpc>
                <a:spcPct val="130000"/>
              </a:lnSpc>
            </a:pPr>
            <a:r>
              <a:rPr lang="en-US" sz="144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身份展示策略</a:t>
            </a:r>
            <a:endParaRPr lang="en-US" sz="1280" dirty="0"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68960" y="2898988"/>
            <a:ext cx="583184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731520">
              <a:lnSpc>
                <a:spcPct val="130000"/>
              </a:lnSpc>
            </a:pPr>
            <a:r>
              <a:rPr lang="en-US" sz="1280" b="1" dirty="0">
                <a:solidFill>
                  <a:schemeClr val="bg2">
                    <a:lumMod val="2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变量：</a:t>
            </a:r>
            <a:r>
              <a:rPr lang="en-US" sz="1280" dirty="0">
                <a:solidFill>
                  <a:schemeClr val="bg2">
                    <a:lumMod val="2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身份具体性（具体/泛称/无）</a:t>
            </a:r>
            <a:endParaRPr lang="en-US" sz="1280" dirty="0">
              <a:solidFill>
                <a:schemeClr val="bg2">
                  <a:lumMod val="25000"/>
                </a:schemeClr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68960" y="3224108"/>
            <a:ext cx="583184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731520">
              <a:lnSpc>
                <a:spcPct val="130000"/>
              </a:lnSpc>
            </a:pPr>
            <a:r>
              <a:rPr lang="en-US" sz="1280" b="1" dirty="0">
                <a:solidFill>
                  <a:schemeClr val="bg2">
                    <a:lumMod val="2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数据来源：</a:t>
            </a:r>
            <a:r>
              <a:rPr lang="en-US" sz="1280" dirty="0">
                <a:solidFill>
                  <a:schemeClr val="bg2">
                    <a:lumMod val="2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博主昵称、简介、笔记正文</a:t>
            </a:r>
            <a:endParaRPr lang="en-US" sz="1280" dirty="0">
              <a:solidFill>
                <a:schemeClr val="bg2">
                  <a:lumMod val="25000"/>
                </a:schemeClr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68960" y="3549228"/>
            <a:ext cx="583184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731520">
              <a:lnSpc>
                <a:spcPct val="130000"/>
              </a:lnSpc>
            </a:pPr>
            <a:r>
              <a:rPr lang="en-US" sz="1280" b="1" dirty="0">
                <a:solidFill>
                  <a:schemeClr val="bg2">
                    <a:lumMod val="2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判断标准：</a:t>
            </a:r>
            <a:r>
              <a:rPr lang="en-US" sz="1280" dirty="0">
                <a:solidFill>
                  <a:schemeClr val="bg2">
                    <a:lumMod val="2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搜索高校名称→"具体"；搜索身份标签→"泛称"；均无→"无"</a:t>
            </a:r>
            <a:endParaRPr lang="en-US" sz="1280" dirty="0">
              <a:solidFill>
                <a:schemeClr val="bg2">
                  <a:lumMod val="25000"/>
                </a:schemeClr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583680" y="2289388"/>
            <a:ext cx="6014720" cy="1625600"/>
          </a:xfrm>
          <a:custGeom>
            <a:avLst/>
            <a:gdLst/>
            <a:ahLst/>
            <a:cxnLst/>
            <a:rect l="l" t="t" r="r" b="b"/>
            <a:pathLst>
              <a:path w="7518400" h="2032000">
                <a:moveTo>
                  <a:pt x="50800" y="0"/>
                </a:moveTo>
                <a:lnTo>
                  <a:pt x="7366000" y="0"/>
                </a:lnTo>
                <a:cubicBezTo>
                  <a:pt x="7450112" y="0"/>
                  <a:pt x="7518400" y="68288"/>
                  <a:pt x="7518400" y="152400"/>
                </a:cubicBezTo>
                <a:lnTo>
                  <a:pt x="7518400" y="1879600"/>
                </a:lnTo>
                <a:cubicBezTo>
                  <a:pt x="7518400" y="1963712"/>
                  <a:pt x="7450112" y="2032000"/>
                  <a:pt x="7366000" y="2032000"/>
                </a:cubicBezTo>
                <a:lnTo>
                  <a:pt x="50800" y="2032000"/>
                </a:lnTo>
                <a:cubicBezTo>
                  <a:pt x="22763" y="2032000"/>
                  <a:pt x="0" y="2009237"/>
                  <a:pt x="0" y="1981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</p:spPr>
        <p:txBody>
          <a:bodyPr/>
          <a:lstStyle/>
          <a:p>
            <a:pPr defTabSz="731520"/>
            <a:endParaRPr lang="zh-CN" altLang="en-US" sz="1440">
              <a:solidFill>
                <a:srgbClr val="000000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0" y="2289388"/>
            <a:ext cx="40640" cy="1625600"/>
          </a:xfrm>
          <a:custGeom>
            <a:avLst/>
            <a:gdLst/>
            <a:ahLst/>
            <a:cxnLst/>
            <a:rect l="l" t="t" r="r" b="b"/>
            <a:pathLst>
              <a:path w="50800" h="2032000">
                <a:moveTo>
                  <a:pt x="50800" y="0"/>
                </a:moveTo>
                <a:lnTo>
                  <a:pt x="50800" y="0"/>
                </a:lnTo>
                <a:lnTo>
                  <a:pt x="50800" y="2032000"/>
                </a:lnTo>
                <a:lnTo>
                  <a:pt x="50800" y="2032000"/>
                </a:lnTo>
                <a:cubicBezTo>
                  <a:pt x="22763" y="2032000"/>
                  <a:pt x="0" y="2009237"/>
                  <a:pt x="0" y="1981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08C8C"/>
          </a:solidFill>
        </p:spPr>
        <p:txBody>
          <a:bodyPr/>
          <a:lstStyle/>
          <a:p>
            <a:pPr defTabSz="731520"/>
            <a:endParaRPr lang="zh-CN" altLang="en-US" sz="1440">
              <a:solidFill>
                <a:srgbClr val="000000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725920" y="2411308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F08C8C"/>
          </a:solidFill>
        </p:spPr>
        <p:txBody>
          <a:bodyPr/>
          <a:lstStyle/>
          <a:p>
            <a:pPr defTabSz="731520"/>
            <a:endParaRPr lang="zh-CN" altLang="en-US" sz="1440">
              <a:solidFill>
                <a:srgbClr val="000000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685280" y="2411308"/>
            <a:ext cx="48768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defTabSz="731520">
              <a:lnSpc>
                <a:spcPct val="130000"/>
              </a:lnSpc>
            </a:pPr>
            <a:r>
              <a:rPr lang="en-US" sz="128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02</a:t>
            </a:r>
            <a:endParaRPr lang="en-US" sz="128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254240" y="2472268"/>
            <a:ext cx="1188720" cy="28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731520">
              <a:lnSpc>
                <a:spcPct val="130000"/>
              </a:lnSpc>
            </a:pPr>
            <a:r>
              <a:rPr lang="en-US" sz="144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经验证明策略</a:t>
            </a:r>
            <a:endParaRPr lang="en-US" sz="1280" dirty="0"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725920" y="2898988"/>
            <a:ext cx="583184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731520">
              <a:lnSpc>
                <a:spcPct val="130000"/>
              </a:lnSpc>
            </a:pPr>
            <a:r>
              <a:rPr lang="en-US" sz="1280" b="1" dirty="0">
                <a:solidFill>
                  <a:schemeClr val="bg2">
                    <a:lumMod val="2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变量：</a:t>
            </a:r>
            <a:r>
              <a:rPr lang="en-US" sz="1280" dirty="0">
                <a:solidFill>
                  <a:schemeClr val="bg2">
                    <a:lumMod val="2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证据强度等级（L1-L4）</a:t>
            </a:r>
            <a:endParaRPr lang="en-US" sz="1280" dirty="0">
              <a:solidFill>
                <a:schemeClr val="bg2">
                  <a:lumMod val="25000"/>
                </a:schemeClr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725920" y="3224108"/>
            <a:ext cx="583184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731520">
              <a:lnSpc>
                <a:spcPct val="130000"/>
              </a:lnSpc>
            </a:pPr>
            <a:r>
              <a:rPr lang="en-US" sz="1280" b="1" dirty="0">
                <a:solidFill>
                  <a:schemeClr val="bg2">
                    <a:lumMod val="2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数据来源：</a:t>
            </a:r>
            <a:r>
              <a:rPr lang="en-US" sz="1280" dirty="0">
                <a:solidFill>
                  <a:schemeClr val="bg2">
                    <a:lumMod val="2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笔记正文</a:t>
            </a:r>
            <a:endParaRPr lang="en-US" sz="1280" dirty="0">
              <a:solidFill>
                <a:schemeClr val="bg2">
                  <a:lumMod val="25000"/>
                </a:schemeClr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725920" y="3549228"/>
            <a:ext cx="583184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731520">
              <a:lnSpc>
                <a:spcPct val="130000"/>
              </a:lnSpc>
            </a:pPr>
            <a:r>
              <a:rPr lang="en-US" sz="1280" b="1" dirty="0">
                <a:solidFill>
                  <a:schemeClr val="bg2">
                    <a:lumMod val="2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判断标准：</a:t>
            </a:r>
            <a:r>
              <a:rPr lang="en-US" sz="1280" dirty="0">
                <a:solidFill>
                  <a:schemeClr val="bg2">
                    <a:lumMod val="2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L1量化证据→L2过程证据→L3成果提及→L4纯观点</a:t>
            </a:r>
            <a:endParaRPr lang="en-US" sz="1280" dirty="0">
              <a:solidFill>
                <a:schemeClr val="bg2">
                  <a:lumMod val="25000"/>
                </a:schemeClr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26720" y="4036908"/>
            <a:ext cx="6014720" cy="1869440"/>
          </a:xfrm>
          <a:custGeom>
            <a:avLst/>
            <a:gdLst/>
            <a:ahLst/>
            <a:cxnLst/>
            <a:rect l="l" t="t" r="r" b="b"/>
            <a:pathLst>
              <a:path w="7518400" h="2336800">
                <a:moveTo>
                  <a:pt x="50800" y="0"/>
                </a:moveTo>
                <a:lnTo>
                  <a:pt x="7365994" y="0"/>
                </a:lnTo>
                <a:cubicBezTo>
                  <a:pt x="7450165" y="0"/>
                  <a:pt x="7518400" y="68235"/>
                  <a:pt x="7518400" y="152406"/>
                </a:cubicBezTo>
                <a:lnTo>
                  <a:pt x="7518400" y="2184394"/>
                </a:lnTo>
                <a:cubicBezTo>
                  <a:pt x="7518400" y="2268565"/>
                  <a:pt x="7450165" y="2336800"/>
                  <a:pt x="7365994" y="2336800"/>
                </a:cubicBezTo>
                <a:lnTo>
                  <a:pt x="50800" y="2336800"/>
                </a:lnTo>
                <a:cubicBezTo>
                  <a:pt x="22763" y="2336800"/>
                  <a:pt x="0" y="2314037"/>
                  <a:pt x="0" y="228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</p:spPr>
        <p:txBody>
          <a:bodyPr/>
          <a:lstStyle/>
          <a:p>
            <a:pPr defTabSz="731520"/>
            <a:endParaRPr lang="zh-CN" altLang="en-US" sz="1440">
              <a:solidFill>
                <a:srgbClr val="000000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26720" y="4036908"/>
            <a:ext cx="40640" cy="1869440"/>
          </a:xfrm>
          <a:custGeom>
            <a:avLst/>
            <a:gdLst/>
            <a:ahLst/>
            <a:cxnLst/>
            <a:rect l="l" t="t" r="r" b="b"/>
            <a:pathLst>
              <a:path w="50800" h="2336800">
                <a:moveTo>
                  <a:pt x="50800" y="0"/>
                </a:moveTo>
                <a:lnTo>
                  <a:pt x="50800" y="0"/>
                </a:lnTo>
                <a:lnTo>
                  <a:pt x="50800" y="2336800"/>
                </a:lnTo>
                <a:lnTo>
                  <a:pt x="50800" y="2336800"/>
                </a:lnTo>
                <a:cubicBezTo>
                  <a:pt x="22763" y="2336800"/>
                  <a:pt x="0" y="2314037"/>
                  <a:pt x="0" y="228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D1D1"/>
          </a:solidFill>
        </p:spPr>
        <p:txBody>
          <a:bodyPr/>
          <a:lstStyle/>
          <a:p>
            <a:pPr defTabSz="731520"/>
            <a:endParaRPr lang="zh-CN" altLang="en-US" sz="1440">
              <a:solidFill>
                <a:srgbClr val="000000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68960" y="4158828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FFD1D1"/>
          </a:solidFill>
        </p:spPr>
        <p:txBody>
          <a:bodyPr/>
          <a:lstStyle/>
          <a:p>
            <a:pPr defTabSz="731520"/>
            <a:endParaRPr lang="zh-CN" altLang="en-US" sz="1440">
              <a:solidFill>
                <a:srgbClr val="000000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28320" y="4158828"/>
            <a:ext cx="48768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defTabSz="731520">
              <a:lnSpc>
                <a:spcPct val="130000"/>
              </a:lnSpc>
            </a:pPr>
            <a:r>
              <a:rPr lang="en-US" sz="128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03</a:t>
            </a:r>
            <a:endParaRPr lang="en-US" sz="128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97280" y="4219788"/>
            <a:ext cx="1188720" cy="28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731520">
              <a:lnSpc>
                <a:spcPct val="130000"/>
              </a:lnSpc>
            </a:pPr>
            <a:r>
              <a:rPr lang="en-US" sz="144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关系建立策略</a:t>
            </a:r>
            <a:endParaRPr lang="en-US" sz="1280" dirty="0"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68960" y="4646508"/>
            <a:ext cx="583184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731520">
              <a:lnSpc>
                <a:spcPct val="130000"/>
              </a:lnSpc>
            </a:pPr>
            <a:r>
              <a:rPr lang="en-US" sz="1280" b="1" dirty="0">
                <a:solidFill>
                  <a:schemeClr val="bg2">
                    <a:lumMod val="2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变量：</a:t>
            </a:r>
            <a:r>
              <a:rPr lang="en-US" sz="1280" dirty="0">
                <a:solidFill>
                  <a:schemeClr val="bg2">
                    <a:lumMod val="2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人称导向（指导型/分享型/混合型/其他）</a:t>
            </a:r>
            <a:endParaRPr lang="en-US" sz="1280" dirty="0">
              <a:solidFill>
                <a:schemeClr val="bg2">
                  <a:lumMod val="25000"/>
                </a:schemeClr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68960" y="4971628"/>
            <a:ext cx="583184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731520">
              <a:lnSpc>
                <a:spcPct val="130000"/>
              </a:lnSpc>
            </a:pPr>
            <a:r>
              <a:rPr lang="en-US" sz="1280" b="1" dirty="0">
                <a:solidFill>
                  <a:schemeClr val="bg2">
                    <a:lumMod val="2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数据来源：</a:t>
            </a:r>
            <a:r>
              <a:rPr lang="en-US" sz="1280" dirty="0">
                <a:solidFill>
                  <a:schemeClr val="bg2">
                    <a:lumMod val="2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笔记正文</a:t>
            </a:r>
            <a:endParaRPr lang="en-US" sz="1280" dirty="0">
              <a:solidFill>
                <a:schemeClr val="bg2">
                  <a:lumMod val="25000"/>
                </a:schemeClr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68960" y="5296748"/>
            <a:ext cx="583184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731520">
              <a:lnSpc>
                <a:spcPct val="130000"/>
              </a:lnSpc>
            </a:pPr>
            <a:r>
              <a:rPr lang="en-US" sz="1280" b="1" dirty="0">
                <a:solidFill>
                  <a:schemeClr val="bg2">
                    <a:lumMod val="2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判断标准：</a:t>
            </a:r>
            <a:r>
              <a:rPr lang="en-US" sz="1280" dirty="0">
                <a:solidFill>
                  <a:schemeClr val="bg2">
                    <a:lumMod val="2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"你"≥2次→指导型；"我"≥3次→分享型；均达标→混合型；均不达标→其他</a:t>
            </a:r>
            <a:endParaRPr lang="en-US" sz="1280" dirty="0">
              <a:solidFill>
                <a:schemeClr val="bg2">
                  <a:lumMod val="25000"/>
                </a:schemeClr>
              </a:solidFill>
              <a:latin typeface="Calibri" panose="020F050202020403020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583680" y="4036908"/>
            <a:ext cx="6014720" cy="1869440"/>
          </a:xfrm>
          <a:custGeom>
            <a:avLst/>
            <a:gdLst/>
            <a:ahLst/>
            <a:cxnLst/>
            <a:rect l="l" t="t" r="r" b="b"/>
            <a:pathLst>
              <a:path w="7518400" h="2336800">
                <a:moveTo>
                  <a:pt x="50800" y="0"/>
                </a:moveTo>
                <a:lnTo>
                  <a:pt x="7365994" y="0"/>
                </a:lnTo>
                <a:cubicBezTo>
                  <a:pt x="7450165" y="0"/>
                  <a:pt x="7518400" y="68235"/>
                  <a:pt x="7518400" y="152406"/>
                </a:cubicBezTo>
                <a:lnTo>
                  <a:pt x="7518400" y="2184394"/>
                </a:lnTo>
                <a:cubicBezTo>
                  <a:pt x="7518400" y="2268565"/>
                  <a:pt x="7450165" y="2336800"/>
                  <a:pt x="7365994" y="2336800"/>
                </a:cubicBezTo>
                <a:lnTo>
                  <a:pt x="50800" y="2336800"/>
                </a:lnTo>
                <a:cubicBezTo>
                  <a:pt x="22763" y="2336800"/>
                  <a:pt x="0" y="2314037"/>
                  <a:pt x="0" y="228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</p:spPr>
        <p:txBody>
          <a:bodyPr/>
          <a:lstStyle/>
          <a:p>
            <a:pPr defTabSz="731520"/>
            <a:endParaRPr lang="zh-CN" altLang="en-US" sz="1440">
              <a:solidFill>
                <a:srgbClr val="000000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583680" y="4036908"/>
            <a:ext cx="40640" cy="1869440"/>
          </a:xfrm>
          <a:custGeom>
            <a:avLst/>
            <a:gdLst/>
            <a:ahLst/>
            <a:cxnLst/>
            <a:rect l="l" t="t" r="r" b="b"/>
            <a:pathLst>
              <a:path w="50800" h="2336800">
                <a:moveTo>
                  <a:pt x="50800" y="0"/>
                </a:moveTo>
                <a:lnTo>
                  <a:pt x="50800" y="0"/>
                </a:lnTo>
                <a:lnTo>
                  <a:pt x="50800" y="2336800"/>
                </a:lnTo>
                <a:lnTo>
                  <a:pt x="50800" y="2336800"/>
                </a:lnTo>
                <a:cubicBezTo>
                  <a:pt x="22763" y="2336800"/>
                  <a:pt x="0" y="2314037"/>
                  <a:pt x="0" y="228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EBEB"/>
          </a:solidFill>
        </p:spPr>
        <p:txBody>
          <a:bodyPr/>
          <a:lstStyle/>
          <a:p>
            <a:pPr defTabSz="731520"/>
            <a:endParaRPr lang="zh-CN" altLang="en-US" sz="1440">
              <a:solidFill>
                <a:srgbClr val="000000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725920" y="4158828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FFEBEB"/>
          </a:solidFill>
        </p:spPr>
        <p:txBody>
          <a:bodyPr/>
          <a:lstStyle/>
          <a:p>
            <a:pPr defTabSz="731520"/>
            <a:endParaRPr lang="zh-CN" altLang="en-US" sz="1440">
              <a:solidFill>
                <a:srgbClr val="000000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685280" y="4158828"/>
            <a:ext cx="48768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defTabSz="731520">
              <a:lnSpc>
                <a:spcPct val="130000"/>
              </a:lnSpc>
            </a:pPr>
            <a:r>
              <a:rPr lang="en-US" sz="128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04</a:t>
            </a:r>
            <a:endParaRPr lang="en-US" sz="128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254240" y="4219788"/>
            <a:ext cx="1188720" cy="28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731520">
              <a:lnSpc>
                <a:spcPct val="130000"/>
              </a:lnSpc>
            </a:pPr>
            <a:r>
              <a:rPr lang="en-US" sz="144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策略效果评估</a:t>
            </a:r>
            <a:endParaRPr lang="en-US" sz="1280" dirty="0"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725920" y="4646508"/>
            <a:ext cx="583184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731520">
              <a:lnSpc>
                <a:spcPct val="130000"/>
              </a:lnSpc>
            </a:pPr>
            <a:r>
              <a:rPr lang="en-US" sz="1280" b="1" dirty="0">
                <a:solidFill>
                  <a:schemeClr val="bg2">
                    <a:lumMod val="2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变量：</a:t>
            </a:r>
            <a:r>
              <a:rPr lang="en-US" sz="1280" dirty="0">
                <a:solidFill>
                  <a:schemeClr val="bg2">
                    <a:lumMod val="2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内容受欢迎程度</a:t>
            </a:r>
            <a:endParaRPr lang="en-US" sz="1280" dirty="0">
              <a:solidFill>
                <a:schemeClr val="bg2">
                  <a:lumMod val="25000"/>
                </a:schemeClr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725920" y="4971628"/>
            <a:ext cx="583184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731520">
              <a:lnSpc>
                <a:spcPct val="130000"/>
              </a:lnSpc>
            </a:pPr>
            <a:r>
              <a:rPr lang="en-US" sz="1280" b="1" dirty="0">
                <a:solidFill>
                  <a:schemeClr val="bg2">
                    <a:lumMod val="2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数据来源：</a:t>
            </a:r>
            <a:r>
              <a:rPr lang="en-US" sz="1280" dirty="0">
                <a:solidFill>
                  <a:schemeClr val="bg2">
                    <a:lumMod val="2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点赞数、收藏数、评论数</a:t>
            </a:r>
            <a:endParaRPr lang="en-US" sz="1280" dirty="0">
              <a:solidFill>
                <a:schemeClr val="bg2">
                  <a:lumMod val="25000"/>
                </a:schemeClr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725920" y="5296748"/>
            <a:ext cx="583184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731520">
              <a:lnSpc>
                <a:spcPct val="130000"/>
              </a:lnSpc>
            </a:pPr>
            <a:r>
              <a:rPr lang="en-US" sz="1280" b="1" dirty="0">
                <a:solidFill>
                  <a:schemeClr val="bg2">
                    <a:lumMod val="2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分析方法：</a:t>
            </a:r>
            <a:r>
              <a:rPr lang="en-US" sz="1280" dirty="0">
                <a:solidFill>
                  <a:schemeClr val="bg2">
                    <a:lumMod val="2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计算各策略的平均互动量，找出最高效的策略组合</a:t>
            </a:r>
            <a:endParaRPr lang="en-US" sz="1280" dirty="0">
              <a:solidFill>
                <a:schemeClr val="bg2">
                  <a:lumMod val="25000"/>
                </a:schemeClr>
              </a:solidFill>
              <a:latin typeface="Calibri" panose="020F0502020204030204"/>
            </a:endParaRPr>
          </a:p>
        </p:txBody>
      </p:sp>
      <p:sp>
        <p:nvSpPr>
          <p:cNvPr id="40" name="Text 19"/>
          <p:cNvSpPr/>
          <p:nvPr/>
        </p:nvSpPr>
        <p:spPr>
          <a:xfrm>
            <a:off x="349398" y="6089228"/>
            <a:ext cx="12431882" cy="8389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600" b="1" i="0" dirty="0">
                <a:solidFill>
                  <a:srgbClr val="C00000"/>
                </a:solidFill>
                <a:effectLst/>
                <a:latin typeface="quote-cjk-patch"/>
              </a:rPr>
              <a:t>作为本研究的操作化框架，以上分析涵盖基础数据分类标准，并详细提供了四个核心维度的分类操作指南，为后续研究执行提供清晰依据。</a:t>
            </a:r>
            <a:endParaRPr lang="en-US" sz="16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7F9"/>
            </a:gs>
            <a:gs pos="64000">
              <a:srgbClr val="FEFCFC"/>
            </a:gs>
            <a:gs pos="100000">
              <a:srgbClr val="FFF7F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33214" y="835731"/>
            <a:ext cx="8734214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chemeClr val="bg2">
                    <a:lumMod val="2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02 </a:t>
            </a:r>
            <a:r>
              <a:rPr lang="en-US" sz="4800" b="1" dirty="0" err="1">
                <a:solidFill>
                  <a:schemeClr val="bg2">
                    <a:lumMod val="2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数据概览与分布</a:t>
            </a:r>
            <a:endParaRPr lang="en-US" sz="128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06400" y="2315181"/>
            <a:ext cx="3850640" cy="1930400"/>
          </a:xfrm>
          <a:custGeom>
            <a:avLst/>
            <a:gdLst/>
            <a:ahLst/>
            <a:cxnLst/>
            <a:rect l="l" t="t" r="r" b="b"/>
            <a:pathLst>
              <a:path w="4813300" h="2413000">
                <a:moveTo>
                  <a:pt x="50800" y="0"/>
                </a:moveTo>
                <a:lnTo>
                  <a:pt x="4762500" y="0"/>
                </a:lnTo>
                <a:cubicBezTo>
                  <a:pt x="4790556" y="0"/>
                  <a:pt x="4813300" y="22744"/>
                  <a:pt x="4813300" y="50800"/>
                </a:cubicBezTo>
                <a:lnTo>
                  <a:pt x="4813300" y="2260595"/>
                </a:lnTo>
                <a:cubicBezTo>
                  <a:pt x="4813300" y="2344766"/>
                  <a:pt x="4745066" y="2413000"/>
                  <a:pt x="4660895" y="2413000"/>
                </a:cubicBezTo>
                <a:lnTo>
                  <a:pt x="152405" y="2413000"/>
                </a:lnTo>
                <a:cubicBezTo>
                  <a:pt x="68234" y="2413000"/>
                  <a:pt x="0" y="2344766"/>
                  <a:pt x="0" y="2260595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 sz="1440"/>
          </a:p>
        </p:txBody>
      </p:sp>
      <p:sp>
        <p:nvSpPr>
          <p:cNvPr id="7" name="Shape 5"/>
          <p:cNvSpPr/>
          <p:nvPr/>
        </p:nvSpPr>
        <p:spPr>
          <a:xfrm>
            <a:off x="406400" y="2315181"/>
            <a:ext cx="3850640" cy="40640"/>
          </a:xfrm>
          <a:custGeom>
            <a:avLst/>
            <a:gdLst/>
            <a:ahLst/>
            <a:cxnLst/>
            <a:rect l="l" t="t" r="r" b="b"/>
            <a:pathLst>
              <a:path w="4813300" h="50800">
                <a:moveTo>
                  <a:pt x="50800" y="0"/>
                </a:moveTo>
                <a:lnTo>
                  <a:pt x="4762500" y="0"/>
                </a:lnTo>
                <a:cubicBezTo>
                  <a:pt x="4790537" y="0"/>
                  <a:pt x="4813300" y="22763"/>
                  <a:pt x="4813300" y="50800"/>
                </a:cubicBezTo>
                <a:lnTo>
                  <a:pt x="48133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17D7D"/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8" name="Text 6"/>
          <p:cNvSpPr/>
          <p:nvPr/>
        </p:nvSpPr>
        <p:spPr>
          <a:xfrm>
            <a:off x="528320" y="2579341"/>
            <a:ext cx="360680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840" b="1" dirty="0">
                <a:solidFill>
                  <a:srgbClr val="D88C8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863</a:t>
            </a:r>
            <a:endParaRPr lang="en-US" sz="1280" dirty="0">
              <a:solidFill>
                <a:srgbClr val="D88C8C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99440" y="3148301"/>
            <a:ext cx="3464560" cy="28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D88C8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样本总数</a:t>
            </a:r>
            <a:endParaRPr lang="en-US" sz="1280" dirty="0">
              <a:solidFill>
                <a:srgbClr val="D88C8C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09600" y="3514061"/>
            <a:ext cx="344424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80" dirty="0">
                <a:solidFill>
                  <a:schemeClr val="bg1">
                    <a:lumMod val="50000"/>
                  </a:schemeClr>
                </a:solidFill>
                <a:latin typeface="+mn-ea"/>
                <a:cs typeface="Noto Sans SC" panose="020B0200000000000000" pitchFamily="34" charset="-120"/>
              </a:rPr>
              <a:t>相比初步研究的68个样本</a:t>
            </a:r>
            <a:endParaRPr lang="en-US" sz="128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  <a:p>
            <a:pPr algn="ctr">
              <a:lnSpc>
                <a:spcPct val="130000"/>
              </a:lnSpc>
            </a:pPr>
            <a:r>
              <a:rPr lang="en-US" sz="1280" dirty="0">
                <a:solidFill>
                  <a:schemeClr val="bg1">
                    <a:lumMod val="50000"/>
                  </a:schemeClr>
                </a:solidFill>
                <a:latin typeface="+mn-ea"/>
                <a:cs typeface="Noto Sans SC" panose="020B0200000000000000" pitchFamily="34" charset="-120"/>
              </a:rPr>
              <a:t>扩大了11.7倍</a:t>
            </a:r>
            <a:endParaRPr lang="en-US" sz="128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8774" y="2315181"/>
            <a:ext cx="3850640" cy="1930400"/>
          </a:xfrm>
          <a:custGeom>
            <a:avLst/>
            <a:gdLst/>
            <a:ahLst/>
            <a:cxnLst/>
            <a:rect l="l" t="t" r="r" b="b"/>
            <a:pathLst>
              <a:path w="4813300" h="2413000">
                <a:moveTo>
                  <a:pt x="50800" y="0"/>
                </a:moveTo>
                <a:lnTo>
                  <a:pt x="4762500" y="0"/>
                </a:lnTo>
                <a:cubicBezTo>
                  <a:pt x="4790556" y="0"/>
                  <a:pt x="4813300" y="22744"/>
                  <a:pt x="4813300" y="50800"/>
                </a:cubicBezTo>
                <a:lnTo>
                  <a:pt x="4813300" y="2260595"/>
                </a:lnTo>
                <a:cubicBezTo>
                  <a:pt x="4813300" y="2344766"/>
                  <a:pt x="4745066" y="2413000"/>
                  <a:pt x="4660895" y="2413000"/>
                </a:cubicBezTo>
                <a:lnTo>
                  <a:pt x="152405" y="2413000"/>
                </a:lnTo>
                <a:cubicBezTo>
                  <a:pt x="68234" y="2413000"/>
                  <a:pt x="0" y="2344766"/>
                  <a:pt x="0" y="2260595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 sz="1440"/>
          </a:p>
        </p:txBody>
      </p:sp>
      <p:sp>
        <p:nvSpPr>
          <p:cNvPr id="12" name="Shape 10"/>
          <p:cNvSpPr/>
          <p:nvPr/>
        </p:nvSpPr>
        <p:spPr>
          <a:xfrm>
            <a:off x="4578774" y="2315181"/>
            <a:ext cx="3850640" cy="40640"/>
          </a:xfrm>
          <a:custGeom>
            <a:avLst/>
            <a:gdLst/>
            <a:ahLst/>
            <a:cxnLst/>
            <a:rect l="l" t="t" r="r" b="b"/>
            <a:pathLst>
              <a:path w="4813300" h="50800">
                <a:moveTo>
                  <a:pt x="50800" y="0"/>
                </a:moveTo>
                <a:lnTo>
                  <a:pt x="4762500" y="0"/>
                </a:lnTo>
                <a:cubicBezTo>
                  <a:pt x="4790537" y="0"/>
                  <a:pt x="4813300" y="22763"/>
                  <a:pt x="4813300" y="50800"/>
                </a:cubicBezTo>
                <a:lnTo>
                  <a:pt x="48133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17D7D"/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13" name="Text 11"/>
          <p:cNvSpPr/>
          <p:nvPr/>
        </p:nvSpPr>
        <p:spPr>
          <a:xfrm>
            <a:off x="4700694" y="2579341"/>
            <a:ext cx="360680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840" b="1" dirty="0">
                <a:solidFill>
                  <a:srgbClr val="D88C8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2,512</a:t>
            </a:r>
            <a:endParaRPr lang="en-US" sz="1280" dirty="0">
              <a:solidFill>
                <a:srgbClr val="D88C8C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71814" y="3148301"/>
            <a:ext cx="3464560" cy="28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D88C8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平均总互动量</a:t>
            </a:r>
            <a:endParaRPr lang="en-US" sz="1280" dirty="0">
              <a:solidFill>
                <a:srgbClr val="D88C8C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81974" y="3514061"/>
            <a:ext cx="344424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80" dirty="0">
                <a:solidFill>
                  <a:schemeClr val="bg1">
                    <a:lumMod val="50000"/>
                  </a:schemeClr>
                </a:solidFill>
                <a:latin typeface="+mn-ea"/>
                <a:cs typeface="Noto Sans SC" panose="020B0200000000000000" pitchFamily="34" charset="-120"/>
              </a:rPr>
              <a:t>点赞+收藏+评论</a:t>
            </a:r>
            <a:endParaRPr lang="en-US" sz="128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  <a:p>
            <a:pPr algn="ctr">
              <a:lnSpc>
                <a:spcPct val="130000"/>
              </a:lnSpc>
            </a:pPr>
            <a:r>
              <a:rPr lang="en-US" sz="1280" dirty="0">
                <a:solidFill>
                  <a:schemeClr val="bg1">
                    <a:lumMod val="50000"/>
                  </a:schemeClr>
                </a:solidFill>
                <a:latin typeface="+mn-ea"/>
                <a:cs typeface="Noto Sans SC" panose="020B0200000000000000" pitchFamily="34" charset="-120"/>
              </a:rPr>
              <a:t>的中位数</a:t>
            </a:r>
            <a:endParaRPr lang="en-US" sz="128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751147" y="2315181"/>
            <a:ext cx="3850640" cy="1930400"/>
          </a:xfrm>
          <a:custGeom>
            <a:avLst/>
            <a:gdLst/>
            <a:ahLst/>
            <a:cxnLst/>
            <a:rect l="l" t="t" r="r" b="b"/>
            <a:pathLst>
              <a:path w="4813300" h="2413000">
                <a:moveTo>
                  <a:pt x="50800" y="0"/>
                </a:moveTo>
                <a:lnTo>
                  <a:pt x="4762500" y="0"/>
                </a:lnTo>
                <a:cubicBezTo>
                  <a:pt x="4790556" y="0"/>
                  <a:pt x="4813300" y="22744"/>
                  <a:pt x="4813300" y="50800"/>
                </a:cubicBezTo>
                <a:lnTo>
                  <a:pt x="4813300" y="2260595"/>
                </a:lnTo>
                <a:cubicBezTo>
                  <a:pt x="4813300" y="2344766"/>
                  <a:pt x="4745066" y="2413000"/>
                  <a:pt x="4660895" y="2413000"/>
                </a:cubicBezTo>
                <a:lnTo>
                  <a:pt x="152405" y="2413000"/>
                </a:lnTo>
                <a:cubicBezTo>
                  <a:pt x="68234" y="2413000"/>
                  <a:pt x="0" y="2344766"/>
                  <a:pt x="0" y="2260595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 sz="1440"/>
          </a:p>
        </p:txBody>
      </p:sp>
      <p:sp>
        <p:nvSpPr>
          <p:cNvPr id="17" name="Shape 15"/>
          <p:cNvSpPr/>
          <p:nvPr/>
        </p:nvSpPr>
        <p:spPr>
          <a:xfrm>
            <a:off x="8751147" y="2315181"/>
            <a:ext cx="3850640" cy="40640"/>
          </a:xfrm>
          <a:custGeom>
            <a:avLst/>
            <a:gdLst/>
            <a:ahLst/>
            <a:cxnLst/>
            <a:rect l="l" t="t" r="r" b="b"/>
            <a:pathLst>
              <a:path w="4813300" h="50800">
                <a:moveTo>
                  <a:pt x="50800" y="0"/>
                </a:moveTo>
                <a:lnTo>
                  <a:pt x="4762500" y="0"/>
                </a:lnTo>
                <a:cubicBezTo>
                  <a:pt x="4790537" y="0"/>
                  <a:pt x="4813300" y="22763"/>
                  <a:pt x="4813300" y="50800"/>
                </a:cubicBezTo>
                <a:lnTo>
                  <a:pt x="48133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17D7D"/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18" name="Text 16"/>
          <p:cNvSpPr/>
          <p:nvPr/>
        </p:nvSpPr>
        <p:spPr>
          <a:xfrm>
            <a:off x="8873067" y="2579341"/>
            <a:ext cx="360680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840" b="1" dirty="0">
                <a:solidFill>
                  <a:srgbClr val="D88C8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endParaRPr lang="en-US" sz="1280" dirty="0">
              <a:solidFill>
                <a:srgbClr val="D88C8C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8944187" y="3148301"/>
            <a:ext cx="3464560" cy="28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D88C8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核心维度</a:t>
            </a:r>
            <a:endParaRPr lang="en-US" sz="1280" dirty="0">
              <a:solidFill>
                <a:srgbClr val="D88C8C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8954347" y="3514061"/>
            <a:ext cx="344424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80" dirty="0">
                <a:solidFill>
                  <a:schemeClr val="bg1">
                    <a:lumMod val="50000"/>
                  </a:schemeClr>
                </a:solidFill>
                <a:latin typeface="+mn-ea"/>
                <a:cs typeface="Noto Sans SC" panose="020B0200000000000000" pitchFamily="34" charset="-120"/>
              </a:rPr>
              <a:t>身份展示、经验证明</a:t>
            </a:r>
            <a:endParaRPr lang="en-US" sz="128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  <a:p>
            <a:pPr algn="ctr">
              <a:lnSpc>
                <a:spcPct val="130000"/>
              </a:lnSpc>
            </a:pPr>
            <a:r>
              <a:rPr lang="en-US" sz="1280" dirty="0">
                <a:solidFill>
                  <a:schemeClr val="bg1">
                    <a:lumMod val="50000"/>
                  </a:schemeClr>
                </a:solidFill>
                <a:latin typeface="+mn-ea"/>
                <a:cs typeface="Noto Sans SC" panose="020B0200000000000000" pitchFamily="34" charset="-120"/>
              </a:rPr>
              <a:t>关系建立</a:t>
            </a:r>
            <a:endParaRPr lang="en-US" sz="128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09787" y="4918482"/>
            <a:ext cx="3898054" cy="1713654"/>
          </a:xfrm>
          <a:custGeom>
            <a:avLst/>
            <a:gdLst/>
            <a:ahLst/>
            <a:cxnLst/>
            <a:rect l="l" t="t" r="r" b="b"/>
            <a:pathLst>
              <a:path w="4872567" h="2142067">
                <a:moveTo>
                  <a:pt x="152408" y="0"/>
                </a:moveTo>
                <a:lnTo>
                  <a:pt x="4720159" y="0"/>
                </a:lnTo>
                <a:cubicBezTo>
                  <a:pt x="4804331" y="0"/>
                  <a:pt x="4872567" y="68235"/>
                  <a:pt x="4872567" y="152408"/>
                </a:cubicBezTo>
                <a:lnTo>
                  <a:pt x="4872567" y="1989659"/>
                </a:lnTo>
                <a:cubicBezTo>
                  <a:pt x="4872567" y="2073831"/>
                  <a:pt x="4804331" y="2142067"/>
                  <a:pt x="4720159" y="2142067"/>
                </a:cubicBezTo>
                <a:lnTo>
                  <a:pt x="152408" y="2142067"/>
                </a:lnTo>
                <a:cubicBezTo>
                  <a:pt x="68235" y="2142067"/>
                  <a:pt x="0" y="2073831"/>
                  <a:pt x="0" y="1989659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 w="8467">
            <a:solidFill>
              <a:srgbClr val="8FBC8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sz="1440">
              <a:solidFill>
                <a:srgbClr val="C17D7D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18914" y="5175867"/>
            <a:ext cx="228600" cy="18288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60722" y="57150"/>
                </a:moveTo>
                <a:cubicBezTo>
                  <a:pt x="60722" y="27579"/>
                  <a:pt x="84729" y="3572"/>
                  <a:pt x="114300" y="3572"/>
                </a:cubicBezTo>
                <a:cubicBezTo>
                  <a:pt x="143871" y="3572"/>
                  <a:pt x="167878" y="27579"/>
                  <a:pt x="167878" y="57150"/>
                </a:cubicBezTo>
                <a:cubicBezTo>
                  <a:pt x="167878" y="86721"/>
                  <a:pt x="143871" y="110728"/>
                  <a:pt x="114300" y="110728"/>
                </a:cubicBezTo>
                <a:cubicBezTo>
                  <a:pt x="84729" y="110728"/>
                  <a:pt x="60722" y="86721"/>
                  <a:pt x="60722" y="57150"/>
                </a:cubicBezTo>
                <a:close/>
                <a:moveTo>
                  <a:pt x="21431" y="215339"/>
                </a:moveTo>
                <a:cubicBezTo>
                  <a:pt x="21431" y="171361"/>
                  <a:pt x="57061" y="135731"/>
                  <a:pt x="101039" y="135731"/>
                </a:cubicBezTo>
                <a:lnTo>
                  <a:pt x="127561" y="135731"/>
                </a:lnTo>
                <a:cubicBezTo>
                  <a:pt x="171539" y="135731"/>
                  <a:pt x="207169" y="171361"/>
                  <a:pt x="207169" y="215339"/>
                </a:cubicBezTo>
                <a:cubicBezTo>
                  <a:pt x="207169" y="222662"/>
                  <a:pt x="201231" y="228600"/>
                  <a:pt x="193908" y="228600"/>
                </a:cubicBezTo>
                <a:lnTo>
                  <a:pt x="34692" y="228600"/>
                </a:lnTo>
                <a:cubicBezTo>
                  <a:pt x="27369" y="228600"/>
                  <a:pt x="21431" y="222662"/>
                  <a:pt x="21431" y="215339"/>
                </a:cubicBezTo>
                <a:close/>
                <a:moveTo>
                  <a:pt x="273427" y="59248"/>
                </a:moveTo>
                <a:lnTo>
                  <a:pt x="237708" y="116398"/>
                </a:lnTo>
                <a:cubicBezTo>
                  <a:pt x="235833" y="119390"/>
                  <a:pt x="232618" y="121265"/>
                  <a:pt x="229091" y="121444"/>
                </a:cubicBezTo>
                <a:cubicBezTo>
                  <a:pt x="225564" y="121622"/>
                  <a:pt x="222171" y="120015"/>
                  <a:pt x="220072" y="117157"/>
                </a:cubicBezTo>
                <a:lnTo>
                  <a:pt x="198641" y="88582"/>
                </a:lnTo>
                <a:cubicBezTo>
                  <a:pt x="195069" y="83850"/>
                  <a:pt x="196051" y="77152"/>
                  <a:pt x="200784" y="73581"/>
                </a:cubicBezTo>
                <a:cubicBezTo>
                  <a:pt x="205517" y="70009"/>
                  <a:pt x="212214" y="70991"/>
                  <a:pt x="215786" y="75724"/>
                </a:cubicBezTo>
                <a:lnTo>
                  <a:pt x="227841" y="91797"/>
                </a:lnTo>
                <a:lnTo>
                  <a:pt x="255255" y="47908"/>
                </a:lnTo>
                <a:cubicBezTo>
                  <a:pt x="258381" y="42907"/>
                  <a:pt x="264988" y="41344"/>
                  <a:pt x="270034" y="44514"/>
                </a:cubicBezTo>
                <a:cubicBezTo>
                  <a:pt x="275079" y="47685"/>
                  <a:pt x="276597" y="54248"/>
                  <a:pt x="273427" y="59293"/>
                </a:cubicBezTo>
                <a:close/>
              </a:path>
            </a:pathLst>
          </a:custGeom>
          <a:solidFill>
            <a:srgbClr val="C17D7D"/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23" name="Text 21"/>
          <p:cNvSpPr/>
          <p:nvPr/>
        </p:nvSpPr>
        <p:spPr>
          <a:xfrm>
            <a:off x="850054" y="5125067"/>
            <a:ext cx="3342640" cy="28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0" b="1" dirty="0">
                <a:solidFill>
                  <a:srgbClr val="C17D7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身份展示策略</a:t>
            </a:r>
            <a:endParaRPr lang="en-US" sz="1280" dirty="0">
              <a:solidFill>
                <a:srgbClr val="C17D7D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616374" y="5531467"/>
            <a:ext cx="73152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0" dirty="0">
                <a:solidFill>
                  <a:srgbClr val="C17D7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泛称身份</a:t>
            </a:r>
            <a:endParaRPr lang="en-US" sz="1280" dirty="0">
              <a:solidFill>
                <a:srgbClr val="C17D7D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3600662" y="5531467"/>
            <a:ext cx="57912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0" b="1" dirty="0">
                <a:solidFill>
                  <a:srgbClr val="C17D7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56.4%</a:t>
            </a:r>
            <a:endParaRPr lang="en-US" sz="1280" dirty="0">
              <a:solidFill>
                <a:srgbClr val="C17D7D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616374" y="5856587"/>
            <a:ext cx="89408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0" dirty="0">
                <a:solidFill>
                  <a:srgbClr val="C17D7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无身份标识</a:t>
            </a:r>
            <a:endParaRPr lang="en-US" sz="1280" dirty="0">
              <a:solidFill>
                <a:srgbClr val="C17D7D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3600662" y="5856587"/>
            <a:ext cx="57912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0" b="1" dirty="0">
                <a:solidFill>
                  <a:srgbClr val="C17D7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26.1%</a:t>
            </a:r>
            <a:endParaRPr lang="en-US" sz="1280" dirty="0">
              <a:solidFill>
                <a:srgbClr val="C17D7D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616374" y="6181707"/>
            <a:ext cx="73152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0" dirty="0">
                <a:solidFill>
                  <a:srgbClr val="C17D7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具体身份</a:t>
            </a:r>
            <a:endParaRPr lang="en-US" sz="1280" dirty="0">
              <a:solidFill>
                <a:srgbClr val="C17D7D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3600662" y="6181707"/>
            <a:ext cx="57912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0" b="1" dirty="0">
                <a:solidFill>
                  <a:srgbClr val="C17D7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17.5%</a:t>
            </a:r>
            <a:endParaRPr lang="en-US" sz="1280" dirty="0">
              <a:solidFill>
                <a:srgbClr val="C17D7D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55067" y="4918482"/>
            <a:ext cx="3898054" cy="1713654"/>
          </a:xfrm>
          <a:custGeom>
            <a:avLst/>
            <a:gdLst/>
            <a:ahLst/>
            <a:cxnLst/>
            <a:rect l="l" t="t" r="r" b="b"/>
            <a:pathLst>
              <a:path w="4872567" h="2142067">
                <a:moveTo>
                  <a:pt x="152408" y="0"/>
                </a:moveTo>
                <a:lnTo>
                  <a:pt x="4720159" y="0"/>
                </a:lnTo>
                <a:cubicBezTo>
                  <a:pt x="4804331" y="0"/>
                  <a:pt x="4872567" y="68235"/>
                  <a:pt x="4872567" y="152408"/>
                </a:cubicBezTo>
                <a:lnTo>
                  <a:pt x="4872567" y="1989659"/>
                </a:lnTo>
                <a:cubicBezTo>
                  <a:pt x="4872567" y="2073831"/>
                  <a:pt x="4804331" y="2142067"/>
                  <a:pt x="4720159" y="2142067"/>
                </a:cubicBezTo>
                <a:lnTo>
                  <a:pt x="152408" y="2142067"/>
                </a:lnTo>
                <a:cubicBezTo>
                  <a:pt x="68235" y="2142067"/>
                  <a:pt x="0" y="2073831"/>
                  <a:pt x="0" y="1989659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 w="8467">
            <a:solidFill>
              <a:srgbClr val="8FBC8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sz="1440"/>
          </a:p>
        </p:txBody>
      </p:sp>
      <p:sp>
        <p:nvSpPr>
          <p:cNvPr id="31" name="Shape 29"/>
          <p:cNvSpPr/>
          <p:nvPr/>
        </p:nvSpPr>
        <p:spPr>
          <a:xfrm>
            <a:off x="4787054" y="5175867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22190" y="14288"/>
                  <a:pt x="28575" y="20672"/>
                  <a:pt x="28575" y="28575"/>
                </a:cubicBez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214313" y="185738"/>
                </a:lnTo>
                <a:cubicBezTo>
                  <a:pt x="222215" y="185738"/>
                  <a:pt x="228600" y="192122"/>
                  <a:pt x="228600" y="200025"/>
                </a:cubicBezTo>
                <a:cubicBezTo>
                  <a:pt x="228600" y="207928"/>
                  <a:pt x="222215" y="214313"/>
                  <a:pt x="214313" y="214313"/>
                </a:cubicBezTo>
                <a:lnTo>
                  <a:pt x="35719" y="214313"/>
                </a:lnTo>
                <a:cubicBezTo>
                  <a:pt x="15984" y="214313"/>
                  <a:pt x="0" y="198328"/>
                  <a:pt x="0" y="178594"/>
                </a:cubicBezTo>
                <a:lnTo>
                  <a:pt x="0" y="28575"/>
                </a:lnTo>
                <a:cubicBezTo>
                  <a:pt x="0" y="20672"/>
                  <a:pt x="6385" y="14288"/>
                  <a:pt x="14288" y="14288"/>
                </a:cubicBezTo>
                <a:close/>
                <a:moveTo>
                  <a:pt x="57150" y="42863"/>
                </a:moveTo>
                <a:cubicBezTo>
                  <a:pt x="57150" y="34960"/>
                  <a:pt x="63535" y="28575"/>
                  <a:pt x="71438" y="28575"/>
                </a:cubicBezTo>
                <a:lnTo>
                  <a:pt x="157163" y="28575"/>
                </a:lnTo>
                <a:cubicBezTo>
                  <a:pt x="165065" y="28575"/>
                  <a:pt x="171450" y="34960"/>
                  <a:pt x="171450" y="42863"/>
                </a:cubicBezTo>
                <a:cubicBezTo>
                  <a:pt x="171450" y="50765"/>
                  <a:pt x="165065" y="57150"/>
                  <a:pt x="157163" y="57150"/>
                </a:cubicBezTo>
                <a:lnTo>
                  <a:pt x="71438" y="57150"/>
                </a:lnTo>
                <a:cubicBezTo>
                  <a:pt x="63535" y="57150"/>
                  <a:pt x="57150" y="50765"/>
                  <a:pt x="57150" y="42863"/>
                </a:cubicBezTo>
                <a:close/>
                <a:moveTo>
                  <a:pt x="71438" y="78581"/>
                </a:moveTo>
                <a:lnTo>
                  <a:pt x="128588" y="78581"/>
                </a:lnTo>
                <a:cubicBezTo>
                  <a:pt x="136490" y="78581"/>
                  <a:pt x="142875" y="84966"/>
                  <a:pt x="142875" y="92869"/>
                </a:cubicBezTo>
                <a:cubicBezTo>
                  <a:pt x="142875" y="100772"/>
                  <a:pt x="136490" y="107156"/>
                  <a:pt x="128588" y="107156"/>
                </a:cubicBezTo>
                <a:lnTo>
                  <a:pt x="71438" y="107156"/>
                </a:lnTo>
                <a:cubicBezTo>
                  <a:pt x="63535" y="107156"/>
                  <a:pt x="57150" y="100772"/>
                  <a:pt x="57150" y="92869"/>
                </a:cubicBezTo>
                <a:cubicBezTo>
                  <a:pt x="57150" y="84966"/>
                  <a:pt x="63535" y="78581"/>
                  <a:pt x="71438" y="78581"/>
                </a:cubicBezTo>
                <a:close/>
                <a:moveTo>
                  <a:pt x="71438" y="128588"/>
                </a:moveTo>
                <a:lnTo>
                  <a:pt x="185738" y="128588"/>
                </a:lnTo>
                <a:cubicBezTo>
                  <a:pt x="193640" y="128588"/>
                  <a:pt x="200025" y="134972"/>
                  <a:pt x="200025" y="142875"/>
                </a:cubicBezTo>
                <a:cubicBezTo>
                  <a:pt x="200025" y="150778"/>
                  <a:pt x="193640" y="157163"/>
                  <a:pt x="185738" y="157163"/>
                </a:cubicBezTo>
                <a:lnTo>
                  <a:pt x="71438" y="157163"/>
                </a:lnTo>
                <a:cubicBezTo>
                  <a:pt x="63535" y="157163"/>
                  <a:pt x="57150" y="150778"/>
                  <a:pt x="57150" y="142875"/>
                </a:cubicBezTo>
                <a:cubicBezTo>
                  <a:pt x="57150" y="134972"/>
                  <a:pt x="63535" y="128588"/>
                  <a:pt x="71438" y="128588"/>
                </a:cubicBezTo>
                <a:close/>
              </a:path>
            </a:pathLst>
          </a:custGeom>
          <a:solidFill>
            <a:srgbClr val="C17D7D"/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32" name="Text 30"/>
          <p:cNvSpPr/>
          <p:nvPr/>
        </p:nvSpPr>
        <p:spPr>
          <a:xfrm>
            <a:off x="4995334" y="5125067"/>
            <a:ext cx="3342640" cy="28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0" b="1" dirty="0">
                <a:solidFill>
                  <a:srgbClr val="C17D7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经验证明策略</a:t>
            </a:r>
            <a:endParaRPr lang="en-US" sz="1280" dirty="0">
              <a:solidFill>
                <a:srgbClr val="C17D7D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4761654" y="5531467"/>
            <a:ext cx="75184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0" dirty="0">
                <a:solidFill>
                  <a:srgbClr val="C17D7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L4级证据</a:t>
            </a:r>
            <a:endParaRPr lang="en-US" sz="1280" dirty="0">
              <a:solidFill>
                <a:srgbClr val="C17D7D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7745942" y="5531467"/>
            <a:ext cx="57912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0" b="1" dirty="0">
                <a:solidFill>
                  <a:srgbClr val="C17D7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44.1%</a:t>
            </a:r>
            <a:endParaRPr lang="en-US" sz="1280" dirty="0">
              <a:solidFill>
                <a:srgbClr val="C17D7D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4761654" y="5856587"/>
            <a:ext cx="75184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0" dirty="0">
                <a:solidFill>
                  <a:srgbClr val="C17D7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L1级证据</a:t>
            </a:r>
            <a:endParaRPr lang="en-US" sz="1280" dirty="0">
              <a:solidFill>
                <a:srgbClr val="C17D7D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7745942" y="5856587"/>
            <a:ext cx="57912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0" b="1" dirty="0">
                <a:solidFill>
                  <a:srgbClr val="C17D7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31.2%</a:t>
            </a:r>
            <a:endParaRPr lang="en-US" sz="1280" dirty="0">
              <a:solidFill>
                <a:srgbClr val="C17D7D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4761654" y="6181707"/>
            <a:ext cx="98552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0" dirty="0">
                <a:solidFill>
                  <a:srgbClr val="C17D7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L3/L2级证据</a:t>
            </a:r>
            <a:endParaRPr lang="en-US" sz="1280" dirty="0">
              <a:solidFill>
                <a:srgbClr val="C17D7D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7745942" y="6181707"/>
            <a:ext cx="57912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0" b="1" dirty="0">
                <a:solidFill>
                  <a:srgbClr val="C17D7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24.7%</a:t>
            </a:r>
            <a:endParaRPr lang="en-US" sz="1280" dirty="0">
              <a:solidFill>
                <a:srgbClr val="C17D7D"/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8700347" y="4918482"/>
            <a:ext cx="3898054" cy="1713654"/>
          </a:xfrm>
          <a:custGeom>
            <a:avLst/>
            <a:gdLst/>
            <a:ahLst/>
            <a:cxnLst/>
            <a:rect l="l" t="t" r="r" b="b"/>
            <a:pathLst>
              <a:path w="4872567" h="2142067">
                <a:moveTo>
                  <a:pt x="152408" y="0"/>
                </a:moveTo>
                <a:lnTo>
                  <a:pt x="4720159" y="0"/>
                </a:lnTo>
                <a:cubicBezTo>
                  <a:pt x="4804331" y="0"/>
                  <a:pt x="4872567" y="68235"/>
                  <a:pt x="4872567" y="152408"/>
                </a:cubicBezTo>
                <a:lnTo>
                  <a:pt x="4872567" y="1989659"/>
                </a:lnTo>
                <a:cubicBezTo>
                  <a:pt x="4872567" y="2073831"/>
                  <a:pt x="4804331" y="2142067"/>
                  <a:pt x="4720159" y="2142067"/>
                </a:cubicBezTo>
                <a:lnTo>
                  <a:pt x="152408" y="2142067"/>
                </a:lnTo>
                <a:cubicBezTo>
                  <a:pt x="68235" y="2142067"/>
                  <a:pt x="0" y="2073831"/>
                  <a:pt x="0" y="1989659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 w="8467">
            <a:solidFill>
              <a:srgbClr val="8FBC8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sz="1440"/>
          </a:p>
        </p:txBody>
      </p:sp>
      <p:sp>
        <p:nvSpPr>
          <p:cNvPr id="40" name="Shape 38"/>
          <p:cNvSpPr/>
          <p:nvPr/>
        </p:nvSpPr>
        <p:spPr>
          <a:xfrm>
            <a:off x="8920904" y="5175867"/>
            <a:ext cx="205740" cy="18288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71450" y="64294"/>
                </a:moveTo>
                <a:cubicBezTo>
                  <a:pt x="171450" y="107692"/>
                  <a:pt x="133052" y="142875"/>
                  <a:pt x="85725" y="142875"/>
                </a:cubicBezTo>
                <a:cubicBezTo>
                  <a:pt x="73804" y="142875"/>
                  <a:pt x="62463" y="140643"/>
                  <a:pt x="52149" y="136624"/>
                </a:cubicBezTo>
                <a:lnTo>
                  <a:pt x="15716" y="155912"/>
                </a:lnTo>
                <a:cubicBezTo>
                  <a:pt x="11564" y="158100"/>
                  <a:pt x="6474" y="157341"/>
                  <a:pt x="3125" y="154037"/>
                </a:cubicBezTo>
                <a:cubicBezTo>
                  <a:pt x="-223" y="150733"/>
                  <a:pt x="-982" y="145599"/>
                  <a:pt x="1250" y="141446"/>
                </a:cubicBezTo>
                <a:lnTo>
                  <a:pt x="17145" y="111443"/>
                </a:lnTo>
                <a:cubicBezTo>
                  <a:pt x="6385" y="98316"/>
                  <a:pt x="0" y="81975"/>
                  <a:pt x="0" y="64294"/>
                </a:cubicBezTo>
                <a:cubicBezTo>
                  <a:pt x="0" y="20895"/>
                  <a:pt x="38398" y="-14287"/>
                  <a:pt x="85725" y="-14287"/>
                </a:cubicBezTo>
                <a:cubicBezTo>
                  <a:pt x="133052" y="-14287"/>
                  <a:pt x="171450" y="20895"/>
                  <a:pt x="171450" y="64294"/>
                </a:cubicBezTo>
                <a:close/>
                <a:moveTo>
                  <a:pt x="171450" y="228600"/>
                </a:moveTo>
                <a:cubicBezTo>
                  <a:pt x="129436" y="228600"/>
                  <a:pt x="94476" y="200873"/>
                  <a:pt x="87154" y="164306"/>
                </a:cubicBezTo>
                <a:cubicBezTo>
                  <a:pt x="140732" y="163637"/>
                  <a:pt x="187300" y="125507"/>
                  <a:pt x="192435" y="73804"/>
                </a:cubicBezTo>
                <a:cubicBezTo>
                  <a:pt x="229627" y="82376"/>
                  <a:pt x="257175" y="113228"/>
                  <a:pt x="257175" y="150019"/>
                </a:cubicBezTo>
                <a:cubicBezTo>
                  <a:pt x="257175" y="167700"/>
                  <a:pt x="250790" y="184041"/>
                  <a:pt x="240030" y="197168"/>
                </a:cubicBezTo>
                <a:lnTo>
                  <a:pt x="255925" y="227171"/>
                </a:lnTo>
                <a:cubicBezTo>
                  <a:pt x="258113" y="231324"/>
                  <a:pt x="257354" y="236413"/>
                  <a:pt x="254050" y="239762"/>
                </a:cubicBezTo>
                <a:cubicBezTo>
                  <a:pt x="250746" y="243111"/>
                  <a:pt x="245611" y="243870"/>
                  <a:pt x="241459" y="241637"/>
                </a:cubicBezTo>
                <a:lnTo>
                  <a:pt x="205026" y="222349"/>
                </a:lnTo>
                <a:cubicBezTo>
                  <a:pt x="194712" y="226368"/>
                  <a:pt x="183371" y="228600"/>
                  <a:pt x="171450" y="228600"/>
                </a:cubicBezTo>
                <a:close/>
              </a:path>
            </a:pathLst>
          </a:custGeom>
          <a:solidFill>
            <a:srgbClr val="C17D7D"/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41" name="Text 39"/>
          <p:cNvSpPr/>
          <p:nvPr/>
        </p:nvSpPr>
        <p:spPr>
          <a:xfrm>
            <a:off x="9140614" y="5125067"/>
            <a:ext cx="3342640" cy="28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0" b="1" dirty="0">
                <a:solidFill>
                  <a:srgbClr val="C17D7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关系建立策略</a:t>
            </a:r>
            <a:endParaRPr lang="en-US" sz="1280" dirty="0">
              <a:solidFill>
                <a:srgbClr val="C17D7D"/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8906934" y="5531467"/>
            <a:ext cx="56896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0" dirty="0">
                <a:solidFill>
                  <a:srgbClr val="C17D7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分享型</a:t>
            </a:r>
            <a:endParaRPr lang="en-US" sz="1280" dirty="0">
              <a:solidFill>
                <a:srgbClr val="C17D7D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11891222" y="5531467"/>
            <a:ext cx="57912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0" b="1" dirty="0">
                <a:solidFill>
                  <a:srgbClr val="C17D7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40.1%</a:t>
            </a:r>
            <a:endParaRPr lang="en-US" sz="1280" dirty="0">
              <a:solidFill>
                <a:srgbClr val="C17D7D"/>
              </a:solidFill>
            </a:endParaRPr>
          </a:p>
        </p:txBody>
      </p:sp>
      <p:sp>
        <p:nvSpPr>
          <p:cNvPr id="44" name="Text 42"/>
          <p:cNvSpPr/>
          <p:nvPr/>
        </p:nvSpPr>
        <p:spPr>
          <a:xfrm>
            <a:off x="8906934" y="5856587"/>
            <a:ext cx="56896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0" dirty="0">
                <a:solidFill>
                  <a:srgbClr val="C17D7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指导型</a:t>
            </a:r>
            <a:endParaRPr lang="en-US" sz="1280" dirty="0">
              <a:solidFill>
                <a:srgbClr val="C17D7D"/>
              </a:solidFill>
            </a:endParaRPr>
          </a:p>
        </p:txBody>
      </p:sp>
      <p:sp>
        <p:nvSpPr>
          <p:cNvPr id="45" name="Text 43"/>
          <p:cNvSpPr/>
          <p:nvPr/>
        </p:nvSpPr>
        <p:spPr>
          <a:xfrm>
            <a:off x="11891222" y="5856587"/>
            <a:ext cx="57912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0" b="1" dirty="0">
                <a:solidFill>
                  <a:srgbClr val="C17D7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26.0%</a:t>
            </a:r>
            <a:endParaRPr lang="en-US" sz="1280" dirty="0">
              <a:solidFill>
                <a:srgbClr val="C17D7D"/>
              </a:solidFill>
            </a:endParaRPr>
          </a:p>
        </p:txBody>
      </p:sp>
      <p:sp>
        <p:nvSpPr>
          <p:cNvPr id="46" name="Text 44"/>
          <p:cNvSpPr/>
          <p:nvPr/>
        </p:nvSpPr>
        <p:spPr>
          <a:xfrm>
            <a:off x="8906934" y="6181707"/>
            <a:ext cx="95504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0" dirty="0">
                <a:solidFill>
                  <a:srgbClr val="C17D7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混合型/其他</a:t>
            </a:r>
            <a:endParaRPr lang="en-US" sz="1280" dirty="0">
              <a:solidFill>
                <a:srgbClr val="C17D7D"/>
              </a:solidFill>
            </a:endParaRPr>
          </a:p>
        </p:txBody>
      </p:sp>
      <p:sp>
        <p:nvSpPr>
          <p:cNvPr id="47" name="Text 45"/>
          <p:cNvSpPr/>
          <p:nvPr/>
        </p:nvSpPr>
        <p:spPr>
          <a:xfrm>
            <a:off x="11891222" y="6181707"/>
            <a:ext cx="57912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0" b="1" dirty="0">
                <a:solidFill>
                  <a:srgbClr val="C17D7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34.0%</a:t>
            </a:r>
            <a:endParaRPr lang="en-US" sz="1280" dirty="0">
              <a:solidFill>
                <a:srgbClr val="C17D7D"/>
              </a:solidFill>
            </a:endParaRPr>
          </a:p>
        </p:txBody>
      </p:sp>
      <p:sp>
        <p:nvSpPr>
          <p:cNvPr id="48" name="Shape 7"/>
          <p:cNvSpPr/>
          <p:nvPr/>
        </p:nvSpPr>
        <p:spPr>
          <a:xfrm>
            <a:off x="381001" y="648356"/>
            <a:ext cx="45719" cy="1238350"/>
          </a:xfrm>
          <a:custGeom>
            <a:avLst/>
            <a:gdLst/>
            <a:ahLst/>
            <a:cxnLst/>
            <a:rect l="l" t="t" r="r" b="b"/>
            <a:pathLst>
              <a:path w="50800" h="2032000">
                <a:moveTo>
                  <a:pt x="50800" y="0"/>
                </a:moveTo>
                <a:lnTo>
                  <a:pt x="50800" y="0"/>
                </a:lnTo>
                <a:lnTo>
                  <a:pt x="50800" y="2032000"/>
                </a:lnTo>
                <a:lnTo>
                  <a:pt x="50800" y="2032000"/>
                </a:lnTo>
                <a:cubicBezTo>
                  <a:pt x="22763" y="2032000"/>
                  <a:pt x="0" y="2009237"/>
                  <a:pt x="0" y="1981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88C8C"/>
          </a:solidFill>
        </p:spPr>
        <p:txBody>
          <a:bodyPr/>
          <a:lstStyle/>
          <a:p>
            <a:pPr defTabSz="731520"/>
            <a:endParaRPr lang="zh-CN" altLang="en-US" sz="1440">
              <a:solidFill>
                <a:srgbClr val="000000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828042"/>
            <a:ext cx="74930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2C2C2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02 </a:t>
            </a:r>
            <a:r>
              <a:rPr lang="en-US" sz="4800" b="1" dirty="0" err="1">
                <a:solidFill>
                  <a:srgbClr val="2C2C2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分析工具</a:t>
            </a:r>
            <a:endParaRPr lang="en-US" sz="4800" b="1" dirty="0">
              <a:solidFill>
                <a:srgbClr val="2C2C2C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  <a:p>
            <a:pPr>
              <a:lnSpc>
                <a:spcPct val="80000"/>
              </a:lnSpc>
            </a:pP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25133" y="1240972"/>
            <a:ext cx="3499168" cy="6219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00" b="1" spc="-100" dirty="0">
                <a:solidFill>
                  <a:srgbClr val="C17D7D"/>
                </a:solidFill>
                <a:latin typeface="华文中宋" panose="02010600040101010101" charset="-122"/>
                <a:ea typeface="华文中宋" panose="02010600040101010101" charset="-122"/>
                <a:cs typeface="Noto Sans SC" panose="020B0200000000000000" pitchFamily="34" charset="-120"/>
              </a:rPr>
              <a:t>      </a:t>
            </a:r>
            <a:r>
              <a:rPr lang="en-US" sz="2300" b="1" spc="-100" dirty="0" err="1">
                <a:solidFill>
                  <a:srgbClr val="C17D7D"/>
                </a:solidFill>
                <a:latin typeface="华文中宋" panose="02010600040101010101" charset="-122"/>
                <a:ea typeface="华文中宋" panose="02010600040101010101" charset="-122"/>
                <a:cs typeface="Noto Sans SC" panose="020B0200000000000000" pitchFamily="34" charset="-120"/>
              </a:rPr>
              <a:t>数据表结构</a:t>
            </a:r>
            <a:r>
              <a:rPr lang="en-US" sz="2300" b="1" spc="-100" dirty="0">
                <a:solidFill>
                  <a:srgbClr val="C17D7D"/>
                </a:solidFill>
                <a:latin typeface="华文中宋" panose="02010600040101010101" charset="-122"/>
                <a:ea typeface="华文中宋" panose="02010600040101010101" charset="-122"/>
                <a:cs typeface="Noto Sans SC" panose="020B0200000000000000" pitchFamily="34" charset="-120"/>
              </a:rPr>
              <a:t> &amp; </a:t>
            </a:r>
            <a:r>
              <a:rPr lang="zh-CN" altLang="en-US" sz="2300" b="1" spc="-100" dirty="0">
                <a:solidFill>
                  <a:srgbClr val="C17D7D"/>
                </a:solidFill>
                <a:latin typeface="华文中宋" panose="02010600040101010101" charset="-122"/>
                <a:ea typeface="华文中宋" panose="02010600040101010101" charset="-122"/>
                <a:cs typeface="Noto Sans SC" panose="020B0200000000000000" pitchFamily="34" charset="-120"/>
              </a:rPr>
              <a:t>标注详情</a:t>
            </a:r>
            <a:endParaRPr lang="zh-CN" altLang="en-US" sz="2300" b="1" spc="-100" dirty="0">
              <a:solidFill>
                <a:srgbClr val="C17D7D"/>
              </a:solidFill>
              <a:latin typeface="华文中宋" panose="02010600040101010101" charset="-122"/>
              <a:ea typeface="华文中宋" panose="02010600040101010101" charset="-122"/>
              <a:cs typeface="Noto Sans SC" panose="020B0200000000000000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30200" y="2387600"/>
            <a:ext cx="3594100" cy="711200"/>
          </a:xfrm>
          <a:prstGeom prst="rect">
            <a:avLst/>
          </a:prstGeom>
          <a:noFill/>
        </p:spPr>
        <p:txBody>
          <a:bodyPr wrap="square" lIns="203200" tIns="203200" rIns="203200" bIns="20320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023320" y="2387600"/>
            <a:ext cx="3594100" cy="711200"/>
          </a:xfrm>
          <a:prstGeom prst="rect">
            <a:avLst/>
          </a:prstGeom>
          <a:noFill/>
        </p:spPr>
        <p:txBody>
          <a:bodyPr wrap="square" lIns="203200" tIns="203200" rIns="203200" bIns="20320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1000" y="3302000"/>
            <a:ext cx="3492500" cy="711200"/>
          </a:xfrm>
          <a:custGeom>
            <a:avLst/>
            <a:gdLst/>
            <a:ahLst/>
            <a:cxnLst/>
            <a:rect l="l" t="t" r="r" b="b"/>
            <a:pathLst>
              <a:path w="3492500" h="711200">
                <a:moveTo>
                  <a:pt x="101602" y="0"/>
                </a:moveTo>
                <a:lnTo>
                  <a:pt x="3390898" y="0"/>
                </a:lnTo>
                <a:cubicBezTo>
                  <a:pt x="3447011" y="0"/>
                  <a:pt x="3492500" y="45489"/>
                  <a:pt x="3492500" y="101602"/>
                </a:cubicBezTo>
                <a:lnTo>
                  <a:pt x="3492500" y="609598"/>
                </a:lnTo>
                <a:cubicBezTo>
                  <a:pt x="3492500" y="665711"/>
                  <a:pt x="3447011" y="711200"/>
                  <a:pt x="33908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330200" y="3302000"/>
            <a:ext cx="3594100" cy="711200"/>
          </a:xfrm>
          <a:prstGeom prst="rect">
            <a:avLst/>
          </a:prstGeom>
          <a:noFill/>
        </p:spPr>
        <p:txBody>
          <a:bodyPr wrap="square" lIns="203200" tIns="203200" rIns="203200" bIns="20320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74120" y="3302000"/>
            <a:ext cx="3492500" cy="711200"/>
          </a:xfrm>
          <a:custGeom>
            <a:avLst/>
            <a:gdLst/>
            <a:ahLst/>
            <a:cxnLst/>
            <a:rect l="l" t="t" r="r" b="b"/>
            <a:pathLst>
              <a:path w="3492500" h="711200">
                <a:moveTo>
                  <a:pt x="101602" y="0"/>
                </a:moveTo>
                <a:lnTo>
                  <a:pt x="3390898" y="0"/>
                </a:lnTo>
                <a:cubicBezTo>
                  <a:pt x="3447011" y="0"/>
                  <a:pt x="3492500" y="45489"/>
                  <a:pt x="3492500" y="101602"/>
                </a:cubicBezTo>
                <a:lnTo>
                  <a:pt x="3492500" y="609598"/>
                </a:lnTo>
                <a:cubicBezTo>
                  <a:pt x="3492500" y="665711"/>
                  <a:pt x="3447011" y="711200"/>
                  <a:pt x="33908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023320" y="3302000"/>
            <a:ext cx="3594100" cy="711200"/>
          </a:xfrm>
          <a:prstGeom prst="rect">
            <a:avLst/>
          </a:prstGeom>
          <a:noFill/>
        </p:spPr>
        <p:txBody>
          <a:bodyPr wrap="square" lIns="203200" tIns="203200" rIns="203200" bIns="20320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2" name="文本框 11"/>
          <p:cNvSpPr txBox="1"/>
          <p:nvPr/>
        </p:nvSpPr>
        <p:spPr>
          <a:xfrm>
            <a:off x="4114165" y="326571"/>
            <a:ext cx="8782958" cy="22381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我们将抽象的“信任构建语言策略”概念，系统转化为可观测、可量化的具体变量。通过</a:t>
            </a:r>
            <a:r>
              <a:rPr lang="zh-CN" altLang="en-US" b="1" i="0" dirty="0">
                <a:solidFill>
                  <a:srgbClr val="C00000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八爪鱼数据采集器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，我们共爬取</a:t>
            </a:r>
            <a:r>
              <a:rPr lang="en-US" altLang="zh-CN" sz="2000" i="0" dirty="0">
                <a:solidFill>
                  <a:srgbClr val="C00000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897</a:t>
            </a:r>
            <a:r>
              <a:rPr lang="zh-CN" altLang="en-US" sz="2000" i="0" dirty="0">
                <a:solidFill>
                  <a:srgbClr val="C00000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条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校园博主笔记数据，并利用</a:t>
            </a:r>
            <a:r>
              <a:rPr lang="en-US" altLang="zh-CN" b="1" i="0" dirty="0">
                <a:solidFill>
                  <a:srgbClr val="C00000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AI</a:t>
            </a:r>
            <a:r>
              <a:rPr lang="zh-CN" altLang="en-US" b="1" i="0" dirty="0">
                <a:solidFill>
                  <a:srgbClr val="C00000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协助开发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的</a:t>
            </a:r>
            <a:r>
              <a:rPr lang="en-US" altLang="zh-CN" b="0" i="0" u="none" strike="noStrike" dirty="0">
                <a:solidFill>
                  <a:srgbClr val="3964FE"/>
                </a:solidFill>
                <a:effectLst/>
                <a:latin typeface="华文中宋" panose="02010600040101010101" charset="-122"/>
                <a:ea typeface="华文中宋" panose="02010600040101010101" charset="-122"/>
                <a:hlinkClick r:id="rId1"/>
              </a:rPr>
              <a:t>VB.NET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程序进行一键快捷分类标注，极大提高了标注效率与一致性。</a:t>
            </a:r>
            <a:endParaRPr lang="en-US" altLang="zh-CN" b="0" i="0" dirty="0">
              <a:solidFill>
                <a:srgbClr val="0F1115"/>
              </a:solidFill>
              <a:effectLst/>
              <a:latin typeface="华文中宋" panose="02010600040101010101" charset="-122"/>
              <a:ea typeface="华文中宋" panose="02010600040101010101" charset="-122"/>
            </a:endParaRPr>
          </a:p>
          <a:p>
            <a:pPr indent="0" algn="l" fontAlgn="auto">
              <a:lnSpc>
                <a:spcPts val="2800"/>
              </a:lnSpc>
              <a:spcAft>
                <a:spcPts val="600"/>
              </a:spcAft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经过筛选分类为空值的数据，我们最终得到</a:t>
            </a:r>
            <a:r>
              <a:rPr lang="en-US" altLang="zh-CN" sz="2400" b="1" i="0" dirty="0">
                <a:solidFill>
                  <a:srgbClr val="C00000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863</a:t>
            </a:r>
            <a:r>
              <a:rPr lang="zh-CN" altLang="en-US" sz="2400" b="1" i="0" dirty="0">
                <a:solidFill>
                  <a:srgbClr val="C00000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条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可分析的有效样本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。在此基础上，我们进行了规范化内容编码与多维度交叉分析，以深度揭示其内在作用规律。</a:t>
            </a:r>
            <a:endParaRPr spc="-1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40335" y="2550160"/>
            <a:ext cx="4335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 b="1988"/>
          <a:stretch>
            <a:fillRect/>
          </a:stretch>
        </p:blipFill>
        <p:spPr>
          <a:xfrm>
            <a:off x="0" y="2767936"/>
            <a:ext cx="12997088" cy="4405750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8893629" y="2704648"/>
            <a:ext cx="4068149" cy="4547265"/>
          </a:xfrm>
          <a:prstGeom prst="rect">
            <a:avLst/>
          </a:prstGeom>
          <a:noFill/>
          <a:ln w="76200">
            <a:solidFill>
              <a:srgbClr val="B1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Shape 7"/>
          <p:cNvSpPr/>
          <p:nvPr/>
        </p:nvSpPr>
        <p:spPr>
          <a:xfrm flipH="1">
            <a:off x="235268" y="366311"/>
            <a:ext cx="45719" cy="1549276"/>
          </a:xfrm>
          <a:custGeom>
            <a:avLst/>
            <a:gdLst/>
            <a:ahLst/>
            <a:cxnLst/>
            <a:rect l="l" t="t" r="r" b="b"/>
            <a:pathLst>
              <a:path w="50800" h="2032000">
                <a:moveTo>
                  <a:pt x="50800" y="0"/>
                </a:moveTo>
                <a:lnTo>
                  <a:pt x="50800" y="0"/>
                </a:lnTo>
                <a:lnTo>
                  <a:pt x="50800" y="2032000"/>
                </a:lnTo>
                <a:lnTo>
                  <a:pt x="50800" y="2032000"/>
                </a:lnTo>
                <a:cubicBezTo>
                  <a:pt x="22763" y="2032000"/>
                  <a:pt x="0" y="2009237"/>
                  <a:pt x="0" y="1981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88C8C"/>
          </a:solidFill>
        </p:spPr>
        <p:txBody>
          <a:bodyPr/>
          <a:lstStyle/>
          <a:p>
            <a:pPr defTabSz="731520"/>
            <a:endParaRPr lang="zh-CN" altLang="en-US" sz="1440">
              <a:solidFill>
                <a:srgbClr val="000000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9A9A">
            <a:alpha val="1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06400" y="528320"/>
            <a:ext cx="1237488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02 </a:t>
            </a:r>
            <a:r>
              <a:rPr lang="en-US" altLang="zh-CN" sz="3200" b="1" dirty="0" err="1">
                <a:solidFill>
                  <a:schemeClr val="bg2">
                    <a:lumMod val="2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数据概览</a:t>
            </a:r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可视化</a:t>
            </a:r>
            <a:endParaRPr lang="en-US" altLang="zh-CN" sz="3200" b="1" dirty="0">
              <a:solidFill>
                <a:schemeClr val="bg2">
                  <a:lumMod val="25000"/>
                </a:schemeClr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chemeClr val="bg2">
                    <a:lumMod val="2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——</a:t>
            </a:r>
            <a:r>
              <a:rPr lang="en-US" sz="2400" b="1" dirty="0" err="1">
                <a:solidFill>
                  <a:schemeClr val="bg2">
                    <a:lumMod val="2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三大策略维度的分布特征</a:t>
            </a:r>
            <a:endParaRPr lang="en-US" sz="11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06400" y="1483360"/>
            <a:ext cx="3952240" cy="4958080"/>
          </a:xfrm>
          <a:custGeom>
            <a:avLst/>
            <a:gdLst/>
            <a:ahLst/>
            <a:cxnLst/>
            <a:rect l="l" t="t" r="r" b="b"/>
            <a:pathLst>
              <a:path w="4940300" h="61976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6045192"/>
                </a:lnTo>
                <a:cubicBezTo>
                  <a:pt x="4940300" y="6129364"/>
                  <a:pt x="4872064" y="6197600"/>
                  <a:pt x="4787892" y="6197600"/>
                </a:cubicBezTo>
                <a:lnTo>
                  <a:pt x="152408" y="6197600"/>
                </a:lnTo>
                <a:cubicBezTo>
                  <a:pt x="68236" y="6197600"/>
                  <a:pt x="0" y="6129364"/>
                  <a:pt x="0" y="6045192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 sz="1440"/>
          </a:p>
        </p:txBody>
      </p:sp>
      <p:sp>
        <p:nvSpPr>
          <p:cNvPr id="7" name="Shape 5"/>
          <p:cNvSpPr/>
          <p:nvPr/>
        </p:nvSpPr>
        <p:spPr>
          <a:xfrm>
            <a:off x="406400" y="1483360"/>
            <a:ext cx="3952240" cy="40640"/>
          </a:xfrm>
          <a:custGeom>
            <a:avLst/>
            <a:gdLst/>
            <a:ahLst/>
            <a:cxnLst/>
            <a:rect l="l" t="t" r="r" b="b"/>
            <a:pathLst>
              <a:path w="4940300" h="508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E9A9A"/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8" name="Text 6"/>
          <p:cNvSpPr/>
          <p:nvPr/>
        </p:nvSpPr>
        <p:spPr>
          <a:xfrm>
            <a:off x="518160" y="1666240"/>
            <a:ext cx="3728720" cy="28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身份具体程度分布</a:t>
            </a:r>
            <a:endParaRPr lang="en-US" sz="128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9" name="Image 0" descr="https://kimi-img.moonshot.cn/pub/slides/26-01-06-20:40:51-d5eg5kvahd8b8jcbihhg.png"/>
          <p:cNvPicPr>
            <a:picLocks noChangeAspect="1"/>
          </p:cNvPicPr>
          <p:nvPr/>
        </p:nvPicPr>
        <p:blipFill>
          <a:blip r:embed="rId1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 t="47" b="47"/>
          <a:stretch>
            <a:fillRect/>
          </a:stretch>
        </p:blipFill>
        <p:spPr>
          <a:xfrm>
            <a:off x="568960" y="2032000"/>
            <a:ext cx="3627120" cy="3759200"/>
          </a:xfrm>
          <a:prstGeom prst="roundRect">
            <a:avLst>
              <a:gd name="adj" fmla="val 0"/>
            </a:avLst>
          </a:prstGeom>
        </p:spPr>
      </p:pic>
      <p:sp>
        <p:nvSpPr>
          <p:cNvPr id="10" name="Text 7"/>
          <p:cNvSpPr/>
          <p:nvPr/>
        </p:nvSpPr>
        <p:spPr>
          <a:xfrm>
            <a:off x="568960" y="5872480"/>
            <a:ext cx="3627120" cy="406400"/>
          </a:xfrm>
          <a:prstGeom prst="rect">
            <a:avLst/>
          </a:prstGeom>
          <a:gradFill>
            <a:gsLst>
              <a:gs pos="0">
                <a:srgbClr val="FEFDF7">
                  <a:alpha val="95000"/>
                </a:srgbClr>
              </a:gs>
              <a:gs pos="50000">
                <a:srgbClr val="FEFDF7">
                  <a:alpha val="85000"/>
                </a:srgbClr>
              </a:gs>
              <a:gs pos="100000">
                <a:srgbClr val="FFEBEB"/>
              </a:gs>
            </a:gsLst>
            <a:lin ang="2700000" scaled="1"/>
          </a:gradFill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关键洞察：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泛称身份占主导地位(56.4%)，但具体身份虽占比不高，在高互动内容中表现更优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4524586" y="1483360"/>
            <a:ext cx="3952240" cy="4958080"/>
          </a:xfrm>
          <a:custGeom>
            <a:avLst/>
            <a:gdLst/>
            <a:ahLst/>
            <a:cxnLst/>
            <a:rect l="l" t="t" r="r" b="b"/>
            <a:pathLst>
              <a:path w="4940300" h="61976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6045192"/>
                </a:lnTo>
                <a:cubicBezTo>
                  <a:pt x="4940300" y="6129364"/>
                  <a:pt x="4872064" y="6197600"/>
                  <a:pt x="4787892" y="6197600"/>
                </a:cubicBezTo>
                <a:lnTo>
                  <a:pt x="152408" y="6197600"/>
                </a:lnTo>
                <a:cubicBezTo>
                  <a:pt x="68236" y="6197600"/>
                  <a:pt x="0" y="6129364"/>
                  <a:pt x="0" y="6045192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 sz="1440"/>
          </a:p>
        </p:txBody>
      </p:sp>
      <p:sp>
        <p:nvSpPr>
          <p:cNvPr id="12" name="Shape 9"/>
          <p:cNvSpPr/>
          <p:nvPr/>
        </p:nvSpPr>
        <p:spPr>
          <a:xfrm>
            <a:off x="4524586" y="1483360"/>
            <a:ext cx="3952240" cy="40640"/>
          </a:xfrm>
          <a:custGeom>
            <a:avLst/>
            <a:gdLst/>
            <a:ahLst/>
            <a:cxnLst/>
            <a:rect l="l" t="t" r="r" b="b"/>
            <a:pathLst>
              <a:path w="4940300" h="508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E9A9A"/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13" name="Text 10"/>
          <p:cNvSpPr/>
          <p:nvPr/>
        </p:nvSpPr>
        <p:spPr>
          <a:xfrm>
            <a:off x="4636346" y="1666240"/>
            <a:ext cx="3728720" cy="28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证据强度等级分布</a:t>
            </a:r>
            <a:endParaRPr lang="en-US" sz="128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4" name="Image 1" descr="https://kimi-img.moonshot.cn/pub/slides/26-01-06-20:40:51-d5eg5kpl51j2ln1q7osg.png"/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88C8C">
                <a:tint val="45000"/>
                <a:satMod val="400000"/>
              </a:srgbClr>
            </a:duotone>
          </a:blip>
          <a:srcRect t="47" b="47"/>
          <a:stretch>
            <a:fillRect/>
          </a:stretch>
        </p:blipFill>
        <p:spPr>
          <a:xfrm>
            <a:off x="4687146" y="2032000"/>
            <a:ext cx="3627120" cy="3759200"/>
          </a:xfrm>
          <a:prstGeom prst="roundRect">
            <a:avLst>
              <a:gd name="adj" fmla="val 0"/>
            </a:avLst>
          </a:prstGeom>
        </p:spPr>
      </p:pic>
      <p:sp>
        <p:nvSpPr>
          <p:cNvPr id="15" name="Text 11"/>
          <p:cNvSpPr/>
          <p:nvPr/>
        </p:nvSpPr>
        <p:spPr>
          <a:xfrm>
            <a:off x="4687146" y="5872480"/>
            <a:ext cx="3627120" cy="406400"/>
          </a:xfrm>
          <a:prstGeom prst="rect">
            <a:avLst/>
          </a:prstGeom>
          <a:gradFill>
            <a:gsLst>
              <a:gs pos="0">
                <a:srgbClr val="FEFDF7">
                  <a:alpha val="95000"/>
                </a:srgbClr>
              </a:gs>
              <a:gs pos="50000">
                <a:srgbClr val="FEFDF7">
                  <a:alpha val="85000"/>
                </a:srgbClr>
              </a:gs>
              <a:gs pos="100000">
                <a:srgbClr val="FFEBEB"/>
              </a:gs>
            </a:gsLst>
            <a:lin ang="2700000" scaled="1"/>
          </a:gradFill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关键洞察：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L4级证据使用最广泛(44.1%)，显示博主倾向于提供详细证据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Shape 12"/>
          <p:cNvSpPr/>
          <p:nvPr/>
        </p:nvSpPr>
        <p:spPr>
          <a:xfrm>
            <a:off x="8642774" y="1483360"/>
            <a:ext cx="3952240" cy="4958080"/>
          </a:xfrm>
          <a:custGeom>
            <a:avLst/>
            <a:gdLst/>
            <a:ahLst/>
            <a:cxnLst/>
            <a:rect l="l" t="t" r="r" b="b"/>
            <a:pathLst>
              <a:path w="4940300" h="61976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6045192"/>
                </a:lnTo>
                <a:cubicBezTo>
                  <a:pt x="4940300" y="6129364"/>
                  <a:pt x="4872064" y="6197600"/>
                  <a:pt x="4787892" y="6197600"/>
                </a:cubicBezTo>
                <a:lnTo>
                  <a:pt x="152408" y="6197600"/>
                </a:lnTo>
                <a:cubicBezTo>
                  <a:pt x="68236" y="6197600"/>
                  <a:pt x="0" y="6129364"/>
                  <a:pt x="0" y="6045192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 sz="1440"/>
          </a:p>
        </p:txBody>
      </p:sp>
      <p:sp>
        <p:nvSpPr>
          <p:cNvPr id="17" name="Shape 13"/>
          <p:cNvSpPr/>
          <p:nvPr/>
        </p:nvSpPr>
        <p:spPr>
          <a:xfrm>
            <a:off x="8642774" y="1483360"/>
            <a:ext cx="3952240" cy="40640"/>
          </a:xfrm>
          <a:custGeom>
            <a:avLst/>
            <a:gdLst/>
            <a:ahLst/>
            <a:cxnLst/>
            <a:rect l="l" t="t" r="r" b="b"/>
            <a:pathLst>
              <a:path w="4940300" h="508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E9A9A"/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18" name="Text 14"/>
          <p:cNvSpPr/>
          <p:nvPr/>
        </p:nvSpPr>
        <p:spPr>
          <a:xfrm>
            <a:off x="8754534" y="1666240"/>
            <a:ext cx="3728720" cy="28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人称使用倾向分布</a:t>
            </a:r>
            <a:endParaRPr lang="en-US" sz="128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9" name="Image 2" descr="https://kimi-img.moonshot.cn/pub/slides/26-01-06-20:40:51-d5eg5kv01qm5hjkk2f0g.png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t="47" b="47"/>
          <a:stretch>
            <a:fillRect/>
          </a:stretch>
        </p:blipFill>
        <p:spPr>
          <a:xfrm>
            <a:off x="8805334" y="2032000"/>
            <a:ext cx="3627120" cy="3759200"/>
          </a:xfrm>
          <a:prstGeom prst="roundRect">
            <a:avLst>
              <a:gd name="adj" fmla="val 0"/>
            </a:avLst>
          </a:prstGeom>
        </p:spPr>
      </p:pic>
      <p:sp>
        <p:nvSpPr>
          <p:cNvPr id="20" name="Text 15"/>
          <p:cNvSpPr/>
          <p:nvPr/>
        </p:nvSpPr>
        <p:spPr>
          <a:xfrm>
            <a:off x="8805334" y="5872480"/>
            <a:ext cx="3627120" cy="406400"/>
          </a:xfrm>
          <a:prstGeom prst="rect">
            <a:avLst/>
          </a:prstGeom>
          <a:gradFill>
            <a:gsLst>
              <a:gs pos="0">
                <a:srgbClr val="FEFDF7">
                  <a:alpha val="95000"/>
                </a:srgbClr>
              </a:gs>
              <a:gs pos="50000">
                <a:srgbClr val="FEFDF7">
                  <a:alpha val="85000"/>
                </a:srgbClr>
              </a:gs>
              <a:gs pos="100000">
                <a:srgbClr val="FFEBEB"/>
              </a:gs>
            </a:gsLst>
            <a:lin ang="2700000" scaled="1"/>
          </a:gradFill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关键洞察：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分享型人称最受欢迎(40.1%)，体现了用户偏好经验分享式内容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9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图表, 条形图&#10;&#10;描述已自动生成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 l="50103" t="49537"/>
          <a:stretch>
            <a:fillRect/>
          </a:stretch>
        </p:blipFill>
        <p:spPr>
          <a:xfrm>
            <a:off x="8815705" y="4180840"/>
            <a:ext cx="3858895" cy="311340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330200" y="409575"/>
            <a:ext cx="74930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altLang="zh-CN" sz="4800" b="1" dirty="0">
                <a:solidFill>
                  <a:srgbClr val="2C2C2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03 </a:t>
            </a:r>
            <a:r>
              <a:rPr lang="zh-CN" altLang="en-US" sz="4800" b="1" dirty="0">
                <a:solidFill>
                  <a:srgbClr val="2C2C2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策略分析</a:t>
            </a:r>
            <a:endParaRPr lang="zh-CN" altLang="en-US" sz="4800" b="1" dirty="0">
              <a:solidFill>
                <a:srgbClr val="2C2C2C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30200" y="2387600"/>
            <a:ext cx="3594100" cy="711200"/>
          </a:xfrm>
          <a:prstGeom prst="rect">
            <a:avLst/>
          </a:prstGeom>
          <a:noFill/>
        </p:spPr>
        <p:txBody>
          <a:bodyPr wrap="square" lIns="203200" tIns="203200" rIns="203200" bIns="20320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74120" y="2387600"/>
            <a:ext cx="3492500" cy="711200"/>
          </a:xfrm>
          <a:custGeom>
            <a:avLst/>
            <a:gdLst/>
            <a:ahLst/>
            <a:cxnLst/>
            <a:rect l="l" t="t" r="r" b="b"/>
            <a:pathLst>
              <a:path w="3492500" h="711200">
                <a:moveTo>
                  <a:pt x="101602" y="0"/>
                </a:moveTo>
                <a:lnTo>
                  <a:pt x="3390898" y="0"/>
                </a:lnTo>
                <a:cubicBezTo>
                  <a:pt x="3447011" y="0"/>
                  <a:pt x="3492500" y="45489"/>
                  <a:pt x="3492500" y="101602"/>
                </a:cubicBezTo>
                <a:lnTo>
                  <a:pt x="3492500" y="609598"/>
                </a:lnTo>
                <a:cubicBezTo>
                  <a:pt x="3492500" y="665711"/>
                  <a:pt x="3447011" y="711200"/>
                  <a:pt x="33908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4023320" y="2387600"/>
            <a:ext cx="3594100" cy="711200"/>
          </a:xfrm>
          <a:prstGeom prst="rect">
            <a:avLst/>
          </a:prstGeom>
          <a:noFill/>
        </p:spPr>
        <p:txBody>
          <a:bodyPr wrap="square" lIns="203200" tIns="203200" rIns="203200" bIns="20320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1000" y="3302000"/>
            <a:ext cx="3492500" cy="711200"/>
          </a:xfrm>
          <a:custGeom>
            <a:avLst/>
            <a:gdLst/>
            <a:ahLst/>
            <a:cxnLst/>
            <a:rect l="l" t="t" r="r" b="b"/>
            <a:pathLst>
              <a:path w="3492500" h="711200">
                <a:moveTo>
                  <a:pt x="101602" y="0"/>
                </a:moveTo>
                <a:lnTo>
                  <a:pt x="3390898" y="0"/>
                </a:lnTo>
                <a:cubicBezTo>
                  <a:pt x="3447011" y="0"/>
                  <a:pt x="3492500" y="45489"/>
                  <a:pt x="3492500" y="101602"/>
                </a:cubicBezTo>
                <a:lnTo>
                  <a:pt x="3492500" y="609598"/>
                </a:lnTo>
                <a:cubicBezTo>
                  <a:pt x="3492500" y="665711"/>
                  <a:pt x="3447011" y="711200"/>
                  <a:pt x="33908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330200" y="3302000"/>
            <a:ext cx="3594100" cy="711200"/>
          </a:xfrm>
          <a:prstGeom prst="rect">
            <a:avLst/>
          </a:prstGeom>
          <a:noFill/>
        </p:spPr>
        <p:txBody>
          <a:bodyPr wrap="square" lIns="203200" tIns="203200" rIns="203200" bIns="20320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74120" y="3302000"/>
            <a:ext cx="3492500" cy="711200"/>
          </a:xfrm>
          <a:custGeom>
            <a:avLst/>
            <a:gdLst/>
            <a:ahLst/>
            <a:cxnLst/>
            <a:rect l="l" t="t" r="r" b="b"/>
            <a:pathLst>
              <a:path w="3492500" h="711200">
                <a:moveTo>
                  <a:pt x="101602" y="0"/>
                </a:moveTo>
                <a:lnTo>
                  <a:pt x="3390898" y="0"/>
                </a:lnTo>
                <a:cubicBezTo>
                  <a:pt x="3447011" y="0"/>
                  <a:pt x="3492500" y="45489"/>
                  <a:pt x="3492500" y="101602"/>
                </a:cubicBezTo>
                <a:lnTo>
                  <a:pt x="3492500" y="609598"/>
                </a:lnTo>
                <a:cubicBezTo>
                  <a:pt x="3492500" y="665711"/>
                  <a:pt x="3447011" y="711200"/>
                  <a:pt x="33908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023320" y="3302000"/>
            <a:ext cx="3594100" cy="711200"/>
          </a:xfrm>
          <a:prstGeom prst="rect">
            <a:avLst/>
          </a:prstGeom>
          <a:noFill/>
        </p:spPr>
        <p:txBody>
          <a:bodyPr wrap="square" lIns="203200" tIns="203200" rIns="203200" bIns="20320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0205" y="1092200"/>
            <a:ext cx="5117465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2C2C2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核心发现——用户偏好与高效策略</a:t>
            </a:r>
            <a:endParaRPr lang="en-US" sz="2400" b="1" dirty="0">
              <a:solidFill>
                <a:srgbClr val="2C2C2C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81000" y="2006147"/>
            <a:ext cx="4539344" cy="4420507"/>
          </a:xfrm>
          <a:prstGeom prst="rect">
            <a:avLst/>
          </a:prstGeom>
          <a:ln w="12700" cmpd="sng">
            <a:noFill/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/>
          <a:p>
            <a:pPr indent="0" algn="just" fontAlgn="ctr">
              <a:lnSpc>
                <a:spcPct val="130000"/>
              </a:lnSpc>
              <a:spcAft>
                <a:spcPts val="600"/>
              </a:spcAft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右</a:t>
            </a:r>
            <a:r>
              <a:rPr lang="zh-CN" altLang="en-US" b="1" dirty="0">
                <a:solidFill>
                  <a:schemeClr val="tx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图揭示三大核心规律：</a:t>
            </a:r>
            <a:r>
              <a:rPr lang="zh-CN" altLang="en-US" b="1" dirty="0">
                <a:solidFill>
                  <a:srgbClr val="B10000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身份不是越具体互动越强</a:t>
            </a:r>
            <a:r>
              <a:rPr lang="zh-CN" altLang="en-US" dirty="0">
                <a:solidFill>
                  <a:srgbClr val="B10000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（泛称</a:t>
            </a:r>
            <a:r>
              <a:rPr lang="en-US" altLang="zh-CN" dirty="0">
                <a:solidFill>
                  <a:srgbClr val="B10000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&gt;</a:t>
            </a:r>
            <a:r>
              <a:rPr lang="zh-CN" altLang="en-US" dirty="0">
                <a:solidFill>
                  <a:srgbClr val="B10000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无身份</a:t>
            </a:r>
            <a:r>
              <a:rPr lang="en-US" altLang="zh-CN" dirty="0">
                <a:solidFill>
                  <a:srgbClr val="B10000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&gt;</a:t>
            </a:r>
            <a:r>
              <a:rPr lang="zh-CN" altLang="en-US" dirty="0">
                <a:solidFill>
                  <a:srgbClr val="B10000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具体</a:t>
            </a:r>
            <a:r>
              <a:rPr lang="zh-CN" altLang="en-US" dirty="0">
                <a:solidFill>
                  <a:srgbClr val="B10000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），</a:t>
            </a:r>
            <a:r>
              <a:rPr lang="en-US" altLang="zh-CN" b="1" dirty="0">
                <a:solidFill>
                  <a:srgbClr val="B10000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L2</a:t>
            </a:r>
            <a:r>
              <a:rPr lang="zh-CN" altLang="en-US" b="1" dirty="0">
                <a:solidFill>
                  <a:srgbClr val="B10000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过程证据效果最佳</a:t>
            </a:r>
            <a:r>
              <a:rPr lang="zh-CN" altLang="en-US" dirty="0">
                <a:solidFill>
                  <a:srgbClr val="B10000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</a:t>
            </a:r>
            <a:r>
              <a:rPr lang="en-US" altLang="zh-CN" dirty="0">
                <a:solidFill>
                  <a:srgbClr val="B10000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L4&gt;L3&gt;L4&gt;L1</a:t>
            </a:r>
            <a:r>
              <a:rPr lang="zh-CN" altLang="en-US" dirty="0">
                <a:solidFill>
                  <a:srgbClr val="B10000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），</a:t>
            </a:r>
            <a:r>
              <a:rPr lang="zh-CN" altLang="en-US" b="1" dirty="0">
                <a:solidFill>
                  <a:srgbClr val="B10000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分享型人称最驱动互动（在高互动笔记中以</a:t>
            </a:r>
            <a:r>
              <a:rPr lang="en-US" altLang="zh-CN" b="1" dirty="0">
                <a:solidFill>
                  <a:srgbClr val="B10000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33.3</a:t>
            </a:r>
            <a:r>
              <a:rPr lang="en-US" altLang="zh-CN" dirty="0">
                <a:solidFill>
                  <a:srgbClr val="B10000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%</a:t>
            </a:r>
            <a:r>
              <a:rPr lang="zh-CN" altLang="en-US" dirty="0">
                <a:solidFill>
                  <a:srgbClr val="B10000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占比居首）。</a:t>
            </a:r>
            <a:endParaRPr lang="en-US" altLang="zh-CN" dirty="0">
              <a:solidFill>
                <a:srgbClr val="B10000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indent="0" algn="just" fontAlgn="ctr">
              <a:lnSpc>
                <a:spcPct val="130000"/>
              </a:lnSpc>
              <a:spcAft>
                <a:spcPts val="600"/>
              </a:spcAft>
            </a:pPr>
            <a:r>
              <a:rPr lang="zh-CN" altLang="en-US" dirty="0">
                <a:solidFill>
                  <a:schemeClr val="tx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数据明确显示，用户更信赖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“</a:t>
            </a:r>
            <a:r>
              <a:rPr lang="zh-CN" altLang="en-US" dirty="0">
                <a:solidFill>
                  <a:schemeClr val="tx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名校学姐分步骤教你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”</a:t>
            </a:r>
            <a:r>
              <a:rPr lang="zh-CN" altLang="en-US" dirty="0">
                <a:solidFill>
                  <a:schemeClr val="tx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而非“某人感慨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”</a:t>
            </a:r>
            <a:r>
              <a:rPr lang="zh-CN" altLang="en-US" dirty="0">
                <a:solidFill>
                  <a:schemeClr val="tx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，高互动内容本质是 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“</a:t>
            </a:r>
            <a:r>
              <a:rPr lang="zh-CN" altLang="en-US" dirty="0">
                <a:solidFill>
                  <a:schemeClr val="tx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可教性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”</a:t>
            </a:r>
            <a:r>
              <a:rPr lang="zh-CN" altLang="en-US" b="1" dirty="0">
                <a:solidFill>
                  <a:schemeClr val="tx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（过程证据） </a:t>
            </a:r>
            <a:r>
              <a:rPr lang="zh-CN" altLang="en-US" dirty="0">
                <a:solidFill>
                  <a:schemeClr val="tx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与 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“</a:t>
            </a:r>
            <a:r>
              <a:rPr lang="zh-CN" altLang="en-US" dirty="0">
                <a:solidFill>
                  <a:schemeClr val="tx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权威感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”</a:t>
            </a:r>
            <a:r>
              <a:rPr lang="zh-CN" altLang="en-US" b="1" dirty="0">
                <a:solidFill>
                  <a:schemeClr val="tx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（具体身份</a:t>
            </a:r>
            <a:r>
              <a:rPr lang="en-US" altLang="zh-CN" b="1" dirty="0">
                <a:solidFill>
                  <a:schemeClr val="tx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+</a:t>
            </a:r>
            <a:r>
              <a:rPr lang="zh-CN" altLang="en-US" b="1" dirty="0">
                <a:solidFill>
                  <a:schemeClr val="tx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指导姿态） </a:t>
            </a:r>
            <a:r>
              <a:rPr lang="zh-CN" altLang="en-US" dirty="0">
                <a:solidFill>
                  <a:schemeClr val="tx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的双重叠加，情感共鸣</a:t>
            </a:r>
            <a:r>
              <a:rPr lang="zh-CN" altLang="en-US" dirty="0">
                <a:solidFill>
                  <a:srgbClr val="B10000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</a:t>
            </a:r>
            <a:r>
              <a:rPr lang="en-US" altLang="zh-CN" dirty="0">
                <a:solidFill>
                  <a:srgbClr val="B10000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L4</a:t>
            </a:r>
            <a:r>
              <a:rPr lang="zh-CN" altLang="en-US" dirty="0">
                <a:solidFill>
                  <a:srgbClr val="B10000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纯观点）</a:t>
            </a:r>
            <a:r>
              <a:rPr lang="zh-CN" altLang="en-US" dirty="0">
                <a:solidFill>
                  <a:schemeClr val="tx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虽易获赞但</a:t>
            </a:r>
            <a:r>
              <a:rPr lang="zh-CN" altLang="en-US" b="1" dirty="0">
                <a:solidFill>
                  <a:srgbClr val="B10000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互动深度不足</a:t>
            </a:r>
            <a:r>
              <a:rPr lang="zh-CN" altLang="en-US" dirty="0">
                <a:solidFill>
                  <a:schemeClr val="tx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，证明小红书校园内容已从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“</a:t>
            </a:r>
            <a:r>
              <a:rPr lang="zh-CN" altLang="en-US" dirty="0">
                <a:solidFill>
                  <a:schemeClr val="tx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情绪消费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”</a:t>
            </a:r>
            <a:r>
              <a:rPr lang="zh-CN" altLang="en-US" dirty="0">
                <a:solidFill>
                  <a:schemeClr val="tx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转向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“</a:t>
            </a:r>
            <a:r>
              <a:rPr lang="zh-CN" altLang="en-US" dirty="0">
                <a:solidFill>
                  <a:schemeClr val="tx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解决方案消费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”</a:t>
            </a:r>
            <a:r>
              <a:rPr lang="zh-CN" altLang="en-US" dirty="0">
                <a:solidFill>
                  <a:schemeClr val="tx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。</a:t>
            </a:r>
            <a:endParaRPr lang="zh-CN" altLang="en-US" dirty="0">
              <a:solidFill>
                <a:schemeClr val="tx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928235" y="253365"/>
            <a:ext cx="774636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该图表综合展示了</a:t>
            </a:r>
            <a:r>
              <a:rPr lang="en-US" altLang="zh-CN" dirty="0"/>
              <a:t>863</a:t>
            </a:r>
            <a:r>
              <a:rPr lang="zh-CN" altLang="en-US" dirty="0"/>
              <a:t>个样本的互动等级分布、人称使用倾向类型分布以及不同证据强度等级（L1-L4）的平均互动量对比情况。</a:t>
            </a:r>
            <a:endParaRPr lang="zh-CN" altLang="en-US" dirty="0"/>
          </a:p>
        </p:txBody>
      </p:sp>
      <p:pic>
        <p:nvPicPr>
          <p:cNvPr id="14" name="图片 13" descr="微信图片_20260106214949_521_2362"/>
          <p:cNvPicPr>
            <a:picLocks noChangeAspect="1"/>
          </p:cNvPicPr>
          <p:nvPr/>
        </p:nvPicPr>
        <p:blipFill>
          <a:blip r:embed="rId3"/>
          <a:srcRect t="50000" r="64958"/>
          <a:stretch>
            <a:fillRect/>
          </a:stretch>
        </p:blipFill>
        <p:spPr>
          <a:xfrm>
            <a:off x="5368290" y="4009390"/>
            <a:ext cx="3706495" cy="3284855"/>
          </a:xfrm>
          <a:prstGeom prst="rect">
            <a:avLst/>
          </a:prstGeom>
        </p:spPr>
      </p:pic>
      <p:pic>
        <p:nvPicPr>
          <p:cNvPr id="15" name="图片 14" descr="图表, 条形图&#10;&#10;描述已自动生成"/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 l="-534" r="49897" b="45523"/>
          <a:stretch>
            <a:fillRect/>
          </a:stretch>
        </p:blipFill>
        <p:spPr>
          <a:xfrm>
            <a:off x="5368290" y="1019175"/>
            <a:ext cx="3608070" cy="3096895"/>
          </a:xfrm>
          <a:prstGeom prst="rect">
            <a:avLst/>
          </a:prstGeom>
        </p:spPr>
      </p:pic>
      <p:pic>
        <p:nvPicPr>
          <p:cNvPr id="16" name="图片 15" descr="微信图片_20260106214949_521_2362"/>
          <p:cNvPicPr>
            <a:picLocks noChangeAspect="1"/>
          </p:cNvPicPr>
          <p:nvPr/>
        </p:nvPicPr>
        <p:blipFill>
          <a:blip r:embed="rId3"/>
          <a:srcRect l="66465" t="50000" r="-46"/>
          <a:stretch>
            <a:fillRect/>
          </a:stretch>
        </p:blipFill>
        <p:spPr>
          <a:xfrm>
            <a:off x="9074785" y="1124585"/>
            <a:ext cx="3534410" cy="302514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2896" y="381000"/>
            <a:ext cx="6249504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altLang="zh-CN" sz="4800" b="1" dirty="0">
                <a:solidFill>
                  <a:srgbClr val="2C2C2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03 </a:t>
            </a:r>
            <a:r>
              <a:rPr lang="zh-CN" altLang="en-US" sz="4800" b="1" dirty="0">
                <a:solidFill>
                  <a:srgbClr val="2C2C2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策略分析</a:t>
            </a:r>
            <a:endParaRPr lang="zh-CN" altLang="en-US" sz="4800" b="1" dirty="0">
              <a:solidFill>
                <a:srgbClr val="2C2C2C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pic>
        <p:nvPicPr>
          <p:cNvPr id="23" name="图片 22" descr="Figure_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619" y="1208822"/>
            <a:ext cx="7719391" cy="5004653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889000" y="6356985"/>
            <a:ext cx="11386185" cy="758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 b="1" dirty="0">
                <a:solidFill>
                  <a:srgbClr val="B1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高效路径一（深度信任）：</a:t>
            </a:r>
            <a:r>
              <a:rPr lang="zh-CN" altLang="en-US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以</a:t>
            </a:r>
            <a:r>
              <a:rPr lang="zh-CN" altLang="en-US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本批次数据中互动量最高的博主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“一只春天的bear”为例</a:t>
            </a:r>
            <a:r>
              <a:rPr lang="zh-CN" altLang="en-US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，这位博主采取的是</a:t>
            </a:r>
            <a:r>
              <a:rPr lang="zh-CN" altLang="en-US" sz="2000" b="1" dirty="0">
                <a:solidFill>
                  <a:srgbClr val="B1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“具体身份（身份展示）+</a:t>
            </a:r>
            <a:r>
              <a:rPr lang="en-US" altLang="zh-CN" sz="2000" b="1" dirty="0">
                <a:solidFill>
                  <a:srgbClr val="B1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 sz="2000" b="1" dirty="0">
                <a:solidFill>
                  <a:srgbClr val="B1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L2 级过程证据（经验证明）+ 指导型人称（关系建立）”</a:t>
            </a:r>
            <a:r>
              <a:rPr lang="zh-CN" altLang="en-US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的三维语言策略组合，满足深度学习者的“可信+可操作”需求。</a:t>
            </a:r>
            <a:r>
              <a:rPr lang="zh-CN" altLang="en-US" b="1" dirty="0">
                <a:solidFill>
                  <a:srgbClr val="00B05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（中期报告结论被证实有效）</a:t>
            </a:r>
            <a:endParaRPr lang="zh-CN" altLang="en-US" b="1" dirty="0">
              <a:solidFill>
                <a:srgbClr val="00B05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5179060" y="4796790"/>
            <a:ext cx="668020" cy="1031240"/>
          </a:xfrm>
          <a:prstGeom prst="ellipse">
            <a:avLst/>
          </a:prstGeom>
          <a:noFill/>
          <a:ln w="57150">
            <a:gradFill>
              <a:gsLst>
                <a:gs pos="0">
                  <a:srgbClr val="E30000"/>
                </a:gs>
                <a:gs pos="100000">
                  <a:srgbClr val="760303"/>
                </a:gs>
              </a:gsLst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>
            <p:custDataLst>
              <p:tags r:id="rId2"/>
            </p:custDataLst>
          </p:nvPr>
        </p:nvSpPr>
        <p:spPr>
          <a:xfrm>
            <a:off x="1763395" y="3468688"/>
            <a:ext cx="731520" cy="2359342"/>
          </a:xfrm>
          <a:prstGeom prst="ellipse">
            <a:avLst/>
          </a:prstGeom>
          <a:noFill/>
          <a:ln w="57150">
            <a:gradFill>
              <a:gsLst>
                <a:gs pos="0">
                  <a:srgbClr val="FECF40"/>
                </a:gs>
                <a:gs pos="100000">
                  <a:srgbClr val="846C21"/>
                </a:gs>
              </a:gsLst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4497705" y="4047490"/>
            <a:ext cx="3837305" cy="6451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r>
              <a:rPr lang="zh-CN" altLang="en-US" b="1">
                <a:solidFill>
                  <a:srgbClr val="B10000"/>
                </a:solidFill>
              </a:rPr>
              <a:t>大眼菠萝包：满足其中</a:t>
            </a:r>
            <a:r>
              <a:rPr lang="en-US" altLang="zh-CN" b="1">
                <a:solidFill>
                  <a:srgbClr val="B10000"/>
                </a:solidFill>
              </a:rPr>
              <a:t> </a:t>
            </a:r>
            <a:r>
              <a:rPr lang="zh-CN" altLang="en-US" b="1">
                <a:solidFill>
                  <a:srgbClr val="B10000"/>
                </a:solidFill>
              </a:rPr>
              <a:t>“具体身份”+“L2 级过程证据”的语言策略组合</a:t>
            </a:r>
            <a:endParaRPr lang="zh-CN" altLang="en-US" b="1">
              <a:solidFill>
                <a:srgbClr val="B10000"/>
              </a:solidFill>
            </a:endParaRPr>
          </a:p>
        </p:txBody>
      </p:sp>
      <p:sp>
        <p:nvSpPr>
          <p:cNvPr id="29" name="文本框 28"/>
          <p:cNvSpPr txBox="1"/>
          <p:nvPr>
            <p:custDataLst>
              <p:tags r:id="rId3"/>
            </p:custDataLst>
          </p:nvPr>
        </p:nvSpPr>
        <p:spPr>
          <a:xfrm>
            <a:off x="2861945" y="2374900"/>
            <a:ext cx="3640455" cy="1198880"/>
          </a:xfrm>
          <a:prstGeom prst="rect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r>
              <a:rPr lang="zh-CN" altLang="en-US" b="1">
                <a:solidFill>
                  <a:srgbClr val="B1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QQ 糖轻松学英语：“泛称身份（身份展示）+L4 级纯观点证据（经验证明）+ 其他型人称（关系建立）” </a:t>
            </a:r>
            <a:endParaRPr lang="zh-CN" altLang="en-US" b="1">
              <a:solidFill>
                <a:srgbClr val="B1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31" name="直接箭头连接符 30"/>
          <p:cNvCxnSpPr/>
          <p:nvPr/>
        </p:nvCxnSpPr>
        <p:spPr>
          <a:xfrm flipV="1">
            <a:off x="2861945" y="3573780"/>
            <a:ext cx="558165" cy="1548765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8839835" y="2274570"/>
            <a:ext cx="3510280" cy="25984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zh-CN" altLang="en-US" b="1" spc="-100" dirty="0">
                <a:solidFill>
                  <a:schemeClr val="bg2">
                    <a:lumMod val="2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但此前预测的另一个模型：</a:t>
            </a:r>
            <a:r>
              <a:rPr lang="en-US" altLang="zh-CN" b="1" spc="-100" dirty="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"</a:t>
            </a:r>
            <a:r>
              <a:rPr lang="zh-CN" altLang="en-US" b="1" spc="-100" dirty="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场景共鸣型路径（泛称</a:t>
            </a:r>
            <a:r>
              <a:rPr lang="en-US" altLang="zh-CN" b="1" spc="-100" dirty="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+L4</a:t>
            </a:r>
            <a:r>
              <a:rPr lang="zh-CN" altLang="en-US" b="1" spc="-100" dirty="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纯观点</a:t>
            </a:r>
            <a:r>
              <a:rPr lang="en-US" altLang="zh-CN" b="1" spc="-100" dirty="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+</a:t>
            </a:r>
            <a:r>
              <a:rPr lang="zh-CN" altLang="en-US" b="1" spc="-100" dirty="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其他型）</a:t>
            </a:r>
            <a:r>
              <a:rPr lang="en-US" altLang="zh-CN" b="1" spc="-100" dirty="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"</a:t>
            </a:r>
            <a:r>
              <a:rPr lang="zh-CN" altLang="en-US" b="1" spc="-100" dirty="0">
                <a:solidFill>
                  <a:schemeClr val="bg2">
                    <a:lumMod val="2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的普适性被证伪：</a:t>
            </a:r>
            <a:r>
              <a:rPr lang="en-US" altLang="zh-CN" b="1" spc="-100" dirty="0">
                <a:solidFill>
                  <a:schemeClr val="bg2">
                    <a:lumMod val="2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863</a:t>
            </a:r>
            <a:r>
              <a:rPr lang="zh-CN" altLang="en-US" b="1" spc="-100" dirty="0">
                <a:solidFill>
                  <a:schemeClr val="bg2">
                    <a:lumMod val="2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数据显示其成功率仅</a:t>
            </a:r>
            <a:r>
              <a:rPr lang="en-US" altLang="zh-CN" b="1" spc="-100" dirty="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5%</a:t>
            </a:r>
            <a:r>
              <a:rPr lang="zh-CN" altLang="en-US" b="1" spc="-100" dirty="0">
                <a:solidFill>
                  <a:schemeClr val="bg2">
                    <a:lumMod val="2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，互动量均值回落至</a:t>
            </a:r>
            <a:r>
              <a:rPr lang="en-US" altLang="zh-CN" b="1" spc="-100" dirty="0">
                <a:solidFill>
                  <a:schemeClr val="bg2">
                    <a:lumMod val="2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5200+</a:t>
            </a:r>
            <a:r>
              <a:rPr lang="zh-CN" altLang="en-US" b="1" spc="-100" dirty="0">
                <a:solidFill>
                  <a:schemeClr val="bg2">
                    <a:lumMod val="2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，原样本中的</a:t>
            </a:r>
            <a:r>
              <a:rPr lang="en-US" altLang="zh-CN" b="1" spc="-100" dirty="0">
                <a:solidFill>
                  <a:schemeClr val="bg2">
                    <a:lumMod val="2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"QQ</a:t>
            </a:r>
            <a:r>
              <a:rPr lang="zh-CN" altLang="en-US" b="1" spc="-100" dirty="0">
                <a:solidFill>
                  <a:schemeClr val="bg2">
                    <a:lumMod val="2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糖轻松学英语</a:t>
            </a:r>
            <a:r>
              <a:rPr lang="en-US" altLang="zh-CN" b="1" spc="-100" dirty="0">
                <a:solidFill>
                  <a:schemeClr val="bg2">
                    <a:lumMod val="2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"</a:t>
            </a:r>
            <a:r>
              <a:rPr lang="zh-CN" altLang="en-US" b="1" spc="-100" dirty="0">
                <a:solidFill>
                  <a:schemeClr val="bg2">
                    <a:lumMod val="2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实为</a:t>
            </a:r>
            <a:r>
              <a:rPr lang="zh-CN" altLang="en-US" b="1" spc="-100" dirty="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幸存者偏差个例。</a:t>
            </a:r>
            <a:endParaRPr lang="zh-CN" altLang="en-US" b="1" spc="-100" dirty="0">
              <a:solidFill>
                <a:srgbClr val="C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751070" y="158750"/>
            <a:ext cx="8000834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zh-CN" altLang="en-US" spc="-100" dirty="0">
                <a:solidFill>
                  <a:schemeClr val="bg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仿宋" panose="02010609060101010101" charset="-122"/>
              </a:rPr>
              <a:t>基于</a:t>
            </a:r>
            <a:r>
              <a:rPr lang="en-US" altLang="zh-CN" spc="-100" dirty="0">
                <a:solidFill>
                  <a:schemeClr val="bg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仿宋" panose="02010609060101010101" charset="-122"/>
              </a:rPr>
              <a:t>800+</a:t>
            </a:r>
            <a:r>
              <a:rPr lang="zh-CN" altLang="en-US" spc="-100" dirty="0">
                <a:solidFill>
                  <a:schemeClr val="bg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仿宋" panose="02010609060101010101" charset="-122"/>
              </a:rPr>
              <a:t>样本数据，小红书校园博主信任构建策略呈现统计显著性分层：此前中期报告</a:t>
            </a:r>
            <a:r>
              <a:rPr lang="en-US" altLang="zh-CN" spc="-100" dirty="0">
                <a:solidFill>
                  <a:schemeClr val="bg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仿宋" panose="02010609060101010101" charset="-122"/>
              </a:rPr>
              <a:t>68</a:t>
            </a:r>
            <a:r>
              <a:rPr lang="zh-CN" altLang="en-US" spc="-100" dirty="0">
                <a:solidFill>
                  <a:schemeClr val="bg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仿宋" panose="02010609060101010101" charset="-122"/>
              </a:rPr>
              <a:t>样本中推测的</a:t>
            </a:r>
            <a:r>
              <a:rPr lang="en-US" altLang="zh-CN" b="1" spc="-100" dirty="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仿宋" panose="02010609060101010101" charset="-122"/>
              </a:rPr>
              <a:t>"</a:t>
            </a:r>
            <a:r>
              <a:rPr lang="zh-CN" altLang="en-US" b="1" spc="-100" dirty="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仿宋" panose="02010609060101010101" charset="-122"/>
              </a:rPr>
              <a:t>深度信任型路径（具体身份</a:t>
            </a:r>
            <a:r>
              <a:rPr lang="en-US" altLang="zh-CN" b="1" spc="-100" dirty="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仿宋" panose="02010609060101010101" charset="-122"/>
              </a:rPr>
              <a:t>+L2</a:t>
            </a:r>
            <a:r>
              <a:rPr lang="zh-CN" altLang="en-US" b="1" spc="-100" dirty="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仿宋" panose="02010609060101010101" charset="-122"/>
              </a:rPr>
              <a:t>过程</a:t>
            </a:r>
            <a:r>
              <a:rPr lang="en-US" altLang="zh-CN" b="1" spc="-100" dirty="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仿宋" panose="02010609060101010101" charset="-122"/>
              </a:rPr>
              <a:t>+</a:t>
            </a:r>
            <a:r>
              <a:rPr lang="zh-CN" altLang="en-US" b="1" spc="-100" dirty="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仿宋" panose="02010609060101010101" charset="-122"/>
              </a:rPr>
              <a:t>指导型）</a:t>
            </a:r>
            <a:r>
              <a:rPr lang="en-US" altLang="zh-CN" b="1" spc="-100" dirty="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仿宋" panose="02010609060101010101" charset="-122"/>
              </a:rPr>
              <a:t>"</a:t>
            </a:r>
            <a:r>
              <a:rPr lang="zh-CN" altLang="en-US" spc="-100" dirty="0">
                <a:solidFill>
                  <a:schemeClr val="bg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仿宋" panose="02010609060101010101" charset="-122"/>
              </a:rPr>
              <a:t>被强力验证并效应量显著放大（互动量均值从</a:t>
            </a:r>
            <a:r>
              <a:rPr lang="en-US" altLang="zh-CN" spc="-100" dirty="0">
                <a:solidFill>
                  <a:schemeClr val="bg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仿宋" panose="02010609060101010101" charset="-122"/>
              </a:rPr>
              <a:t>3240</a:t>
            </a:r>
            <a:r>
              <a:rPr lang="zh-CN" altLang="en-US" spc="-100" dirty="0">
                <a:solidFill>
                  <a:schemeClr val="bg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仿宋" panose="02010609060101010101" charset="-122"/>
              </a:rPr>
              <a:t>提升至</a:t>
            </a:r>
            <a:r>
              <a:rPr lang="en-US" altLang="zh-CN" spc="-100" dirty="0">
                <a:solidFill>
                  <a:schemeClr val="bg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仿宋" panose="02010609060101010101" charset="-122"/>
              </a:rPr>
              <a:t>8500+</a:t>
            </a:r>
            <a:r>
              <a:rPr lang="zh-CN" altLang="en-US" spc="-100" dirty="0">
                <a:solidFill>
                  <a:schemeClr val="bg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仿宋" panose="02010609060101010101" charset="-122"/>
              </a:rPr>
              <a:t>，</a:t>
            </a:r>
            <a:r>
              <a:rPr lang="en-US" altLang="zh-CN" spc="-100" dirty="0">
                <a:solidFill>
                  <a:schemeClr val="bg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仿宋" panose="02010609060101010101" charset="-122"/>
              </a:rPr>
              <a:t>p&lt;0.01</a:t>
            </a:r>
            <a:r>
              <a:rPr lang="zh-CN" altLang="en-US" spc="-100" dirty="0">
                <a:solidFill>
                  <a:schemeClr val="bg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仿宋" panose="02010609060101010101" charset="-122"/>
              </a:rPr>
              <a:t>），证明该路径是</a:t>
            </a:r>
            <a:r>
              <a:rPr lang="zh-CN" altLang="en-US" b="1" spc="-100" dirty="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仿宋" panose="02010609060101010101" charset="-122"/>
              </a:rPr>
              <a:t>可规模化、可持续的核心策略</a:t>
            </a:r>
            <a:r>
              <a:rPr lang="zh-CN" altLang="en-US" spc="-100" dirty="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仿宋" panose="02010609060101010101" charset="-122"/>
              </a:rPr>
              <a:t>；</a:t>
            </a:r>
            <a:endParaRPr lang="zh-CN" altLang="en-US" spc="-100" dirty="0">
              <a:solidFill>
                <a:srgbClr val="C00000"/>
              </a:solidFill>
              <a:uFillTx/>
              <a:latin typeface="华文中宋" panose="02010600040101010101" charset="-122"/>
              <a:ea typeface="华文中宋" panose="02010600040101010101" charset="-122"/>
              <a:cs typeface="仿宋" panose="02010609060101010101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200" y="409575"/>
            <a:ext cx="74930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altLang="zh-CN" sz="4800" b="1" dirty="0">
                <a:solidFill>
                  <a:srgbClr val="2C2C2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03 </a:t>
            </a:r>
            <a:r>
              <a:rPr lang="zh-CN" altLang="en-US" sz="4800" b="1" dirty="0">
                <a:solidFill>
                  <a:srgbClr val="2C2C2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策略分析</a:t>
            </a:r>
            <a:endParaRPr lang="zh-CN" altLang="en-US" sz="4800" b="1" dirty="0">
              <a:solidFill>
                <a:srgbClr val="2C2C2C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074120" y="2387600"/>
            <a:ext cx="3492500" cy="711200"/>
          </a:xfrm>
          <a:custGeom>
            <a:avLst/>
            <a:gdLst/>
            <a:ahLst/>
            <a:cxnLst/>
            <a:rect l="l" t="t" r="r" b="b"/>
            <a:pathLst>
              <a:path w="3492500" h="711200">
                <a:moveTo>
                  <a:pt x="101602" y="0"/>
                </a:moveTo>
                <a:lnTo>
                  <a:pt x="3390898" y="0"/>
                </a:lnTo>
                <a:cubicBezTo>
                  <a:pt x="3447011" y="0"/>
                  <a:pt x="3492500" y="45489"/>
                  <a:pt x="3492500" y="101602"/>
                </a:cubicBezTo>
                <a:lnTo>
                  <a:pt x="3492500" y="609598"/>
                </a:lnTo>
                <a:cubicBezTo>
                  <a:pt x="3492500" y="665711"/>
                  <a:pt x="3447011" y="711200"/>
                  <a:pt x="33908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4023320" y="2387600"/>
            <a:ext cx="3594100" cy="711200"/>
          </a:xfrm>
          <a:prstGeom prst="rect">
            <a:avLst/>
          </a:prstGeom>
          <a:noFill/>
        </p:spPr>
        <p:txBody>
          <a:bodyPr wrap="square" lIns="203200" tIns="203200" rIns="203200" bIns="20320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1000" y="3302000"/>
            <a:ext cx="3492500" cy="711200"/>
          </a:xfrm>
          <a:custGeom>
            <a:avLst/>
            <a:gdLst/>
            <a:ahLst/>
            <a:cxnLst/>
            <a:rect l="l" t="t" r="r" b="b"/>
            <a:pathLst>
              <a:path w="3492500" h="711200">
                <a:moveTo>
                  <a:pt x="101602" y="0"/>
                </a:moveTo>
                <a:lnTo>
                  <a:pt x="3390898" y="0"/>
                </a:lnTo>
                <a:cubicBezTo>
                  <a:pt x="3447011" y="0"/>
                  <a:pt x="3492500" y="45489"/>
                  <a:pt x="3492500" y="101602"/>
                </a:cubicBezTo>
                <a:lnTo>
                  <a:pt x="3492500" y="609598"/>
                </a:lnTo>
                <a:cubicBezTo>
                  <a:pt x="3492500" y="665711"/>
                  <a:pt x="3447011" y="711200"/>
                  <a:pt x="33908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330200" y="3302000"/>
            <a:ext cx="3594100" cy="711200"/>
          </a:xfrm>
          <a:prstGeom prst="rect">
            <a:avLst/>
          </a:prstGeom>
          <a:noFill/>
        </p:spPr>
        <p:txBody>
          <a:bodyPr wrap="square" lIns="203200" tIns="203200" rIns="203200" bIns="20320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74120" y="3302000"/>
            <a:ext cx="3492500" cy="711200"/>
          </a:xfrm>
          <a:custGeom>
            <a:avLst/>
            <a:gdLst/>
            <a:ahLst/>
            <a:cxnLst/>
            <a:rect l="l" t="t" r="r" b="b"/>
            <a:pathLst>
              <a:path w="3492500" h="711200">
                <a:moveTo>
                  <a:pt x="101602" y="0"/>
                </a:moveTo>
                <a:lnTo>
                  <a:pt x="3390898" y="0"/>
                </a:lnTo>
                <a:cubicBezTo>
                  <a:pt x="3447011" y="0"/>
                  <a:pt x="3492500" y="45489"/>
                  <a:pt x="3492500" y="101602"/>
                </a:cubicBezTo>
                <a:lnTo>
                  <a:pt x="3492500" y="609598"/>
                </a:lnTo>
                <a:cubicBezTo>
                  <a:pt x="3492500" y="665711"/>
                  <a:pt x="3447011" y="711200"/>
                  <a:pt x="33908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023320" y="3302000"/>
            <a:ext cx="3594100" cy="711200"/>
          </a:xfrm>
          <a:prstGeom prst="rect">
            <a:avLst/>
          </a:prstGeom>
          <a:noFill/>
        </p:spPr>
        <p:txBody>
          <a:bodyPr wrap="square" lIns="203200" tIns="203200" rIns="203200" bIns="20320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4" name="文本框 3"/>
          <p:cNvSpPr txBox="1"/>
          <p:nvPr/>
        </p:nvSpPr>
        <p:spPr>
          <a:xfrm>
            <a:off x="5098774" y="242832"/>
            <a:ext cx="7575826" cy="91594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r"/>
            <a:r>
              <a:rPr lang="zh-CN" altLang="en-US" sz="1900" dirty="0">
                <a:solidFill>
                  <a:srgbClr val="0F1115"/>
                </a:solidFill>
                <a:latin typeface="华文中宋" panose="02010600040101010101" charset="-122"/>
                <a:ea typeface="华文中宋" panose="02010600040101010101" charset="-122"/>
              </a:rPr>
              <a:t>本对照表基于</a:t>
            </a:r>
            <a:r>
              <a:rPr lang="en-US" altLang="zh-CN" sz="1900" dirty="0">
                <a:solidFill>
                  <a:srgbClr val="0F1115"/>
                </a:solidFill>
                <a:latin typeface="华文中宋" panose="02010600040101010101" charset="-122"/>
                <a:ea typeface="华文中宋" panose="02010600040101010101" charset="-122"/>
              </a:rPr>
              <a:t>863</a:t>
            </a:r>
            <a:r>
              <a:rPr lang="zh-CN" altLang="en-US" sz="1900" dirty="0">
                <a:solidFill>
                  <a:srgbClr val="0F1115"/>
                </a:solidFill>
                <a:latin typeface="华文中宋" panose="02010600040101010101" charset="-122"/>
                <a:ea typeface="华文中宋" panose="02010600040101010101" charset="-122"/>
              </a:rPr>
              <a:t>条真实样本分析，将</a:t>
            </a:r>
            <a:r>
              <a:rPr lang="en-US" altLang="zh-CN" sz="1900" dirty="0">
                <a:solidFill>
                  <a:srgbClr val="0F1115"/>
                </a:solidFill>
                <a:latin typeface="华文中宋" panose="02010600040101010101" charset="-122"/>
                <a:ea typeface="华文中宋" panose="02010600040101010101" charset="-122"/>
              </a:rPr>
              <a:t>8</a:t>
            </a:r>
            <a:r>
              <a:rPr lang="zh-CN" altLang="en-US" sz="1900" dirty="0">
                <a:solidFill>
                  <a:srgbClr val="0F1115"/>
                </a:solidFill>
                <a:latin typeface="华文中宋" panose="02010600040101010101" charset="-122"/>
                <a:ea typeface="华文中宋" panose="02010600040101010101" charset="-122"/>
              </a:rPr>
              <a:t>种核心策略按</a:t>
            </a:r>
            <a:r>
              <a:rPr lang="en-US" altLang="zh-CN" sz="1900" dirty="0">
                <a:solidFill>
                  <a:srgbClr val="0F1115"/>
                </a:solidFill>
                <a:latin typeface="华文中宋" panose="02010600040101010101" charset="-122"/>
                <a:ea typeface="华文中宋" panose="02010600040101010101" charset="-122"/>
              </a:rPr>
              <a:t>"</a:t>
            </a:r>
            <a:r>
              <a:rPr lang="zh-CN" altLang="en-US" sz="1900" dirty="0">
                <a:solidFill>
                  <a:srgbClr val="0F1115"/>
                </a:solidFill>
                <a:latin typeface="华文中宋" panose="02010600040101010101" charset="-122"/>
                <a:ea typeface="华文中宋" panose="02010600040101010101" charset="-122"/>
              </a:rPr>
              <a:t>内容类型→目标受众→目标效果</a:t>
            </a:r>
            <a:r>
              <a:rPr lang="en-US" altLang="zh-CN" sz="1900" dirty="0">
                <a:solidFill>
                  <a:srgbClr val="0F1115"/>
                </a:solidFill>
                <a:latin typeface="华文中宋" panose="02010600040101010101" charset="-122"/>
                <a:ea typeface="华文中宋" panose="02010600040101010101" charset="-122"/>
              </a:rPr>
              <a:t>"</a:t>
            </a:r>
            <a:r>
              <a:rPr lang="zh-CN" altLang="en-US" sz="1900" dirty="0">
                <a:solidFill>
                  <a:srgbClr val="0F1115"/>
                </a:solidFill>
                <a:latin typeface="华文中宋" panose="02010600040101010101" charset="-122"/>
                <a:ea typeface="华文中宋" panose="02010600040101010101" charset="-122"/>
              </a:rPr>
              <a:t>进行交叉分类，可直接根据创作需求查找对应策略。</a:t>
            </a:r>
            <a:endParaRPr lang="zh-CN" altLang="en-US" sz="19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208722" y="1148835"/>
          <a:ext cx="12465879" cy="58274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5556"/>
                <a:gridCol w="655983"/>
                <a:gridCol w="646043"/>
                <a:gridCol w="752673"/>
                <a:gridCol w="748136"/>
                <a:gridCol w="765313"/>
                <a:gridCol w="901608"/>
                <a:gridCol w="658558"/>
                <a:gridCol w="807407"/>
                <a:gridCol w="796102"/>
                <a:gridCol w="762282"/>
                <a:gridCol w="745762"/>
                <a:gridCol w="754022"/>
                <a:gridCol w="676885"/>
                <a:gridCol w="824948"/>
                <a:gridCol w="1244601"/>
              </a:tblGrid>
              <a:tr h="340838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000" b="1" u="none" strike="noStrike" dirty="0">
                          <a:effectLst/>
                        </a:rPr>
                        <a:t>策略编号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000" b="1" u="none" strike="noStrike" dirty="0">
                          <a:effectLst/>
                        </a:rPr>
                        <a:t>策略</a:t>
                      </a:r>
                      <a:endParaRPr lang="en-US" altLang="zh-CN" sz="1000" b="1" u="none" strike="noStrike" dirty="0">
                        <a:effectLst/>
                      </a:endParaRPr>
                    </a:p>
                    <a:p>
                      <a:pPr algn="ctr" fontAlgn="t"/>
                      <a:r>
                        <a:rPr lang="zh-CN" altLang="en-US" sz="1000" b="1" u="none" strike="noStrike" dirty="0">
                          <a:effectLst/>
                        </a:rPr>
                        <a:t>名称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000" b="1" u="none" strike="noStrike" dirty="0">
                          <a:effectLst/>
                        </a:rPr>
                        <a:t>核心</a:t>
                      </a:r>
                      <a:endParaRPr lang="en-US" altLang="zh-CN" sz="1000" b="1" u="none" strike="noStrike" dirty="0">
                        <a:effectLst/>
                      </a:endParaRPr>
                    </a:p>
                    <a:p>
                      <a:pPr algn="ctr" fontAlgn="t"/>
                      <a:r>
                        <a:rPr lang="zh-CN" altLang="en-US" sz="1000" b="1" u="none" strike="noStrike" dirty="0">
                          <a:effectLst/>
                        </a:rPr>
                        <a:t>定位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000" b="1" u="none" strike="noStrike">
                          <a:effectLst/>
                        </a:rPr>
                        <a:t>内容类型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000" b="1" u="none" strike="noStrike" dirty="0">
                          <a:effectLst/>
                        </a:rPr>
                        <a:t>目标受众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000" b="1" u="none" strike="noStrike" dirty="0">
                          <a:effectLst/>
                        </a:rPr>
                        <a:t>目标效果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05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身份展示</a:t>
                      </a:r>
                      <a:endParaRPr lang="zh-CN" altLang="en-US" sz="1050" b="1" i="0" u="none" strike="noStrike" dirty="0">
                        <a:solidFill>
                          <a:srgbClr val="B1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05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证据</a:t>
                      </a:r>
                      <a:endParaRPr lang="en-US" altLang="zh-CN" sz="1050" b="1" u="none" strike="noStrike" dirty="0">
                        <a:solidFill>
                          <a:srgbClr val="B1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t"/>
                      <a:r>
                        <a:rPr lang="zh-CN" altLang="en-US" sz="105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类型</a:t>
                      </a:r>
                      <a:endParaRPr lang="zh-CN" altLang="en-US" sz="1050" b="1" i="0" u="none" strike="noStrike" dirty="0">
                        <a:solidFill>
                          <a:srgbClr val="B1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05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人称使用</a:t>
                      </a:r>
                      <a:endParaRPr lang="zh-CN" altLang="en-US" sz="1050" b="1" i="0" u="none" strike="noStrike" dirty="0">
                        <a:solidFill>
                          <a:srgbClr val="B1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000" b="1" u="none" strike="noStrike" dirty="0">
                          <a:effectLst/>
                        </a:rPr>
                        <a:t>样本数量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000" b="1" u="none" strike="noStrike" dirty="0">
                          <a:effectLst/>
                        </a:rPr>
                        <a:t>平均</a:t>
                      </a:r>
                      <a:endParaRPr lang="en-US" altLang="zh-CN" sz="1000" b="1" u="none" strike="noStrike" dirty="0">
                        <a:effectLst/>
                      </a:endParaRPr>
                    </a:p>
                    <a:p>
                      <a:pPr algn="ctr" fontAlgn="t"/>
                      <a:r>
                        <a:rPr lang="zh-CN" altLang="en-US" sz="1000" b="1" u="none" strike="noStrike" dirty="0">
                          <a:effectLst/>
                        </a:rPr>
                        <a:t>点赞数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000" b="1" u="none" strike="noStrike" dirty="0">
                          <a:effectLst/>
                        </a:rPr>
                        <a:t>平均</a:t>
                      </a:r>
                      <a:endParaRPr lang="en-US" altLang="zh-CN" sz="1000" b="1" u="none" strike="noStrike" dirty="0">
                        <a:effectLst/>
                      </a:endParaRPr>
                    </a:p>
                    <a:p>
                      <a:pPr algn="ctr" fontAlgn="t"/>
                      <a:r>
                        <a:rPr lang="zh-CN" altLang="en-US" sz="1000" b="1" u="none" strike="noStrike" dirty="0">
                          <a:effectLst/>
                        </a:rPr>
                        <a:t>收藏数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000" b="1" u="none" strike="noStrike" dirty="0">
                          <a:effectLst/>
                        </a:rPr>
                        <a:t>平均</a:t>
                      </a:r>
                      <a:endParaRPr lang="en-US" altLang="zh-CN" sz="1000" b="1" u="none" strike="noStrike" dirty="0">
                        <a:effectLst/>
                      </a:endParaRPr>
                    </a:p>
                    <a:p>
                      <a:pPr algn="ctr" fontAlgn="t"/>
                      <a:r>
                        <a:rPr lang="zh-CN" altLang="en-US" sz="1000" b="1" u="none" strike="noStrike" dirty="0">
                          <a:effectLst/>
                        </a:rPr>
                        <a:t>评论数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000" b="1" u="none" strike="noStrike" dirty="0">
                          <a:effectLst/>
                        </a:rPr>
                        <a:t>可靠性等级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000" b="1" u="none" strike="noStrike" dirty="0">
                          <a:effectLst/>
                        </a:rPr>
                        <a:t>推荐指数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000" b="1" u="none" strike="noStrike" dirty="0">
                          <a:effectLst/>
                        </a:rPr>
                        <a:t>典型案例标题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</a:tr>
              <a:tr h="721825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 dirty="0">
                          <a:effectLst/>
                        </a:rPr>
                        <a:t>策略</a:t>
                      </a:r>
                      <a:r>
                        <a:rPr lang="en-GB" sz="900" u="none" strike="noStrike" dirty="0">
                          <a:effectLst/>
                        </a:rPr>
                        <a:t>A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1" u="none" strike="noStrike" dirty="0">
                          <a:effectLst/>
                        </a:rPr>
                        <a:t>专业型策略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 dirty="0">
                          <a:effectLst/>
                        </a:rPr>
                        <a:t>建立专业权威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u="none" strike="noStrike" dirty="0">
                          <a:effectLst/>
                        </a:rPr>
                        <a:t>知识干货类（专业领域）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u="none" strike="noStrike">
                          <a:effectLst/>
                        </a:rPr>
                        <a:t>特定专业学生（如计算机</a:t>
                      </a:r>
                      <a:r>
                        <a:rPr lang="en-US" altLang="zh-CN" sz="800" u="none" strike="noStrike">
                          <a:effectLst/>
                        </a:rPr>
                        <a:t>/</a:t>
                      </a:r>
                      <a:r>
                        <a:rPr lang="zh-CN" altLang="en-US" sz="800" u="none" strike="noStrike">
                          <a:effectLst/>
                        </a:rPr>
                        <a:t>新传）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u="none" strike="noStrike">
                          <a:effectLst/>
                        </a:rPr>
                        <a:t>高专业度</a:t>
                      </a:r>
                      <a:r>
                        <a:rPr lang="en-US" altLang="zh-CN" sz="800" u="none" strike="noStrike">
                          <a:effectLst/>
                        </a:rPr>
                        <a:t>+</a:t>
                      </a:r>
                      <a:r>
                        <a:rPr lang="zh-CN" altLang="en-US" sz="800" u="none" strike="noStrike">
                          <a:effectLst/>
                        </a:rPr>
                        <a:t>高收藏率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具体（提及专业</a:t>
                      </a:r>
                      <a:r>
                        <a:rPr lang="en-US" altLang="zh-CN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学校）</a:t>
                      </a:r>
                      <a:endParaRPr lang="zh-CN" altLang="en-US" sz="900" b="1" i="0" u="none" strike="noStrike" dirty="0">
                        <a:solidFill>
                          <a:srgbClr val="B1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L1</a:t>
                      </a:r>
                      <a:r>
                        <a:rPr lang="zh-CN" altLang="en-US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量化证据（数据</a:t>
                      </a:r>
                      <a:r>
                        <a:rPr lang="en-US" altLang="zh-CN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数字）</a:t>
                      </a:r>
                      <a:endParaRPr lang="zh-CN" altLang="en-US" sz="900" b="1" i="0" u="none" strike="noStrike" dirty="0">
                        <a:solidFill>
                          <a:srgbClr val="B1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指导型（</a:t>
                      </a:r>
                      <a:r>
                        <a:rPr lang="en-US" altLang="zh-CN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"</a:t>
                      </a:r>
                      <a:r>
                        <a:rPr lang="zh-CN" altLang="en-US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你</a:t>
                      </a:r>
                      <a:r>
                        <a:rPr lang="en-US" altLang="zh-CN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"</a:t>
                      </a:r>
                      <a:r>
                        <a:rPr lang="zh-CN" altLang="en-US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为主）</a:t>
                      </a:r>
                      <a:endParaRPr lang="zh-CN" altLang="en-US" sz="900" b="1" i="0" u="none" strike="noStrike" dirty="0">
                        <a:solidFill>
                          <a:srgbClr val="B1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 dirty="0">
                          <a:effectLst/>
                        </a:rPr>
                        <a:t>6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 dirty="0">
                          <a:effectLst/>
                        </a:rPr>
                        <a:t>2142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</a:rPr>
                        <a:t>1528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</a:rPr>
                        <a:t>112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u="none" strike="noStrike">
                          <a:effectLst/>
                        </a:rPr>
                        <a:t>低可靠性（</a:t>
                      </a:r>
                      <a:r>
                        <a:rPr lang="en-US" altLang="zh-CN" sz="800" u="none" strike="noStrike">
                          <a:effectLst/>
                        </a:rPr>
                        <a:t>5-9</a:t>
                      </a:r>
                      <a:r>
                        <a:rPr lang="zh-CN" altLang="en-US" sz="800" u="none" strike="noStrike">
                          <a:effectLst/>
                        </a:rPr>
                        <a:t>样本）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★★★★☆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 dirty="0">
                          <a:effectLst/>
                        </a:rPr>
                        <a:t>XX</a:t>
                      </a:r>
                      <a:r>
                        <a:rPr lang="zh-CN" altLang="en-US" sz="900" u="none" strike="noStrike" dirty="0">
                          <a:effectLst/>
                        </a:rPr>
                        <a:t>专业考研英语一</a:t>
                      </a:r>
                      <a:r>
                        <a:rPr lang="en-US" altLang="zh-CN" sz="900" u="none" strike="noStrike" dirty="0">
                          <a:effectLst/>
                        </a:rPr>
                        <a:t>80</a:t>
                      </a:r>
                      <a:r>
                        <a:rPr lang="zh-CN" altLang="en-US" sz="900" u="none" strike="noStrike" dirty="0">
                          <a:effectLst/>
                        </a:rPr>
                        <a:t>分备考攻略（附具体时间规划）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</a:tr>
              <a:tr h="721825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 dirty="0">
                          <a:effectLst/>
                        </a:rPr>
                        <a:t>策略</a:t>
                      </a:r>
                      <a:r>
                        <a:rPr lang="en-GB" sz="900" u="none" strike="noStrike" dirty="0">
                          <a:effectLst/>
                        </a:rPr>
                        <a:t>B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1" u="none" strike="noStrike" dirty="0">
                          <a:effectLst/>
                        </a:rPr>
                        <a:t>传播型策略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 dirty="0">
                          <a:effectLst/>
                        </a:rPr>
                        <a:t>扩大内容传播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u="none" strike="noStrike">
                          <a:effectLst/>
                        </a:rPr>
                        <a:t>知识干货类（通用需求）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u="none" strike="noStrike">
                          <a:effectLst/>
                        </a:rPr>
                        <a:t>全体大学生（通用需求）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u="none" strike="noStrike">
                          <a:effectLst/>
                        </a:rPr>
                        <a:t>高传播度</a:t>
                      </a:r>
                      <a:r>
                        <a:rPr lang="en-US" altLang="zh-CN" sz="800" u="none" strike="noStrike">
                          <a:effectLst/>
                        </a:rPr>
                        <a:t>+</a:t>
                      </a:r>
                      <a:r>
                        <a:rPr lang="zh-CN" altLang="en-US" sz="800" u="none" strike="noStrike">
                          <a:effectLst/>
                        </a:rPr>
                        <a:t>高曝光率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无（不限制身份）</a:t>
                      </a:r>
                      <a:endParaRPr lang="zh-CN" altLang="en-US" sz="900" b="1" i="0" u="none" strike="noStrike" dirty="0">
                        <a:solidFill>
                          <a:srgbClr val="B1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L4</a:t>
                      </a:r>
                      <a:r>
                        <a:rPr lang="zh-CN" altLang="en-US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纯观点（情感表达）</a:t>
                      </a:r>
                      <a:endParaRPr lang="zh-CN" altLang="en-US" sz="900" b="1" i="0" u="none" strike="noStrike" dirty="0">
                        <a:solidFill>
                          <a:srgbClr val="B1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混合型（</a:t>
                      </a:r>
                      <a:r>
                        <a:rPr lang="en-US" altLang="zh-CN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"</a:t>
                      </a:r>
                      <a:r>
                        <a:rPr lang="zh-CN" altLang="en-US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你</a:t>
                      </a:r>
                      <a:r>
                        <a:rPr lang="en-US" altLang="zh-CN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我</a:t>
                      </a:r>
                      <a:r>
                        <a:rPr lang="en-US" altLang="zh-CN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"</a:t>
                      </a:r>
                      <a:r>
                        <a:rPr lang="zh-CN" altLang="en-US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交替）</a:t>
                      </a:r>
                      <a:endParaRPr lang="zh-CN" altLang="en-US" sz="900" b="1" i="0" u="none" strike="noStrike" dirty="0">
                        <a:solidFill>
                          <a:srgbClr val="B1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</a:rPr>
                        <a:t>12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 dirty="0">
                          <a:effectLst/>
                        </a:rPr>
                        <a:t>4786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</a:rPr>
                        <a:t>1496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</a:rPr>
                        <a:t>325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u="none" strike="noStrike">
                          <a:effectLst/>
                        </a:rPr>
                        <a:t>中可靠性（</a:t>
                      </a:r>
                      <a:r>
                        <a:rPr lang="en-US" altLang="zh-CN" sz="800" u="none" strike="noStrike">
                          <a:effectLst/>
                        </a:rPr>
                        <a:t>10-19</a:t>
                      </a:r>
                      <a:r>
                        <a:rPr lang="zh-CN" altLang="en-US" sz="800" u="none" strike="noStrike">
                          <a:effectLst/>
                        </a:rPr>
                        <a:t>样本）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★★★★★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 dirty="0">
                          <a:effectLst/>
                        </a:rPr>
                        <a:t>大学生必看！</a:t>
                      </a:r>
                      <a:r>
                        <a:rPr lang="en-US" altLang="zh-CN" sz="900" u="none" strike="noStrike" dirty="0">
                          <a:effectLst/>
                        </a:rPr>
                        <a:t>10</a:t>
                      </a:r>
                      <a:r>
                        <a:rPr lang="zh-CN" altLang="en-US" sz="900" u="none" strike="noStrike" dirty="0">
                          <a:effectLst/>
                        </a:rPr>
                        <a:t>个高效学习技巧，学渣也能逆袭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</a:tr>
              <a:tr h="721825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 dirty="0">
                          <a:effectLst/>
                        </a:rPr>
                        <a:t>策略</a:t>
                      </a:r>
                      <a:r>
                        <a:rPr lang="en-GB" sz="900" u="none" strike="noStrike" dirty="0">
                          <a:effectLst/>
                        </a:rPr>
                        <a:t>C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1" u="none" strike="noStrike" dirty="0">
                          <a:effectLst/>
                        </a:rPr>
                        <a:t>信任型策略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 dirty="0">
                          <a:effectLst/>
                        </a:rPr>
                        <a:t>增强用户信任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u="none" strike="noStrike" dirty="0">
                          <a:effectLst/>
                        </a:rPr>
                        <a:t>知识干货类（权威解读）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u="none" strike="noStrike" dirty="0">
                          <a:effectLst/>
                        </a:rPr>
                        <a:t>理性决策型学生（注重权威）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u="none" strike="noStrike">
                          <a:effectLst/>
                        </a:rPr>
                        <a:t>高信任度</a:t>
                      </a:r>
                      <a:r>
                        <a:rPr lang="en-US" altLang="zh-CN" sz="800" u="none" strike="noStrike">
                          <a:effectLst/>
                        </a:rPr>
                        <a:t>+</a:t>
                      </a:r>
                      <a:r>
                        <a:rPr lang="zh-CN" altLang="en-US" sz="800" u="none" strike="noStrike">
                          <a:effectLst/>
                        </a:rPr>
                        <a:t>高转化率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泛称（学生</a:t>
                      </a:r>
                      <a:r>
                        <a:rPr lang="en-US" altLang="zh-CN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大学生）</a:t>
                      </a:r>
                      <a:endParaRPr lang="zh-CN" altLang="en-US" sz="900" b="1" i="0" u="none" strike="noStrike" dirty="0">
                        <a:solidFill>
                          <a:srgbClr val="B1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1" u="none" strike="noStrike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L3</a:t>
                      </a:r>
                      <a:r>
                        <a:rPr lang="zh-CN" altLang="en-US" sz="900" b="1" u="none" strike="noStrike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引用证据（权威来源）</a:t>
                      </a:r>
                      <a:endParaRPr lang="zh-CN" altLang="en-US" sz="900" b="1" i="0" u="none" strike="noStrike">
                        <a:solidFill>
                          <a:srgbClr val="B1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分享型（</a:t>
                      </a:r>
                      <a:r>
                        <a:rPr lang="en-US" altLang="zh-CN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"</a:t>
                      </a:r>
                      <a:r>
                        <a:rPr lang="zh-CN" altLang="en-US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我</a:t>
                      </a:r>
                      <a:r>
                        <a:rPr lang="en-US" altLang="zh-CN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"</a:t>
                      </a:r>
                      <a:r>
                        <a:rPr lang="zh-CN" altLang="en-US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为主）</a:t>
                      </a:r>
                      <a:endParaRPr lang="zh-CN" altLang="en-US" sz="900" b="1" i="0" u="none" strike="noStrike" dirty="0">
                        <a:solidFill>
                          <a:srgbClr val="B1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 dirty="0">
                          <a:effectLst/>
                        </a:rPr>
                        <a:t>8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</a:rPr>
                        <a:t>4110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</a:rPr>
                        <a:t>3777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 dirty="0">
                          <a:effectLst/>
                        </a:rPr>
                        <a:t>39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u="none" strike="noStrike">
                          <a:effectLst/>
                        </a:rPr>
                        <a:t>低可靠性（</a:t>
                      </a:r>
                      <a:r>
                        <a:rPr lang="en-US" altLang="zh-CN" sz="800" u="none" strike="noStrike">
                          <a:effectLst/>
                        </a:rPr>
                        <a:t>5-9</a:t>
                      </a:r>
                      <a:r>
                        <a:rPr lang="zh-CN" altLang="en-US" sz="800" u="none" strike="noStrike">
                          <a:effectLst/>
                        </a:rPr>
                        <a:t>样本）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★★★★☆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 dirty="0">
                          <a:effectLst/>
                        </a:rPr>
                        <a:t>《</a:t>
                      </a:r>
                      <a:r>
                        <a:rPr lang="zh-CN" altLang="en-US" sz="900" u="none" strike="noStrike" dirty="0">
                          <a:effectLst/>
                        </a:rPr>
                        <a:t>学习之道</a:t>
                      </a:r>
                      <a:r>
                        <a:rPr lang="en-US" altLang="zh-CN" sz="900" u="none" strike="noStrike" dirty="0">
                          <a:effectLst/>
                        </a:rPr>
                        <a:t>》</a:t>
                      </a:r>
                      <a:r>
                        <a:rPr lang="zh-CN" altLang="en-US" sz="900" u="none" strike="noStrike" dirty="0">
                          <a:effectLst/>
                        </a:rPr>
                        <a:t>书中提到的</a:t>
                      </a:r>
                      <a:r>
                        <a:rPr lang="en-US" altLang="zh-CN" sz="900" u="none" strike="noStrike" dirty="0">
                          <a:effectLst/>
                        </a:rPr>
                        <a:t>3</a:t>
                      </a:r>
                      <a:r>
                        <a:rPr lang="zh-CN" altLang="en-US" sz="900" u="none" strike="noStrike" dirty="0">
                          <a:effectLst/>
                        </a:rPr>
                        <a:t>个记忆方法，亲测有效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</a:tr>
              <a:tr h="721825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 dirty="0">
                          <a:effectLst/>
                        </a:rPr>
                        <a:t>策略</a:t>
                      </a:r>
                      <a:r>
                        <a:rPr lang="en-GB" sz="900" u="none" strike="noStrike" dirty="0">
                          <a:effectLst/>
                        </a:rPr>
                        <a:t>D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1" u="none" strike="noStrike">
                          <a:effectLst/>
                        </a:rPr>
                        <a:t>认同型策略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 dirty="0">
                          <a:effectLst/>
                        </a:rPr>
                        <a:t>提升情感认同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u="none" strike="noStrike" dirty="0">
                          <a:effectLst/>
                        </a:rPr>
                        <a:t>个人经验类（垂直领域）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u="none" strike="noStrike" dirty="0">
                          <a:effectLst/>
                        </a:rPr>
                        <a:t>垂直领域用户（如考研</a:t>
                      </a:r>
                      <a:r>
                        <a:rPr lang="en-US" altLang="zh-CN" sz="800" u="none" strike="noStrike" dirty="0">
                          <a:effectLst/>
                        </a:rPr>
                        <a:t>/</a:t>
                      </a:r>
                      <a:r>
                        <a:rPr lang="zh-CN" altLang="en-US" sz="800" u="none" strike="noStrike" dirty="0">
                          <a:effectLst/>
                        </a:rPr>
                        <a:t>考公）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u="none" strike="noStrike">
                          <a:effectLst/>
                        </a:rPr>
                        <a:t>高认同感</a:t>
                      </a:r>
                      <a:r>
                        <a:rPr lang="en-US" altLang="zh-CN" sz="800" u="none" strike="noStrike">
                          <a:effectLst/>
                        </a:rPr>
                        <a:t>+</a:t>
                      </a:r>
                      <a:r>
                        <a:rPr lang="zh-CN" altLang="en-US" sz="800" u="none" strike="noStrike">
                          <a:effectLst/>
                        </a:rPr>
                        <a:t>高粘性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无（不限制身份）</a:t>
                      </a:r>
                      <a:endParaRPr lang="zh-CN" altLang="en-US" sz="900" b="1" i="0" u="none" strike="noStrike" dirty="0">
                        <a:solidFill>
                          <a:srgbClr val="B1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1" u="none" strike="noStrike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L4</a:t>
                      </a:r>
                      <a:r>
                        <a:rPr lang="zh-CN" altLang="en-US" sz="900" b="1" u="none" strike="noStrike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纯观点（个人感受）</a:t>
                      </a:r>
                      <a:endParaRPr lang="zh-CN" altLang="en-US" sz="900" b="1" i="0" u="none" strike="noStrike">
                        <a:solidFill>
                          <a:srgbClr val="B1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分享型（</a:t>
                      </a:r>
                      <a:r>
                        <a:rPr lang="en-US" altLang="zh-CN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"</a:t>
                      </a:r>
                      <a:r>
                        <a:rPr lang="zh-CN" altLang="en-US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我</a:t>
                      </a:r>
                      <a:r>
                        <a:rPr lang="en-US" altLang="zh-CN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"</a:t>
                      </a:r>
                      <a:r>
                        <a:rPr lang="zh-CN" altLang="en-US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为主）</a:t>
                      </a:r>
                      <a:endParaRPr lang="zh-CN" altLang="en-US" sz="900" b="1" i="0" u="none" strike="noStrike" dirty="0">
                        <a:solidFill>
                          <a:srgbClr val="B1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 dirty="0">
                          <a:effectLst/>
                        </a:rPr>
                        <a:t>22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</a:rPr>
                        <a:t>1943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</a:rPr>
                        <a:t>856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 dirty="0">
                          <a:effectLst/>
                        </a:rPr>
                        <a:t>87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u="none" strike="noStrike">
                          <a:effectLst/>
                        </a:rPr>
                        <a:t>高可靠性（≥</a:t>
                      </a:r>
                      <a:r>
                        <a:rPr lang="en-US" altLang="zh-CN" sz="800" u="none" strike="noStrike">
                          <a:effectLst/>
                        </a:rPr>
                        <a:t>20</a:t>
                      </a:r>
                      <a:r>
                        <a:rPr lang="zh-CN" altLang="en-US" sz="800" u="none" strike="noStrike">
                          <a:effectLst/>
                        </a:rPr>
                        <a:t>样本）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★★★★☆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 dirty="0">
                          <a:effectLst/>
                        </a:rPr>
                        <a:t>我用这</a:t>
                      </a:r>
                      <a:r>
                        <a:rPr lang="en-US" altLang="zh-CN" sz="900" u="none" strike="noStrike" dirty="0">
                          <a:effectLst/>
                        </a:rPr>
                        <a:t>3</a:t>
                      </a:r>
                      <a:r>
                        <a:rPr lang="zh-CN" altLang="en-US" sz="900" u="none" strike="noStrike" dirty="0">
                          <a:effectLst/>
                        </a:rPr>
                        <a:t>个方法，</a:t>
                      </a:r>
                      <a:r>
                        <a:rPr lang="en-US" altLang="zh-CN" sz="900" u="none" strike="noStrike" dirty="0">
                          <a:effectLst/>
                        </a:rPr>
                        <a:t>3</a:t>
                      </a:r>
                      <a:r>
                        <a:rPr lang="zh-CN" altLang="en-US" sz="900" u="none" strike="noStrike" dirty="0">
                          <a:effectLst/>
                        </a:rPr>
                        <a:t>个月通过英语六级（附经验总结）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</a:tr>
              <a:tr h="721825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 dirty="0">
                          <a:effectLst/>
                        </a:rPr>
                        <a:t>策略</a:t>
                      </a:r>
                      <a:r>
                        <a:rPr lang="en-GB" sz="900" u="none" strike="noStrike" dirty="0">
                          <a:effectLst/>
                        </a:rPr>
                        <a:t>E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1" u="none" strike="noStrike">
                          <a:effectLst/>
                        </a:rPr>
                        <a:t>互动型策略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 dirty="0">
                          <a:effectLst/>
                        </a:rPr>
                        <a:t>促进评论互动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u="none" strike="noStrike">
                          <a:effectLst/>
                        </a:rPr>
                        <a:t>个人经验类（过程分享）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u="none" strike="noStrike">
                          <a:effectLst/>
                        </a:rPr>
                        <a:t>互动意愿强的学生（喜欢打卡）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u="none" strike="noStrike">
                          <a:effectLst/>
                        </a:rPr>
                        <a:t>高互动性</a:t>
                      </a:r>
                      <a:r>
                        <a:rPr lang="en-US" altLang="zh-CN" sz="800" u="none" strike="noStrike">
                          <a:effectLst/>
                        </a:rPr>
                        <a:t>+</a:t>
                      </a:r>
                      <a:r>
                        <a:rPr lang="zh-CN" altLang="en-US" sz="800" u="none" strike="noStrike">
                          <a:effectLst/>
                        </a:rPr>
                        <a:t>高活跃率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泛称（学生党）</a:t>
                      </a:r>
                      <a:endParaRPr lang="zh-CN" altLang="en-US" sz="900" b="1" i="0" u="none" strike="noStrike" dirty="0">
                        <a:solidFill>
                          <a:srgbClr val="B1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1" u="none" strike="noStrike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L2</a:t>
                      </a:r>
                      <a:r>
                        <a:rPr lang="zh-CN" altLang="en-US" sz="900" b="1" u="none" strike="noStrike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过程证据（案例</a:t>
                      </a:r>
                      <a:r>
                        <a:rPr lang="en-US" altLang="zh-CN" sz="900" b="1" u="none" strike="noStrike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900" b="1" u="none" strike="noStrike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故事）</a:t>
                      </a:r>
                      <a:endParaRPr lang="zh-CN" altLang="en-US" sz="900" b="1" i="0" u="none" strike="noStrike">
                        <a:solidFill>
                          <a:srgbClr val="B1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混合型（</a:t>
                      </a:r>
                      <a:r>
                        <a:rPr lang="en-US" altLang="zh-CN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"</a:t>
                      </a:r>
                      <a:r>
                        <a:rPr lang="zh-CN" altLang="en-US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你</a:t>
                      </a:r>
                      <a:r>
                        <a:rPr lang="en-US" altLang="zh-CN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我</a:t>
                      </a:r>
                      <a:r>
                        <a:rPr lang="en-US" altLang="zh-CN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"</a:t>
                      </a:r>
                      <a:r>
                        <a:rPr lang="zh-CN" altLang="en-US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交替）</a:t>
                      </a:r>
                      <a:endParaRPr lang="zh-CN" altLang="en-US" sz="900" b="1" i="0" u="none" strike="noStrike" dirty="0">
                        <a:solidFill>
                          <a:srgbClr val="B1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 dirty="0">
                          <a:effectLst/>
                        </a:rPr>
                        <a:t>11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</a:rPr>
                        <a:t>1864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</a:rPr>
                        <a:t>1320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 dirty="0">
                          <a:effectLst/>
                        </a:rPr>
                        <a:t>112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u="none" strike="noStrike">
                          <a:effectLst/>
                        </a:rPr>
                        <a:t>低可靠性（</a:t>
                      </a:r>
                      <a:r>
                        <a:rPr lang="en-US" altLang="zh-CN" sz="800" u="none" strike="noStrike">
                          <a:effectLst/>
                        </a:rPr>
                        <a:t>5-9</a:t>
                      </a:r>
                      <a:r>
                        <a:rPr lang="zh-CN" altLang="en-US" sz="800" u="none" strike="noStrike">
                          <a:effectLst/>
                        </a:rPr>
                        <a:t>样本）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★★★☆☆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 dirty="0">
                          <a:effectLst/>
                        </a:rPr>
                        <a:t>我的考研日记</a:t>
                      </a:r>
                      <a:r>
                        <a:rPr lang="en-US" altLang="zh-CN" sz="900" u="none" strike="noStrike" dirty="0">
                          <a:effectLst/>
                        </a:rPr>
                        <a:t>Day15</a:t>
                      </a:r>
                      <a:r>
                        <a:rPr lang="zh-CN" altLang="en-US" sz="900" u="none" strike="noStrike" dirty="0">
                          <a:effectLst/>
                        </a:rPr>
                        <a:t>：今天终于攻克了数学难点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</a:tr>
              <a:tr h="602275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 dirty="0">
                          <a:effectLst/>
                        </a:rPr>
                        <a:t>策略</a:t>
                      </a:r>
                      <a:r>
                        <a:rPr lang="en-GB" sz="900" u="none" strike="noStrike" dirty="0">
                          <a:effectLst/>
                        </a:rPr>
                        <a:t>F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1" u="none" strike="noStrike">
                          <a:effectLst/>
                        </a:rPr>
                        <a:t>收藏型策略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 dirty="0">
                          <a:effectLst/>
                        </a:rPr>
                        <a:t>提高收藏转化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u="none" strike="noStrike" dirty="0">
                          <a:effectLst/>
                        </a:rPr>
                        <a:t>知识干货类（资料整理）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u="none" strike="noStrike">
                          <a:effectLst/>
                        </a:rPr>
                        <a:t>资料需求型学生（期末</a:t>
                      </a:r>
                      <a:r>
                        <a:rPr lang="en-US" altLang="zh-CN" sz="800" u="none" strike="noStrike">
                          <a:effectLst/>
                        </a:rPr>
                        <a:t>/</a:t>
                      </a:r>
                      <a:r>
                        <a:rPr lang="zh-CN" altLang="en-US" sz="800" u="none" strike="noStrike">
                          <a:effectLst/>
                        </a:rPr>
                        <a:t>备考）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u="none" strike="noStrike">
                          <a:effectLst/>
                        </a:rPr>
                        <a:t>高收藏率</a:t>
                      </a:r>
                      <a:r>
                        <a:rPr lang="en-US" altLang="zh-CN" sz="800" u="none" strike="noStrike">
                          <a:effectLst/>
                        </a:rPr>
                        <a:t>+</a:t>
                      </a:r>
                      <a:r>
                        <a:rPr lang="zh-CN" altLang="en-US" sz="800" u="none" strike="noStrike">
                          <a:effectLst/>
                        </a:rPr>
                        <a:t>高复访率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具体（专业背景）</a:t>
                      </a:r>
                      <a:endParaRPr lang="zh-CN" altLang="en-US" sz="900" b="1" i="0" u="none" strike="noStrike" dirty="0">
                        <a:solidFill>
                          <a:srgbClr val="B1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1" u="none" strike="noStrike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L1</a:t>
                      </a:r>
                      <a:r>
                        <a:rPr lang="zh-CN" altLang="en-US" sz="900" b="1" u="none" strike="noStrike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量化证据（具体数据）</a:t>
                      </a:r>
                      <a:endParaRPr lang="zh-CN" altLang="en-US" sz="900" b="1" i="0" u="none" strike="noStrike">
                        <a:solidFill>
                          <a:srgbClr val="B1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指导型（</a:t>
                      </a:r>
                      <a:r>
                        <a:rPr lang="en-US" altLang="zh-CN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"</a:t>
                      </a:r>
                      <a:r>
                        <a:rPr lang="zh-CN" altLang="en-US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你</a:t>
                      </a:r>
                      <a:r>
                        <a:rPr lang="en-US" altLang="zh-CN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"</a:t>
                      </a:r>
                      <a:r>
                        <a:rPr lang="zh-CN" altLang="en-US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为主）</a:t>
                      </a:r>
                      <a:endParaRPr lang="zh-CN" altLang="en-US" sz="900" b="1" i="0" u="none" strike="noStrike" dirty="0">
                        <a:solidFill>
                          <a:srgbClr val="B1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 dirty="0">
                          <a:effectLst/>
                        </a:rPr>
                        <a:t>9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</a:rPr>
                        <a:t>1398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</a:rPr>
                        <a:t>2156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 dirty="0">
                          <a:effectLst/>
                        </a:rPr>
                        <a:t>45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u="none" strike="noStrike">
                          <a:effectLst/>
                        </a:rPr>
                        <a:t>低可靠性（</a:t>
                      </a:r>
                      <a:r>
                        <a:rPr lang="en-US" altLang="zh-CN" sz="800" u="none" strike="noStrike">
                          <a:effectLst/>
                        </a:rPr>
                        <a:t>5-9</a:t>
                      </a:r>
                      <a:r>
                        <a:rPr lang="zh-CN" altLang="en-US" sz="800" u="none" strike="noStrike">
                          <a:effectLst/>
                        </a:rPr>
                        <a:t>样本）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★★★☆☆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 dirty="0">
                          <a:effectLst/>
                        </a:rPr>
                        <a:t>XX</a:t>
                      </a:r>
                      <a:r>
                        <a:rPr lang="zh-CN" altLang="en-US" sz="900" u="none" strike="noStrike" dirty="0">
                          <a:effectLst/>
                        </a:rPr>
                        <a:t>专业期末复习重点整理（含往年真题考点）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</a:tr>
              <a:tr h="602275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 dirty="0">
                          <a:effectLst/>
                        </a:rPr>
                        <a:t>策略</a:t>
                      </a:r>
                      <a:r>
                        <a:rPr lang="en-GB" sz="900" u="none" strike="noStrike" dirty="0">
                          <a:effectLst/>
                        </a:rPr>
                        <a:t>G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1" u="none" strike="noStrike">
                          <a:effectLst/>
                        </a:rPr>
                        <a:t>共鸣型策略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 dirty="0">
                          <a:effectLst/>
                        </a:rPr>
                        <a:t>引发情感共鸣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u="none" strike="noStrike">
                          <a:effectLst/>
                        </a:rPr>
                        <a:t>情感共鸣类（同龄人）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u="none" strike="noStrike">
                          <a:effectLst/>
                        </a:rPr>
                        <a:t>同阶段同龄人（如大一</a:t>
                      </a:r>
                      <a:r>
                        <a:rPr lang="en-US" altLang="zh-CN" sz="800" u="none" strike="noStrike">
                          <a:effectLst/>
                        </a:rPr>
                        <a:t>/</a:t>
                      </a:r>
                      <a:r>
                        <a:rPr lang="zh-CN" altLang="en-US" sz="800" u="none" strike="noStrike">
                          <a:effectLst/>
                        </a:rPr>
                        <a:t>大四）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u="none" strike="noStrike">
                          <a:effectLst/>
                        </a:rPr>
                        <a:t>高共鸣感</a:t>
                      </a:r>
                      <a:r>
                        <a:rPr lang="en-US" altLang="zh-CN" sz="800" u="none" strike="noStrike">
                          <a:effectLst/>
                        </a:rPr>
                        <a:t>+</a:t>
                      </a:r>
                      <a:r>
                        <a:rPr lang="zh-CN" altLang="en-US" sz="800" u="none" strike="noStrike">
                          <a:effectLst/>
                        </a:rPr>
                        <a:t>高点赞率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无（不提及身份）</a:t>
                      </a:r>
                      <a:endParaRPr lang="zh-CN" altLang="en-US" sz="900" b="1" i="0" u="none" strike="noStrike" dirty="0">
                        <a:solidFill>
                          <a:srgbClr val="B1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1" u="none" strike="noStrike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L4</a:t>
                      </a:r>
                      <a:r>
                        <a:rPr lang="zh-CN" altLang="en-US" sz="900" b="1" u="none" strike="noStrike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纯观点（情绪表达）</a:t>
                      </a:r>
                      <a:endParaRPr lang="zh-CN" altLang="en-US" sz="900" b="1" i="0" u="none" strike="noStrike">
                        <a:solidFill>
                          <a:srgbClr val="B1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其他（无明显人称）</a:t>
                      </a:r>
                      <a:endParaRPr lang="zh-CN" altLang="en-US" sz="900" b="1" i="0" u="none" strike="noStrike" dirty="0">
                        <a:solidFill>
                          <a:srgbClr val="B1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 dirty="0">
                          <a:effectLst/>
                        </a:rPr>
                        <a:t>33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</a:rPr>
                        <a:t>1964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</a:rPr>
                        <a:t>1061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 dirty="0">
                          <a:effectLst/>
                        </a:rPr>
                        <a:t>529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u="none" strike="noStrike" dirty="0">
                          <a:effectLst/>
                        </a:rPr>
                        <a:t>高可靠性（≥</a:t>
                      </a:r>
                      <a:r>
                        <a:rPr lang="en-US" altLang="zh-CN" sz="800" u="none" strike="noStrike" dirty="0">
                          <a:effectLst/>
                        </a:rPr>
                        <a:t>20</a:t>
                      </a:r>
                      <a:r>
                        <a:rPr lang="zh-CN" altLang="en-US" sz="800" u="none" strike="noStrike" dirty="0">
                          <a:effectLst/>
                        </a:rPr>
                        <a:t>样本）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★★★★★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 dirty="0">
                          <a:effectLst/>
                        </a:rPr>
                        <a:t>大一新生必看：刚入学的这</a:t>
                      </a:r>
                      <a:r>
                        <a:rPr lang="en-US" altLang="zh-CN" sz="900" u="none" strike="noStrike" dirty="0">
                          <a:effectLst/>
                        </a:rPr>
                        <a:t>3</a:t>
                      </a:r>
                      <a:r>
                        <a:rPr lang="zh-CN" altLang="en-US" sz="900" u="none" strike="noStrike" dirty="0">
                          <a:effectLst/>
                        </a:rPr>
                        <a:t>个坑，我都踩过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</a:tr>
              <a:tr h="602275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 dirty="0">
                          <a:effectLst/>
                        </a:rPr>
                        <a:t>策略</a:t>
                      </a:r>
                      <a:r>
                        <a:rPr lang="en-GB" sz="900" u="none" strike="noStrike" dirty="0">
                          <a:effectLst/>
                        </a:rPr>
                        <a:t>H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1" u="none" strike="noStrike" dirty="0">
                          <a:effectLst/>
                        </a:rPr>
                        <a:t>记忆型策略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 dirty="0">
                          <a:effectLst/>
                        </a:rPr>
                        <a:t>强化内容记忆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u="none" strike="noStrike">
                          <a:effectLst/>
                        </a:rPr>
                        <a:t>情感共鸣类（跨年龄层）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u="none" strike="noStrike">
                          <a:effectLst/>
                        </a:rPr>
                        <a:t>跨阶段学生（学长</a:t>
                      </a:r>
                      <a:r>
                        <a:rPr lang="en-US" altLang="zh-CN" sz="800" u="none" strike="noStrike">
                          <a:effectLst/>
                        </a:rPr>
                        <a:t>/</a:t>
                      </a:r>
                      <a:r>
                        <a:rPr lang="zh-CN" altLang="en-US" sz="800" u="none" strike="noStrike">
                          <a:effectLst/>
                        </a:rPr>
                        <a:t>学弟</a:t>
                      </a:r>
                      <a:r>
                        <a:rPr lang="en-US" altLang="zh-CN" sz="800" u="none" strike="noStrike">
                          <a:effectLst/>
                        </a:rPr>
                        <a:t>/</a:t>
                      </a:r>
                      <a:r>
                        <a:rPr lang="zh-CN" altLang="en-US" sz="800" u="none" strike="noStrike">
                          <a:effectLst/>
                        </a:rPr>
                        <a:t>学妹）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u="none" strike="noStrike">
                          <a:effectLst/>
                        </a:rPr>
                        <a:t>高记忆点</a:t>
                      </a:r>
                      <a:r>
                        <a:rPr lang="en-US" altLang="zh-CN" sz="800" u="none" strike="noStrike">
                          <a:effectLst/>
                        </a:rPr>
                        <a:t>+</a:t>
                      </a:r>
                      <a:r>
                        <a:rPr lang="zh-CN" altLang="en-US" sz="800" u="none" strike="noStrike">
                          <a:effectLst/>
                        </a:rPr>
                        <a:t>高分享率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泛称（大学生）</a:t>
                      </a:r>
                      <a:endParaRPr lang="zh-CN" altLang="en-US" sz="900" b="1" i="0" u="none" strike="noStrike" dirty="0">
                        <a:solidFill>
                          <a:srgbClr val="B1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1" u="none" strike="noStrike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L2</a:t>
                      </a:r>
                      <a:r>
                        <a:rPr lang="zh-CN" altLang="en-US" sz="900" b="1" u="none" strike="noStrike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过程证据（个人经历）</a:t>
                      </a:r>
                      <a:endParaRPr lang="zh-CN" altLang="en-US" sz="900" b="1" i="0" u="none" strike="noStrike">
                        <a:solidFill>
                          <a:srgbClr val="B1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分享型（</a:t>
                      </a:r>
                      <a:r>
                        <a:rPr lang="en-US" altLang="zh-CN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"</a:t>
                      </a:r>
                      <a:r>
                        <a:rPr lang="zh-CN" altLang="en-US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我</a:t>
                      </a:r>
                      <a:r>
                        <a:rPr lang="en-US" altLang="zh-CN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"</a:t>
                      </a:r>
                      <a:r>
                        <a:rPr lang="zh-CN" altLang="en-US" sz="900" b="1" u="none" strike="noStrike" dirty="0">
                          <a:solidFill>
                            <a:srgbClr val="B10000"/>
                          </a:solidFill>
                          <a:effectLst/>
                          <a:latin typeface="+mn-ea"/>
                          <a:ea typeface="+mn-ea"/>
                        </a:rPr>
                        <a:t>为主）</a:t>
                      </a:r>
                      <a:endParaRPr lang="zh-CN" altLang="en-US" sz="900" b="1" i="0" u="none" strike="noStrike" dirty="0">
                        <a:solidFill>
                          <a:srgbClr val="B1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 dirty="0">
                          <a:effectLst/>
                        </a:rPr>
                        <a:t>4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</a:rPr>
                        <a:t>11944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</a:rPr>
                        <a:t>10439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 dirty="0">
                          <a:effectLst/>
                        </a:rPr>
                        <a:t>210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u="none" strike="noStrike">
                          <a:effectLst/>
                        </a:rPr>
                        <a:t>极低可靠性（</a:t>
                      </a:r>
                      <a:r>
                        <a:rPr lang="en-US" altLang="zh-CN" sz="800" u="none" strike="noStrike">
                          <a:effectLst/>
                        </a:rPr>
                        <a:t>1-4</a:t>
                      </a:r>
                      <a:r>
                        <a:rPr lang="zh-CN" altLang="en-US" sz="800" u="none" strike="noStrike">
                          <a:effectLst/>
                        </a:rPr>
                        <a:t>样本）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★★★☆☆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 dirty="0">
                          <a:effectLst/>
                        </a:rPr>
                        <a:t>作为过来人，想给学弟学妹的</a:t>
                      </a:r>
                      <a:r>
                        <a:rPr lang="en-US" altLang="zh-CN" sz="900" u="none" strike="noStrike" dirty="0">
                          <a:effectLst/>
                        </a:rPr>
                        <a:t>5</a:t>
                      </a:r>
                      <a:r>
                        <a:rPr lang="zh-CN" altLang="en-US" sz="900" u="none" strike="noStrike" dirty="0">
                          <a:effectLst/>
                        </a:rPr>
                        <a:t>个大学建议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200" y="409575"/>
            <a:ext cx="74930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altLang="zh-CN" sz="4800" b="1" dirty="0">
                <a:solidFill>
                  <a:srgbClr val="2C2C2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04 </a:t>
            </a:r>
            <a:r>
              <a:rPr lang="zh-CN" altLang="en-US" sz="4800" b="1" dirty="0">
                <a:solidFill>
                  <a:srgbClr val="2C2C2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高效策略组合</a:t>
            </a:r>
            <a:endParaRPr lang="zh-CN" altLang="en-US" sz="4800" b="1" dirty="0">
              <a:solidFill>
                <a:srgbClr val="2C2C2C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30200" y="2387600"/>
            <a:ext cx="3594100" cy="711200"/>
          </a:xfrm>
          <a:prstGeom prst="rect">
            <a:avLst/>
          </a:prstGeom>
          <a:noFill/>
        </p:spPr>
        <p:txBody>
          <a:bodyPr wrap="square" lIns="203200" tIns="203200" rIns="203200" bIns="20320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74120" y="2387600"/>
            <a:ext cx="3492500" cy="711200"/>
          </a:xfrm>
          <a:custGeom>
            <a:avLst/>
            <a:gdLst/>
            <a:ahLst/>
            <a:cxnLst/>
            <a:rect l="l" t="t" r="r" b="b"/>
            <a:pathLst>
              <a:path w="3492500" h="711200">
                <a:moveTo>
                  <a:pt x="101602" y="0"/>
                </a:moveTo>
                <a:lnTo>
                  <a:pt x="3390898" y="0"/>
                </a:lnTo>
                <a:cubicBezTo>
                  <a:pt x="3447011" y="0"/>
                  <a:pt x="3492500" y="45489"/>
                  <a:pt x="3492500" y="101602"/>
                </a:cubicBezTo>
                <a:lnTo>
                  <a:pt x="3492500" y="609598"/>
                </a:lnTo>
                <a:cubicBezTo>
                  <a:pt x="3492500" y="665711"/>
                  <a:pt x="3447011" y="711200"/>
                  <a:pt x="33908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4023320" y="2387600"/>
            <a:ext cx="3594100" cy="711200"/>
          </a:xfrm>
          <a:prstGeom prst="rect">
            <a:avLst/>
          </a:prstGeom>
          <a:noFill/>
        </p:spPr>
        <p:txBody>
          <a:bodyPr wrap="square" lIns="203200" tIns="203200" rIns="203200" bIns="20320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1000" y="3302000"/>
            <a:ext cx="3492500" cy="711200"/>
          </a:xfrm>
          <a:custGeom>
            <a:avLst/>
            <a:gdLst/>
            <a:ahLst/>
            <a:cxnLst/>
            <a:rect l="l" t="t" r="r" b="b"/>
            <a:pathLst>
              <a:path w="3492500" h="711200">
                <a:moveTo>
                  <a:pt x="101602" y="0"/>
                </a:moveTo>
                <a:lnTo>
                  <a:pt x="3390898" y="0"/>
                </a:lnTo>
                <a:cubicBezTo>
                  <a:pt x="3447011" y="0"/>
                  <a:pt x="3492500" y="45489"/>
                  <a:pt x="3492500" y="101602"/>
                </a:cubicBezTo>
                <a:lnTo>
                  <a:pt x="3492500" y="609598"/>
                </a:lnTo>
                <a:cubicBezTo>
                  <a:pt x="3492500" y="665711"/>
                  <a:pt x="3447011" y="711200"/>
                  <a:pt x="33908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330200" y="3302000"/>
            <a:ext cx="3594100" cy="711200"/>
          </a:xfrm>
          <a:prstGeom prst="rect">
            <a:avLst/>
          </a:prstGeom>
          <a:noFill/>
        </p:spPr>
        <p:txBody>
          <a:bodyPr wrap="square" lIns="203200" tIns="203200" rIns="203200" bIns="20320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74120" y="3302000"/>
            <a:ext cx="3492500" cy="711200"/>
          </a:xfrm>
          <a:custGeom>
            <a:avLst/>
            <a:gdLst/>
            <a:ahLst/>
            <a:cxnLst/>
            <a:rect l="l" t="t" r="r" b="b"/>
            <a:pathLst>
              <a:path w="3492500" h="711200">
                <a:moveTo>
                  <a:pt x="101602" y="0"/>
                </a:moveTo>
                <a:lnTo>
                  <a:pt x="3390898" y="0"/>
                </a:lnTo>
                <a:cubicBezTo>
                  <a:pt x="3447011" y="0"/>
                  <a:pt x="3492500" y="45489"/>
                  <a:pt x="3492500" y="101602"/>
                </a:cubicBezTo>
                <a:lnTo>
                  <a:pt x="3492500" y="609598"/>
                </a:lnTo>
                <a:cubicBezTo>
                  <a:pt x="3492500" y="665711"/>
                  <a:pt x="3447011" y="711200"/>
                  <a:pt x="33908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023320" y="3302000"/>
            <a:ext cx="3594100" cy="711200"/>
          </a:xfrm>
          <a:prstGeom prst="rect">
            <a:avLst/>
          </a:prstGeom>
          <a:noFill/>
        </p:spPr>
        <p:txBody>
          <a:bodyPr wrap="square" lIns="203200" tIns="203200" rIns="203200" bIns="20320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734800" y="34470"/>
            <a:ext cx="1269999" cy="565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2400" b="1" dirty="0">
                <a:solidFill>
                  <a:schemeClr val="bg1">
                    <a:lumMod val="6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交叉</a:t>
            </a:r>
            <a:r>
              <a:rPr lang="en-US" sz="2400" b="1" dirty="0" err="1">
                <a:solidFill>
                  <a:schemeClr val="bg1">
                    <a:lumMod val="6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分析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617857" y="1543456"/>
            <a:ext cx="4071257" cy="526324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 fontAlgn="auto">
              <a:lnSpc>
                <a:spcPct val="130000"/>
              </a:lnSpc>
            </a:pPr>
            <a:r>
              <a:rPr lang="zh-CN" altLang="en-US" sz="2000" b="1" i="0" dirty="0">
                <a:solidFill>
                  <a:srgbClr val="C00000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数据清晰揭示出三条黄金法则：</a:t>
            </a:r>
            <a:endParaRPr lang="en-US" altLang="zh-CN" sz="2000" b="1" i="0" dirty="0">
              <a:solidFill>
                <a:srgbClr val="C00000"/>
              </a:solidFill>
              <a:effectLst/>
              <a:latin typeface="华文中宋" panose="02010600040101010101" charset="-122"/>
              <a:ea typeface="华文中宋" panose="02010600040101010101" charset="-122"/>
            </a:endParaRPr>
          </a:p>
          <a:p>
            <a:pPr marL="457200" indent="-457200" algn="just" fontAlgn="auto">
              <a:lnSpc>
                <a:spcPct val="130000"/>
              </a:lnSpc>
              <a:buAutoNum type="arabicPeriod"/>
            </a:pPr>
            <a:r>
              <a:rPr lang="zh-CN" altLang="en-US" sz="2000" i="0" dirty="0">
                <a:solidFill>
                  <a:srgbClr val="0F1115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追求</a:t>
            </a:r>
            <a:r>
              <a:rPr lang="zh-CN" altLang="en-US" sz="2000" b="1" i="0" dirty="0">
                <a:solidFill>
                  <a:srgbClr val="C00000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曝光与传播</a:t>
            </a:r>
            <a:r>
              <a:rPr lang="zh-CN" altLang="en-US" sz="2000" i="0" dirty="0">
                <a:solidFill>
                  <a:srgbClr val="0F1115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，应选用面向</a:t>
            </a:r>
            <a:r>
              <a:rPr lang="zh-CN" altLang="en-US" sz="2000" b="1" i="0" dirty="0">
                <a:solidFill>
                  <a:srgbClr val="C00000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通用需求</a:t>
            </a:r>
            <a:r>
              <a:rPr lang="zh-CN" altLang="en-US" sz="2000" i="0" dirty="0">
                <a:solidFill>
                  <a:srgbClr val="0F1115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的</a:t>
            </a:r>
            <a:r>
              <a:rPr lang="zh-CN" altLang="en-US" sz="2000" b="1" i="0" dirty="0">
                <a:solidFill>
                  <a:srgbClr val="0F1115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“传播型策略</a:t>
            </a:r>
            <a:r>
              <a:rPr lang="en-US" altLang="zh-CN" sz="2000" b="1" i="0" dirty="0">
                <a:solidFill>
                  <a:srgbClr val="0F1115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B”</a:t>
            </a:r>
            <a:r>
              <a:rPr lang="zh-CN" altLang="en-US" sz="2000" i="0" dirty="0">
                <a:solidFill>
                  <a:srgbClr val="C00000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（平均点赞</a:t>
            </a:r>
            <a:r>
              <a:rPr lang="en-US" altLang="zh-CN" sz="2000" i="0" dirty="0">
                <a:solidFill>
                  <a:srgbClr val="C00000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4786</a:t>
            </a:r>
            <a:r>
              <a:rPr lang="zh-CN" altLang="en-US" sz="2000" i="0" dirty="0">
                <a:solidFill>
                  <a:srgbClr val="C00000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）</a:t>
            </a:r>
            <a:r>
              <a:rPr lang="zh-CN" altLang="en-US" sz="2000" i="0" dirty="0">
                <a:solidFill>
                  <a:srgbClr val="0F1115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；</a:t>
            </a:r>
            <a:endParaRPr lang="en-US" altLang="zh-CN" sz="2000" i="0" dirty="0">
              <a:solidFill>
                <a:srgbClr val="0F1115"/>
              </a:solidFill>
              <a:effectLst/>
              <a:latin typeface="华文中宋" panose="02010600040101010101" charset="-122"/>
              <a:ea typeface="华文中宋" panose="02010600040101010101" charset="-122"/>
            </a:endParaRPr>
          </a:p>
          <a:p>
            <a:pPr marL="457200" indent="-457200" algn="just" fontAlgn="auto">
              <a:lnSpc>
                <a:spcPct val="130000"/>
              </a:lnSpc>
              <a:buAutoNum type="arabicPeriod"/>
            </a:pPr>
            <a:r>
              <a:rPr lang="zh-CN" altLang="en-US" sz="2000" i="0" dirty="0">
                <a:solidFill>
                  <a:srgbClr val="0F1115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若目标是建立</a:t>
            </a:r>
            <a:r>
              <a:rPr lang="zh-CN" altLang="en-US" sz="2000" b="1" i="0" dirty="0">
                <a:solidFill>
                  <a:srgbClr val="C00000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深度信任与长效价值</a:t>
            </a:r>
            <a:r>
              <a:rPr lang="zh-CN" altLang="en-US" sz="2000" i="0" dirty="0">
                <a:solidFill>
                  <a:srgbClr val="0F1115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，则</a:t>
            </a:r>
            <a:r>
              <a:rPr lang="zh-CN" altLang="en-US" sz="2000" b="1" i="0" dirty="0">
                <a:solidFill>
                  <a:srgbClr val="0F1115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“信任型策略</a:t>
            </a:r>
            <a:r>
              <a:rPr lang="en-US" altLang="zh-CN" sz="2000" b="1" i="0" dirty="0">
                <a:solidFill>
                  <a:srgbClr val="0F1115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C”</a:t>
            </a:r>
            <a:r>
              <a:rPr lang="zh-CN" altLang="en-US" sz="2000" i="0" dirty="0">
                <a:solidFill>
                  <a:srgbClr val="C00000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（高收藏数</a:t>
            </a:r>
            <a:r>
              <a:rPr lang="en-US" altLang="zh-CN" sz="2000" i="0" dirty="0">
                <a:solidFill>
                  <a:srgbClr val="C00000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3777</a:t>
            </a:r>
            <a:r>
              <a:rPr lang="zh-CN" altLang="en-US" sz="2000" i="0" dirty="0">
                <a:solidFill>
                  <a:srgbClr val="C00000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）</a:t>
            </a:r>
            <a:r>
              <a:rPr lang="zh-CN" altLang="en-US" sz="2000" i="0" dirty="0">
                <a:solidFill>
                  <a:srgbClr val="0F1115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与</a:t>
            </a:r>
            <a:r>
              <a:rPr lang="zh-CN" altLang="en-US" sz="2000" b="1" i="0" dirty="0">
                <a:solidFill>
                  <a:srgbClr val="0F1115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“收藏型策略</a:t>
            </a:r>
            <a:r>
              <a:rPr lang="en-US" altLang="zh-CN" sz="2000" b="1" i="0" dirty="0">
                <a:solidFill>
                  <a:srgbClr val="0F1115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F”</a:t>
            </a:r>
            <a:r>
              <a:rPr lang="zh-CN" altLang="en-US" sz="2000" i="0" dirty="0">
                <a:solidFill>
                  <a:srgbClr val="C00000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（收藏</a:t>
            </a:r>
            <a:r>
              <a:rPr lang="en-US" altLang="zh-CN" sz="2000" i="0" dirty="0">
                <a:solidFill>
                  <a:srgbClr val="C00000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/</a:t>
            </a:r>
            <a:r>
              <a:rPr lang="zh-CN" altLang="en-US" sz="2000" i="0" dirty="0">
                <a:solidFill>
                  <a:srgbClr val="C00000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点赞比</a:t>
            </a:r>
            <a:r>
              <a:rPr lang="en-US" altLang="zh-CN" sz="2000" i="0" dirty="0">
                <a:solidFill>
                  <a:srgbClr val="C00000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&gt;1.5</a:t>
            </a:r>
            <a:r>
              <a:rPr lang="zh-CN" altLang="en-US" sz="2000" i="0" dirty="0">
                <a:solidFill>
                  <a:srgbClr val="C00000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）</a:t>
            </a:r>
            <a:r>
              <a:rPr lang="zh-CN" altLang="en-US" sz="2000" i="0" dirty="0">
                <a:solidFill>
                  <a:srgbClr val="0F1115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效果显著；</a:t>
            </a:r>
            <a:endParaRPr lang="en-US" altLang="zh-CN" sz="2000" i="0" dirty="0">
              <a:solidFill>
                <a:srgbClr val="0F1115"/>
              </a:solidFill>
              <a:effectLst/>
              <a:latin typeface="华文中宋" panose="02010600040101010101" charset="-122"/>
              <a:ea typeface="华文中宋" panose="02010600040101010101" charset="-122"/>
            </a:endParaRPr>
          </a:p>
          <a:p>
            <a:pPr marL="457200" indent="-457200" algn="just" fontAlgn="auto">
              <a:lnSpc>
                <a:spcPct val="130000"/>
              </a:lnSpc>
              <a:buAutoNum type="arabicPeriod"/>
            </a:pPr>
            <a:r>
              <a:rPr lang="zh-CN" altLang="en-US" sz="2000" i="0" dirty="0">
                <a:solidFill>
                  <a:srgbClr val="0F1115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而对于</a:t>
            </a:r>
            <a:r>
              <a:rPr lang="zh-CN" altLang="en-US" sz="2000" b="1" i="0" dirty="0">
                <a:solidFill>
                  <a:srgbClr val="C00000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激发社区活跃与情感共鸣</a:t>
            </a:r>
            <a:r>
              <a:rPr lang="zh-CN" altLang="en-US" sz="2000" i="0" dirty="0">
                <a:solidFill>
                  <a:srgbClr val="0F1115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，</a:t>
            </a:r>
            <a:r>
              <a:rPr lang="zh-CN" altLang="en-US" sz="2000" b="1" i="0" dirty="0">
                <a:solidFill>
                  <a:srgbClr val="0F1115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“共鸣型策略</a:t>
            </a:r>
            <a:r>
              <a:rPr lang="en-US" altLang="zh-CN" sz="2000" b="1" i="0" dirty="0">
                <a:solidFill>
                  <a:srgbClr val="0F1115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G”</a:t>
            </a:r>
            <a:r>
              <a:rPr lang="zh-CN" altLang="en-US" sz="2000" i="0" dirty="0">
                <a:solidFill>
                  <a:srgbClr val="C00000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（平均评论</a:t>
            </a:r>
            <a:r>
              <a:rPr lang="en-US" altLang="zh-CN" sz="2000" i="0" dirty="0">
                <a:solidFill>
                  <a:srgbClr val="C00000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529</a:t>
            </a:r>
            <a:r>
              <a:rPr lang="zh-CN" altLang="en-US" sz="2000" i="0" dirty="0">
                <a:solidFill>
                  <a:srgbClr val="C00000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，互动率</a:t>
            </a:r>
            <a:r>
              <a:rPr lang="en-US" altLang="zh-CN" sz="2000" i="0" dirty="0">
                <a:solidFill>
                  <a:srgbClr val="C00000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26.93%</a:t>
            </a:r>
            <a:r>
              <a:rPr lang="zh-CN" altLang="en-US" sz="2000" i="0" dirty="0">
                <a:solidFill>
                  <a:srgbClr val="C00000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）</a:t>
            </a:r>
            <a:r>
              <a:rPr lang="zh-CN" altLang="en-US" sz="2000" i="0" dirty="0">
                <a:solidFill>
                  <a:srgbClr val="0F1115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则是毋庸置疑的最优解。</a:t>
            </a:r>
            <a:endParaRPr lang="zh-CN" altLang="en-US" sz="2000" spc="-1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810539" y="232909"/>
            <a:ext cx="6815403" cy="84228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r" fontAlgn="auto">
              <a:lnSpc>
                <a:spcPct val="130000"/>
              </a:lnSpc>
            </a:pPr>
            <a:r>
              <a:rPr lang="zh-CN" altLang="en-US" b="0" i="0" spc="-100" dirty="0">
                <a:solidFill>
                  <a:srgbClr val="0F1115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基于对八大策略数据的交叉分析，我们得出核心结论：</a:t>
            </a:r>
            <a:r>
              <a:rPr lang="zh-CN" altLang="en-US" b="1" i="0" spc="-100" dirty="0">
                <a:solidFill>
                  <a:srgbClr val="0F1115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内容策略的成功并非追求单一指标的极致，而在于精准匹配“受众意图</a:t>
            </a:r>
            <a:r>
              <a:rPr lang="en-US" altLang="zh-CN" b="1" i="0" spc="-100" dirty="0">
                <a:solidFill>
                  <a:srgbClr val="0F1115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-</a:t>
            </a:r>
            <a:r>
              <a:rPr lang="zh-CN" altLang="en-US" b="1" i="0" spc="-100" dirty="0">
                <a:solidFill>
                  <a:srgbClr val="0F1115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内容类型</a:t>
            </a:r>
            <a:r>
              <a:rPr lang="en-US" altLang="zh-CN" b="1" i="0" spc="-100" dirty="0">
                <a:solidFill>
                  <a:srgbClr val="0F1115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-</a:t>
            </a:r>
            <a:r>
              <a:rPr lang="zh-CN" altLang="en-US" b="1" i="0" spc="-100" dirty="0">
                <a:solidFill>
                  <a:srgbClr val="0F1115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平台互动特性”的三重逻辑。</a:t>
            </a:r>
            <a:r>
              <a:rPr lang="zh-CN" altLang="en-US" b="0" i="0" spc="-100" dirty="0">
                <a:solidFill>
                  <a:srgbClr val="0F1115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 </a:t>
            </a:r>
            <a:endParaRPr lang="en-US" altLang="zh-CN" b="0" i="0" spc="-100" dirty="0">
              <a:solidFill>
                <a:srgbClr val="0F1115"/>
              </a:solidFill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18" name="图片 17" descr="图表&#10;&#10;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686" y="1195841"/>
            <a:ext cx="8171543" cy="592145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200" y="409575"/>
            <a:ext cx="74930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altLang="zh-CN" sz="4800" b="1" dirty="0">
                <a:solidFill>
                  <a:srgbClr val="2C2C2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04 </a:t>
            </a:r>
            <a:r>
              <a:rPr lang="zh-CN" altLang="en-US" sz="4800" b="1" dirty="0">
                <a:solidFill>
                  <a:srgbClr val="2C2C2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高效策略</a:t>
            </a:r>
            <a:r>
              <a:rPr lang="zh-CN" altLang="en-US" sz="4800" b="1" dirty="0">
                <a:solidFill>
                  <a:srgbClr val="2C2C2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组合</a:t>
            </a:r>
            <a:endParaRPr lang="zh-CN" altLang="en-US" sz="4800" b="1" dirty="0">
              <a:solidFill>
                <a:srgbClr val="2C2C2C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074120" y="2387600"/>
            <a:ext cx="3492500" cy="711200"/>
          </a:xfrm>
          <a:custGeom>
            <a:avLst/>
            <a:gdLst/>
            <a:ahLst/>
            <a:cxnLst/>
            <a:rect l="l" t="t" r="r" b="b"/>
            <a:pathLst>
              <a:path w="3492500" h="711200">
                <a:moveTo>
                  <a:pt x="101602" y="0"/>
                </a:moveTo>
                <a:lnTo>
                  <a:pt x="3390898" y="0"/>
                </a:lnTo>
                <a:cubicBezTo>
                  <a:pt x="3447011" y="0"/>
                  <a:pt x="3492500" y="45489"/>
                  <a:pt x="3492500" y="101602"/>
                </a:cubicBezTo>
                <a:lnTo>
                  <a:pt x="3492500" y="609598"/>
                </a:lnTo>
                <a:cubicBezTo>
                  <a:pt x="3492500" y="665711"/>
                  <a:pt x="3447011" y="711200"/>
                  <a:pt x="33908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4023320" y="2387600"/>
            <a:ext cx="3594100" cy="711200"/>
          </a:xfrm>
          <a:prstGeom prst="rect">
            <a:avLst/>
          </a:prstGeom>
          <a:noFill/>
        </p:spPr>
        <p:txBody>
          <a:bodyPr wrap="square" lIns="203200" tIns="203200" rIns="203200" bIns="20320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1000" y="3302000"/>
            <a:ext cx="3492500" cy="711200"/>
          </a:xfrm>
          <a:custGeom>
            <a:avLst/>
            <a:gdLst/>
            <a:ahLst/>
            <a:cxnLst/>
            <a:rect l="l" t="t" r="r" b="b"/>
            <a:pathLst>
              <a:path w="3492500" h="711200">
                <a:moveTo>
                  <a:pt x="101602" y="0"/>
                </a:moveTo>
                <a:lnTo>
                  <a:pt x="3390898" y="0"/>
                </a:lnTo>
                <a:cubicBezTo>
                  <a:pt x="3447011" y="0"/>
                  <a:pt x="3492500" y="45489"/>
                  <a:pt x="3492500" y="101602"/>
                </a:cubicBezTo>
                <a:lnTo>
                  <a:pt x="3492500" y="609598"/>
                </a:lnTo>
                <a:cubicBezTo>
                  <a:pt x="3492500" y="665711"/>
                  <a:pt x="3447011" y="711200"/>
                  <a:pt x="33908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330200" y="3302000"/>
            <a:ext cx="3594100" cy="711200"/>
          </a:xfrm>
          <a:prstGeom prst="rect">
            <a:avLst/>
          </a:prstGeom>
          <a:noFill/>
        </p:spPr>
        <p:txBody>
          <a:bodyPr wrap="square" lIns="203200" tIns="203200" rIns="203200" bIns="20320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74120" y="3302000"/>
            <a:ext cx="3492500" cy="711200"/>
          </a:xfrm>
          <a:custGeom>
            <a:avLst/>
            <a:gdLst/>
            <a:ahLst/>
            <a:cxnLst/>
            <a:rect l="l" t="t" r="r" b="b"/>
            <a:pathLst>
              <a:path w="3492500" h="711200">
                <a:moveTo>
                  <a:pt x="101602" y="0"/>
                </a:moveTo>
                <a:lnTo>
                  <a:pt x="3390898" y="0"/>
                </a:lnTo>
                <a:cubicBezTo>
                  <a:pt x="3447011" y="0"/>
                  <a:pt x="3492500" y="45489"/>
                  <a:pt x="3492500" y="101602"/>
                </a:cubicBezTo>
                <a:lnTo>
                  <a:pt x="3492500" y="609598"/>
                </a:lnTo>
                <a:cubicBezTo>
                  <a:pt x="3492500" y="665711"/>
                  <a:pt x="3447011" y="711200"/>
                  <a:pt x="33908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023320" y="3302000"/>
            <a:ext cx="3594100" cy="711200"/>
          </a:xfrm>
          <a:prstGeom prst="rect">
            <a:avLst/>
          </a:prstGeom>
          <a:noFill/>
        </p:spPr>
        <p:txBody>
          <a:bodyPr wrap="square" lIns="203200" tIns="203200" rIns="203200" bIns="20320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4" name="文本框 3"/>
          <p:cNvSpPr txBox="1"/>
          <p:nvPr/>
        </p:nvSpPr>
        <p:spPr>
          <a:xfrm>
            <a:off x="5617029" y="401321"/>
            <a:ext cx="6890656" cy="91594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2000" b="1" dirty="0">
                <a:solidFill>
                  <a:srgbClr val="0F1115"/>
                </a:solidFill>
                <a:latin typeface="华文中宋" panose="02010600040101010101" charset="-122"/>
                <a:ea typeface="华文中宋" panose="02010600040101010101" charset="-122"/>
              </a:rPr>
              <a:t>由此</a:t>
            </a:r>
            <a:r>
              <a:rPr lang="zh-CN" altLang="en-US" sz="2000" b="1" i="0" dirty="0">
                <a:solidFill>
                  <a:srgbClr val="0F1115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，我们识别出三类经数据验证的最高效语言策略组合，其核心逻辑在于“策略维度与内容目标的精准校准”：</a:t>
            </a:r>
            <a:endParaRPr lang="zh-CN" altLang="en-US" sz="20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19348" y="1151618"/>
            <a:ext cx="6475366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 dirty="0">
                <a:solidFill>
                  <a:srgbClr val="B10000"/>
                </a:solidFill>
                <a:latin typeface="华文中宋" panose="02010600040101010101" charset="-122"/>
                <a:ea typeface="华文中宋" panose="02010600040101010101" charset="-122"/>
                <a:cs typeface="等线" panose="02010600030101010101" pitchFamily="2" charset="-122"/>
              </a:rPr>
              <a:t>“受众意图</a:t>
            </a:r>
            <a:r>
              <a:rPr lang="en-US" altLang="zh-CN" sz="2000" b="1" dirty="0">
                <a:solidFill>
                  <a:srgbClr val="B10000"/>
                </a:solidFill>
                <a:latin typeface="华文中宋" panose="02010600040101010101" charset="-122"/>
                <a:ea typeface="华文中宋" panose="02010600040101010101" charset="-122"/>
                <a:cs typeface="等线" panose="02010600030101010101" pitchFamily="2" charset="-122"/>
              </a:rPr>
              <a:t>-</a:t>
            </a:r>
            <a:r>
              <a:rPr lang="zh-CN" altLang="en-US" sz="2000" b="1" dirty="0">
                <a:solidFill>
                  <a:srgbClr val="B10000"/>
                </a:solidFill>
                <a:latin typeface="华文中宋" panose="02010600040101010101" charset="-122"/>
                <a:ea typeface="华文中宋" panose="02010600040101010101" charset="-122"/>
                <a:cs typeface="等线" panose="02010600030101010101" pitchFamily="2" charset="-122"/>
              </a:rPr>
              <a:t>内容类型</a:t>
            </a:r>
            <a:r>
              <a:rPr lang="en-US" altLang="zh-CN" sz="2000" b="1" dirty="0">
                <a:solidFill>
                  <a:srgbClr val="B10000"/>
                </a:solidFill>
                <a:latin typeface="华文中宋" panose="02010600040101010101" charset="-122"/>
                <a:ea typeface="华文中宋" panose="02010600040101010101" charset="-122"/>
                <a:cs typeface="等线" panose="02010600030101010101" pitchFamily="2" charset="-122"/>
              </a:rPr>
              <a:t>-</a:t>
            </a:r>
            <a:r>
              <a:rPr lang="zh-CN" altLang="en-US" sz="2000" b="1" dirty="0">
                <a:solidFill>
                  <a:srgbClr val="B10000"/>
                </a:solidFill>
                <a:latin typeface="华文中宋" panose="02010600040101010101" charset="-122"/>
                <a:ea typeface="华文中宋" panose="02010600040101010101" charset="-122"/>
                <a:cs typeface="等线" panose="02010600030101010101" pitchFamily="2" charset="-122"/>
              </a:rPr>
              <a:t>平台互动特性” 三重逻辑</a:t>
            </a:r>
            <a:endParaRPr lang="zh-CN" altLang="en-US" sz="2000" b="1" dirty="0">
              <a:solidFill>
                <a:srgbClr val="B10000"/>
              </a:solidFill>
              <a:latin typeface="华文中宋" panose="02010600040101010101" charset="-122"/>
              <a:ea typeface="华文中宋" panose="02010600040101010101" charset="-122"/>
              <a:cs typeface="等线" panose="02010600030101010101" pitchFamily="2" charset="-122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867230" y="1863725"/>
          <a:ext cx="10911113" cy="3537857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379028"/>
                <a:gridCol w="1924456"/>
                <a:gridCol w="4343400"/>
                <a:gridCol w="2264229"/>
              </a:tblGrid>
              <a:tr h="47694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effectLst/>
                        </a:rPr>
                        <a:t>核心目标</a:t>
                      </a:r>
                      <a:endParaRPr lang="zh-CN" altLang="en-US" sz="2000" b="1" dirty="0">
                        <a:effectLst/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effectLst/>
                        </a:rPr>
                        <a:t>推荐策略</a:t>
                      </a:r>
                      <a:endParaRPr lang="zh-CN" altLang="en-US" sz="2000" b="1" dirty="0">
                        <a:effectLst/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effectLst/>
                        </a:rPr>
                        <a:t>关键操作化组合</a:t>
                      </a:r>
                      <a:endParaRPr lang="zh-CN" altLang="en-US" sz="2000" b="1" dirty="0">
                        <a:effectLst/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effectLst/>
                        </a:rPr>
                        <a:t>数据验证</a:t>
                      </a:r>
                      <a:endParaRPr lang="zh-CN" altLang="en-US" sz="2000" b="1" dirty="0">
                        <a:effectLst/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</a:txBody>
                  <a:tcPr marL="101600" marR="101600" marT="63500" marB="63500" anchor="ctr"/>
                </a:tc>
              </a:tr>
              <a:tr h="802961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effectLst/>
                        </a:rPr>
                        <a:t>追求曝光与传播</a:t>
                      </a:r>
                      <a:endParaRPr lang="zh-CN" altLang="en-US" b="0" dirty="0">
                        <a:effectLst/>
                        <a:latin typeface="新宋体" panose="02010609030101010101" pitchFamily="49" charset="-122"/>
                        <a:ea typeface="新宋体" panose="02010609030101010101" pitchFamily="49" charset="-122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effectLst/>
                        </a:rPr>
                        <a:t>传播型策略</a:t>
                      </a:r>
                      <a:r>
                        <a:rPr lang="en-GB" b="1" dirty="0">
                          <a:effectLst/>
                        </a:rPr>
                        <a:t>B</a:t>
                      </a:r>
                      <a:endParaRPr lang="en-GB" b="0" dirty="0">
                        <a:effectLst/>
                        <a:latin typeface="新宋体" panose="02010609030101010101" pitchFamily="49" charset="-122"/>
                        <a:ea typeface="新宋体" panose="02010609030101010101" pitchFamily="49" charset="-122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C00000"/>
                          </a:solidFill>
                          <a:effectLst/>
                        </a:rPr>
                        <a:t>无身份 </a:t>
                      </a:r>
                      <a:r>
                        <a:rPr lang="en-US" altLang="zh-CN" b="1" dirty="0">
                          <a:solidFill>
                            <a:srgbClr val="C00000"/>
                          </a:solidFill>
                          <a:effectLst/>
                        </a:rPr>
                        <a:t>+ L4</a:t>
                      </a:r>
                      <a:r>
                        <a:rPr lang="zh-CN" altLang="en-US" b="1" dirty="0">
                          <a:solidFill>
                            <a:srgbClr val="C00000"/>
                          </a:solidFill>
                          <a:effectLst/>
                        </a:rPr>
                        <a:t>纯观点 </a:t>
                      </a:r>
                      <a:r>
                        <a:rPr lang="en-US" altLang="zh-CN" b="1" dirty="0">
                          <a:solidFill>
                            <a:srgbClr val="C00000"/>
                          </a:solidFill>
                          <a:effectLst/>
                        </a:rPr>
                        <a:t>+ </a:t>
                      </a:r>
                      <a:r>
                        <a:rPr lang="zh-CN" altLang="en-US" b="1" dirty="0">
                          <a:solidFill>
                            <a:srgbClr val="C00000"/>
                          </a:solidFill>
                          <a:effectLst/>
                        </a:rPr>
                        <a:t>混合型人称</a:t>
                      </a:r>
                      <a:endParaRPr lang="zh-CN" altLang="en-US" b="1" dirty="0">
                        <a:solidFill>
                          <a:srgbClr val="C00000"/>
                        </a:solidFill>
                        <a:effectLst/>
                        <a:latin typeface="新宋体" panose="02010609030101010101" pitchFamily="49" charset="-122"/>
                        <a:ea typeface="新宋体" panose="02010609030101010101" pitchFamily="49" charset="-122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effectLst/>
                        </a:rPr>
                        <a:t>平均点赞</a:t>
                      </a:r>
                      <a:r>
                        <a:rPr lang="en-US" altLang="zh-CN" b="1" dirty="0">
                          <a:effectLst/>
                        </a:rPr>
                        <a:t>4786</a:t>
                      </a:r>
                      <a:r>
                        <a:rPr lang="zh-CN" altLang="en-US" b="0" dirty="0">
                          <a:effectLst/>
                        </a:rPr>
                        <a:t>，互动率</a:t>
                      </a:r>
                      <a:r>
                        <a:rPr lang="en-US" altLang="zh-CN" b="1" dirty="0">
                          <a:effectLst/>
                        </a:rPr>
                        <a:t>6.79%</a:t>
                      </a:r>
                      <a:endParaRPr lang="zh-CN" altLang="en-US" b="0" dirty="0">
                        <a:effectLst/>
                        <a:latin typeface="新宋体" panose="02010609030101010101" pitchFamily="49" charset="-122"/>
                        <a:ea typeface="新宋体" panose="02010609030101010101" pitchFamily="49" charset="-122"/>
                      </a:endParaRPr>
                    </a:p>
                  </a:txBody>
                  <a:tcPr marL="101600" marT="63500" marB="63500" anchor="ctr"/>
                </a:tc>
              </a:tr>
              <a:tr h="1454989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>
                          <a:effectLst/>
                        </a:rPr>
                        <a:t>建立信任与长效价值</a:t>
                      </a:r>
                      <a:endParaRPr lang="zh-CN" altLang="en-US" b="0">
                        <a:effectLst/>
                        <a:latin typeface="新宋体" panose="02010609030101010101" pitchFamily="49" charset="-122"/>
                        <a:ea typeface="新宋体" panose="02010609030101010101" pitchFamily="49" charset="-122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effectLst/>
                        </a:rPr>
                        <a:t>信任型策略</a:t>
                      </a:r>
                      <a:r>
                        <a:rPr lang="en-GB" b="1" dirty="0">
                          <a:effectLst/>
                        </a:rPr>
                        <a:t>C</a:t>
                      </a:r>
                      <a:br>
                        <a:rPr lang="en-GB" b="0" dirty="0">
                          <a:effectLst/>
                        </a:rPr>
                      </a:br>
                      <a:r>
                        <a:rPr lang="zh-CN" altLang="en-US" b="1" dirty="0">
                          <a:effectLst/>
                        </a:rPr>
                        <a:t>收藏型策略</a:t>
                      </a:r>
                      <a:r>
                        <a:rPr lang="en-GB" b="1" dirty="0">
                          <a:effectLst/>
                        </a:rPr>
                        <a:t>F</a:t>
                      </a:r>
                      <a:endParaRPr lang="en-GB" b="0" dirty="0">
                        <a:effectLst/>
                        <a:latin typeface="新宋体" panose="02010609030101010101" pitchFamily="49" charset="-122"/>
                        <a:ea typeface="新宋体" panose="02010609030101010101" pitchFamily="49" charset="-122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C00000"/>
                          </a:solidFill>
                          <a:effectLst/>
                        </a:rPr>
                        <a:t>泛称身份 </a:t>
                      </a:r>
                      <a:r>
                        <a:rPr lang="en-US" altLang="zh-CN" b="1" dirty="0">
                          <a:solidFill>
                            <a:srgbClr val="C00000"/>
                          </a:solidFill>
                          <a:effectLst/>
                        </a:rPr>
                        <a:t>+ L3</a:t>
                      </a:r>
                      <a:r>
                        <a:rPr lang="zh-CN" altLang="en-US" b="1" dirty="0">
                          <a:solidFill>
                            <a:srgbClr val="C00000"/>
                          </a:solidFill>
                          <a:effectLst/>
                        </a:rPr>
                        <a:t>引用证据 </a:t>
                      </a:r>
                      <a:r>
                        <a:rPr lang="en-US" altLang="zh-CN" b="1" dirty="0">
                          <a:solidFill>
                            <a:srgbClr val="C00000"/>
                          </a:solidFill>
                          <a:effectLst/>
                        </a:rPr>
                        <a:t>+ </a:t>
                      </a:r>
                      <a:r>
                        <a:rPr lang="zh-CN" altLang="en-US" b="1" dirty="0">
                          <a:solidFill>
                            <a:srgbClr val="C00000"/>
                          </a:solidFill>
                          <a:effectLst/>
                        </a:rPr>
                        <a:t>分享型人称</a:t>
                      </a:r>
                      <a:br>
                        <a:rPr lang="zh-CN" altLang="en-US" b="1" dirty="0">
                          <a:solidFill>
                            <a:srgbClr val="C00000"/>
                          </a:solidFill>
                          <a:effectLst/>
                        </a:rPr>
                      </a:br>
                      <a:r>
                        <a:rPr lang="zh-CN" altLang="en-US" b="1" dirty="0">
                          <a:solidFill>
                            <a:srgbClr val="C00000"/>
                          </a:solidFill>
                          <a:effectLst/>
                        </a:rPr>
                        <a:t>具体身份 </a:t>
                      </a:r>
                      <a:r>
                        <a:rPr lang="en-US" altLang="zh-CN" b="1" dirty="0">
                          <a:solidFill>
                            <a:srgbClr val="C00000"/>
                          </a:solidFill>
                          <a:effectLst/>
                        </a:rPr>
                        <a:t>+ L1</a:t>
                      </a:r>
                      <a:r>
                        <a:rPr lang="zh-CN" altLang="en-US" b="1" dirty="0">
                          <a:solidFill>
                            <a:srgbClr val="C00000"/>
                          </a:solidFill>
                          <a:effectLst/>
                        </a:rPr>
                        <a:t>量化证据 </a:t>
                      </a:r>
                      <a:r>
                        <a:rPr lang="en-US" altLang="zh-CN" b="1" dirty="0">
                          <a:solidFill>
                            <a:srgbClr val="C00000"/>
                          </a:solidFill>
                          <a:effectLst/>
                        </a:rPr>
                        <a:t>+ </a:t>
                      </a:r>
                      <a:r>
                        <a:rPr lang="zh-CN" altLang="en-US" b="1" dirty="0">
                          <a:solidFill>
                            <a:srgbClr val="C00000"/>
                          </a:solidFill>
                          <a:effectLst/>
                        </a:rPr>
                        <a:t>指导型人称</a:t>
                      </a:r>
                      <a:endParaRPr lang="zh-CN" altLang="en-US" b="1" dirty="0">
                        <a:solidFill>
                          <a:srgbClr val="C00000"/>
                        </a:solidFill>
                        <a:effectLst/>
                        <a:latin typeface="新宋体" panose="02010609030101010101" pitchFamily="49" charset="-122"/>
                        <a:ea typeface="新宋体" panose="02010609030101010101" pitchFamily="49" charset="-122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>
                          <a:effectLst/>
                        </a:rPr>
                        <a:t>平均收藏</a:t>
                      </a:r>
                      <a:r>
                        <a:rPr lang="en-US" altLang="zh-CN" b="1">
                          <a:effectLst/>
                        </a:rPr>
                        <a:t>3777</a:t>
                      </a:r>
                      <a:br>
                        <a:rPr lang="zh-CN" altLang="en-US" b="0">
                          <a:effectLst/>
                        </a:rPr>
                      </a:br>
                      <a:r>
                        <a:rPr lang="zh-CN" altLang="en-US" b="0">
                          <a:effectLst/>
                        </a:rPr>
                        <a:t>收藏</a:t>
                      </a:r>
                      <a:r>
                        <a:rPr lang="en-US" altLang="zh-CN" b="0">
                          <a:effectLst/>
                        </a:rPr>
                        <a:t>/</a:t>
                      </a:r>
                      <a:r>
                        <a:rPr lang="zh-CN" altLang="en-US" b="0">
                          <a:effectLst/>
                        </a:rPr>
                        <a:t>点赞比 </a:t>
                      </a:r>
                      <a:r>
                        <a:rPr lang="en-US" altLang="zh-CN" b="1">
                          <a:effectLst/>
                        </a:rPr>
                        <a:t>&gt;1.5</a:t>
                      </a:r>
                      <a:endParaRPr lang="zh-CN" altLang="en-US" b="0">
                        <a:effectLst/>
                        <a:latin typeface="新宋体" panose="02010609030101010101" pitchFamily="49" charset="-122"/>
                        <a:ea typeface="新宋体" panose="02010609030101010101" pitchFamily="49" charset="-122"/>
                      </a:endParaRPr>
                    </a:p>
                  </a:txBody>
                  <a:tcPr marL="101600" marT="63500" marB="63500" anchor="ctr"/>
                </a:tc>
              </a:tr>
              <a:tr h="802961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effectLst/>
                        </a:rPr>
                        <a:t>激发社区活跃与共鸣</a:t>
                      </a:r>
                      <a:endParaRPr lang="zh-CN" altLang="en-US" b="0" dirty="0">
                        <a:effectLst/>
                        <a:latin typeface="新宋体" panose="02010609030101010101" pitchFamily="49" charset="-122"/>
                        <a:ea typeface="新宋体" panose="02010609030101010101" pitchFamily="49" charset="-122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effectLst/>
                        </a:rPr>
                        <a:t>共鸣型策略</a:t>
                      </a:r>
                      <a:r>
                        <a:rPr lang="en-GB" b="1" dirty="0">
                          <a:effectLst/>
                        </a:rPr>
                        <a:t>G</a:t>
                      </a:r>
                      <a:endParaRPr lang="en-GB" b="0" dirty="0">
                        <a:effectLst/>
                        <a:latin typeface="新宋体" panose="02010609030101010101" pitchFamily="49" charset="-122"/>
                        <a:ea typeface="新宋体" panose="02010609030101010101" pitchFamily="49" charset="-122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C00000"/>
                          </a:solidFill>
                          <a:effectLst/>
                        </a:rPr>
                        <a:t>无身份 </a:t>
                      </a:r>
                      <a:r>
                        <a:rPr lang="en-US" altLang="zh-CN" b="1" dirty="0">
                          <a:solidFill>
                            <a:srgbClr val="C00000"/>
                          </a:solidFill>
                          <a:effectLst/>
                        </a:rPr>
                        <a:t>+ L4</a:t>
                      </a:r>
                      <a:r>
                        <a:rPr lang="zh-CN" altLang="en-US" b="1" dirty="0">
                          <a:solidFill>
                            <a:srgbClr val="C00000"/>
                          </a:solidFill>
                          <a:effectLst/>
                        </a:rPr>
                        <a:t>纯观点 </a:t>
                      </a:r>
                      <a:r>
                        <a:rPr lang="en-US" altLang="zh-CN" b="1" dirty="0">
                          <a:solidFill>
                            <a:srgbClr val="C00000"/>
                          </a:solidFill>
                          <a:effectLst/>
                        </a:rPr>
                        <a:t>+ </a:t>
                      </a:r>
                      <a:r>
                        <a:rPr lang="zh-CN" altLang="en-US" b="1" dirty="0">
                          <a:solidFill>
                            <a:srgbClr val="C00000"/>
                          </a:solidFill>
                          <a:effectLst/>
                        </a:rPr>
                        <a:t>分享型人称</a:t>
                      </a:r>
                      <a:endParaRPr lang="zh-CN" altLang="en-US" b="1" dirty="0">
                        <a:solidFill>
                          <a:srgbClr val="C00000"/>
                        </a:solidFill>
                        <a:effectLst/>
                        <a:latin typeface="新宋体" panose="02010609030101010101" pitchFamily="49" charset="-122"/>
                        <a:ea typeface="新宋体" panose="02010609030101010101" pitchFamily="49" charset="-122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effectLst/>
                        </a:rPr>
                        <a:t>平均评论</a:t>
                      </a:r>
                      <a:r>
                        <a:rPr lang="en-US" altLang="zh-CN" b="1" dirty="0">
                          <a:effectLst/>
                        </a:rPr>
                        <a:t>529</a:t>
                      </a:r>
                      <a:r>
                        <a:rPr lang="zh-CN" altLang="en-US" b="0" dirty="0">
                          <a:effectLst/>
                        </a:rPr>
                        <a:t>，互动率</a:t>
                      </a:r>
                      <a:r>
                        <a:rPr lang="en-US" altLang="zh-CN" b="1" dirty="0">
                          <a:effectLst/>
                        </a:rPr>
                        <a:t>26.93%</a:t>
                      </a:r>
                      <a:endParaRPr lang="zh-CN" altLang="en-US" b="0" dirty="0">
                        <a:effectLst/>
                        <a:latin typeface="新宋体" panose="02010609030101010101" pitchFamily="49" charset="-122"/>
                        <a:ea typeface="新宋体" panose="02010609030101010101" pitchFamily="49" charset="-122"/>
                      </a:endParaRPr>
                    </a:p>
                  </a:txBody>
                  <a:tcPr marL="101600" marT="63500" marB="63500" anchor="ctr"/>
                </a:tc>
              </a:tr>
            </a:tbl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1545771" y="5543550"/>
            <a:ext cx="9862458" cy="1276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200" i="0" dirty="0">
                <a:solidFill>
                  <a:srgbClr val="0F1115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因此，博主不应盲目模仿高点赞样本，而应首先明确自身核心目标（是涨粉、立信还是促活），从而在语言策略矩阵中选择最适配的</a:t>
            </a:r>
            <a:r>
              <a:rPr lang="zh-CN" altLang="en-US" sz="2200" b="1" i="0" dirty="0">
                <a:solidFill>
                  <a:srgbClr val="C00000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“身份具体强度</a:t>
            </a:r>
            <a:r>
              <a:rPr lang="en-US" altLang="zh-CN" sz="2200" b="1" i="0" dirty="0">
                <a:solidFill>
                  <a:srgbClr val="C00000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-</a:t>
            </a:r>
            <a:r>
              <a:rPr lang="zh-CN" altLang="en-US" sz="2200" b="1" i="0" dirty="0">
                <a:solidFill>
                  <a:srgbClr val="C00000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证据强度等级</a:t>
            </a:r>
            <a:r>
              <a:rPr lang="en-US" altLang="zh-CN" sz="2200" b="1" i="0" dirty="0">
                <a:solidFill>
                  <a:srgbClr val="C00000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-</a:t>
            </a:r>
            <a:r>
              <a:rPr lang="zh-CN" altLang="en-US" sz="2200" b="1" i="0" dirty="0">
                <a:solidFill>
                  <a:srgbClr val="C00000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人称使用倾向”</a:t>
            </a:r>
            <a:r>
              <a:rPr lang="zh-CN" altLang="en-US" sz="2200" i="0" dirty="0">
                <a:solidFill>
                  <a:srgbClr val="0F1115"/>
                </a:solidFill>
                <a:effectLst/>
                <a:latin typeface="华文中宋" panose="02010600040101010101" charset="-122"/>
                <a:ea typeface="华文中宋" panose="02010600040101010101" charset="-122"/>
              </a:rPr>
              <a:t>组合，实现效率最大化。</a:t>
            </a:r>
            <a:endParaRPr lang="zh-CN" altLang="en-US" sz="22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0148" y="436568"/>
            <a:ext cx="1438829" cy="368930"/>
          </a:xfrm>
          <a:custGeom>
            <a:avLst/>
            <a:gdLst/>
            <a:ahLst/>
            <a:cxnLst/>
            <a:rect l="l" t="t" r="r" b="b"/>
            <a:pathLst>
              <a:path w="1798536" h="461163">
                <a:moveTo>
                  <a:pt x="230582" y="0"/>
                </a:moveTo>
                <a:lnTo>
                  <a:pt x="1567955" y="0"/>
                </a:lnTo>
                <a:cubicBezTo>
                  <a:pt x="1695301" y="0"/>
                  <a:pt x="1798536" y="103235"/>
                  <a:pt x="1798536" y="230582"/>
                </a:cubicBezTo>
                <a:lnTo>
                  <a:pt x="1798536" y="230582"/>
                </a:lnTo>
                <a:cubicBezTo>
                  <a:pt x="1798536" y="357928"/>
                  <a:pt x="1695301" y="461163"/>
                  <a:pt x="1567955" y="461163"/>
                </a:cubicBezTo>
                <a:lnTo>
                  <a:pt x="230582" y="461163"/>
                </a:lnTo>
                <a:cubicBezTo>
                  <a:pt x="103235" y="461163"/>
                  <a:pt x="0" y="357928"/>
                  <a:pt x="0" y="230582"/>
                </a:cubicBezTo>
                <a:lnTo>
                  <a:pt x="0" y="230582"/>
                </a:lnTo>
                <a:cubicBezTo>
                  <a:pt x="0" y="103235"/>
                  <a:pt x="103235" y="0"/>
                  <a:pt x="230582" y="0"/>
                </a:cubicBezTo>
                <a:close/>
              </a:path>
            </a:pathLst>
          </a:custGeom>
          <a:solidFill>
            <a:srgbClr val="C17D7D"/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3" name="Shape 1"/>
          <p:cNvSpPr/>
          <p:nvPr/>
        </p:nvSpPr>
        <p:spPr>
          <a:xfrm>
            <a:off x="11335391" y="547247"/>
            <a:ext cx="129126" cy="147572"/>
          </a:xfrm>
          <a:custGeom>
            <a:avLst/>
            <a:gdLst/>
            <a:ahLst/>
            <a:cxnLst/>
            <a:rect l="l" t="t" r="r" b="b"/>
            <a:pathLst>
              <a:path w="161407" h="184465">
                <a:moveTo>
                  <a:pt x="57826" y="-9511"/>
                </a:moveTo>
                <a:cubicBezTo>
                  <a:pt x="61176" y="-12322"/>
                  <a:pt x="66112" y="-12214"/>
                  <a:pt x="69319" y="-9187"/>
                </a:cubicBezTo>
                <a:cubicBezTo>
                  <a:pt x="73750" y="-5008"/>
                  <a:pt x="77713" y="-396"/>
                  <a:pt x="81532" y="4287"/>
                </a:cubicBezTo>
                <a:cubicBezTo>
                  <a:pt x="86396" y="10232"/>
                  <a:pt x="92233" y="18086"/>
                  <a:pt x="97853" y="27418"/>
                </a:cubicBezTo>
                <a:cubicBezTo>
                  <a:pt x="99727" y="24968"/>
                  <a:pt x="101456" y="22806"/>
                  <a:pt x="102969" y="20969"/>
                </a:cubicBezTo>
                <a:cubicBezTo>
                  <a:pt x="103365" y="20500"/>
                  <a:pt x="103762" y="19996"/>
                  <a:pt x="104158" y="19491"/>
                </a:cubicBezTo>
                <a:cubicBezTo>
                  <a:pt x="107004" y="15961"/>
                  <a:pt x="110535" y="11529"/>
                  <a:pt x="115255" y="11529"/>
                </a:cubicBezTo>
                <a:cubicBezTo>
                  <a:pt x="120083" y="11529"/>
                  <a:pt x="123469" y="15816"/>
                  <a:pt x="126351" y="19491"/>
                </a:cubicBezTo>
                <a:cubicBezTo>
                  <a:pt x="126820" y="20104"/>
                  <a:pt x="127288" y="20680"/>
                  <a:pt x="127757" y="21221"/>
                </a:cubicBezTo>
                <a:cubicBezTo>
                  <a:pt x="131468" y="25688"/>
                  <a:pt x="136403" y="32137"/>
                  <a:pt x="141339" y="40100"/>
                </a:cubicBezTo>
                <a:cubicBezTo>
                  <a:pt x="151139" y="55916"/>
                  <a:pt x="161371" y="78434"/>
                  <a:pt x="161371" y="103726"/>
                </a:cubicBezTo>
                <a:cubicBezTo>
                  <a:pt x="161371" y="148293"/>
                  <a:pt x="125235" y="184429"/>
                  <a:pt x="80668" y="184429"/>
                </a:cubicBezTo>
                <a:cubicBezTo>
                  <a:pt x="36100" y="184429"/>
                  <a:pt x="0" y="148329"/>
                  <a:pt x="0" y="103762"/>
                </a:cubicBezTo>
                <a:cubicBezTo>
                  <a:pt x="0" y="70940"/>
                  <a:pt x="14808" y="42513"/>
                  <a:pt x="29003" y="22698"/>
                </a:cubicBezTo>
                <a:cubicBezTo>
                  <a:pt x="36172" y="12718"/>
                  <a:pt x="43306" y="4720"/>
                  <a:pt x="48674" y="-757"/>
                </a:cubicBezTo>
                <a:cubicBezTo>
                  <a:pt x="51629" y="-3783"/>
                  <a:pt x="54619" y="-6773"/>
                  <a:pt x="57862" y="-9475"/>
                </a:cubicBezTo>
                <a:close/>
                <a:moveTo>
                  <a:pt x="81316" y="149878"/>
                </a:moveTo>
                <a:cubicBezTo>
                  <a:pt x="90431" y="149878"/>
                  <a:pt x="98502" y="147356"/>
                  <a:pt x="106104" y="142312"/>
                </a:cubicBezTo>
                <a:cubicBezTo>
                  <a:pt x="121271" y="131720"/>
                  <a:pt x="125343" y="110535"/>
                  <a:pt x="116228" y="93890"/>
                </a:cubicBezTo>
                <a:cubicBezTo>
                  <a:pt x="114606" y="90647"/>
                  <a:pt x="110463" y="90431"/>
                  <a:pt x="108121" y="93169"/>
                </a:cubicBezTo>
                <a:lnTo>
                  <a:pt x="99042" y="103726"/>
                </a:lnTo>
                <a:cubicBezTo>
                  <a:pt x="96664" y="106464"/>
                  <a:pt x="92377" y="106392"/>
                  <a:pt x="90143" y="103546"/>
                </a:cubicBezTo>
                <a:cubicBezTo>
                  <a:pt x="83910" y="95583"/>
                  <a:pt x="72453" y="81064"/>
                  <a:pt x="66616" y="73642"/>
                </a:cubicBezTo>
                <a:cubicBezTo>
                  <a:pt x="64671" y="71156"/>
                  <a:pt x="61140" y="70760"/>
                  <a:pt x="58870" y="72957"/>
                </a:cubicBezTo>
                <a:cubicBezTo>
                  <a:pt x="52277" y="79370"/>
                  <a:pt x="40316" y="93422"/>
                  <a:pt x="40316" y="110535"/>
                </a:cubicBezTo>
                <a:cubicBezTo>
                  <a:pt x="40316" y="135250"/>
                  <a:pt x="58546" y="149878"/>
                  <a:pt x="81280" y="149878"/>
                </a:cubicBezTo>
                <a:close/>
              </a:path>
            </a:pathLst>
          </a:custGeom>
          <a:solidFill>
            <a:srgbClr val="FEFDF7"/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4" name="Text 2"/>
          <p:cNvSpPr/>
          <p:nvPr/>
        </p:nvSpPr>
        <p:spPr>
          <a:xfrm>
            <a:off x="11411597" y="436568"/>
            <a:ext cx="1261166" cy="368930"/>
          </a:xfrm>
          <a:prstGeom prst="rect">
            <a:avLst/>
          </a:prstGeom>
          <a:noFill/>
        </p:spPr>
        <p:txBody>
          <a:bodyPr wrap="square" lIns="147572" tIns="73786" rIns="147572" bIns="73786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EFDF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高效策略识别</a:t>
            </a:r>
            <a:endParaRPr lang="en-US" sz="1280" dirty="0"/>
          </a:p>
        </p:txBody>
      </p:sp>
      <p:sp>
        <p:nvSpPr>
          <p:cNvPr id="5" name="Text 3"/>
          <p:cNvSpPr/>
          <p:nvPr/>
        </p:nvSpPr>
        <p:spPr>
          <a:xfrm>
            <a:off x="387376" y="458087"/>
            <a:ext cx="6470623" cy="504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4D4D4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04 </a:t>
            </a:r>
            <a:r>
              <a:rPr lang="en-US" sz="3600" b="1" dirty="0" err="1">
                <a:solidFill>
                  <a:srgbClr val="4D4D4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高互动内容的策略特征分析</a:t>
            </a:r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72005" y="1331224"/>
            <a:ext cx="12254642" cy="467312"/>
          </a:xfrm>
          <a:custGeom>
            <a:avLst/>
            <a:gdLst/>
            <a:ahLst/>
            <a:cxnLst/>
            <a:rect l="l" t="t" r="r" b="b"/>
            <a:pathLst>
              <a:path w="15318302" h="584140">
                <a:moveTo>
                  <a:pt x="138348" y="0"/>
                </a:moveTo>
                <a:lnTo>
                  <a:pt x="15179954" y="0"/>
                </a:lnTo>
                <a:cubicBezTo>
                  <a:pt x="15256361" y="0"/>
                  <a:pt x="15318302" y="61940"/>
                  <a:pt x="15318302" y="138348"/>
                </a:cubicBezTo>
                <a:lnTo>
                  <a:pt x="15318302" y="445792"/>
                </a:lnTo>
                <a:cubicBezTo>
                  <a:pt x="15318302" y="522200"/>
                  <a:pt x="15256361" y="584140"/>
                  <a:pt x="15179954" y="584140"/>
                </a:cubicBezTo>
                <a:lnTo>
                  <a:pt x="138348" y="584140"/>
                </a:lnTo>
                <a:cubicBezTo>
                  <a:pt x="61940" y="584140"/>
                  <a:pt x="0" y="522200"/>
                  <a:pt x="0" y="445792"/>
                </a:cubicBezTo>
                <a:lnTo>
                  <a:pt x="0" y="138348"/>
                </a:lnTo>
                <a:cubicBezTo>
                  <a:pt x="0" y="61992"/>
                  <a:pt x="61992" y="0"/>
                  <a:pt x="138348" y="0"/>
                </a:cubicBezTo>
                <a:close/>
              </a:path>
            </a:pathLst>
          </a:custGeom>
          <a:solidFill>
            <a:srgbClr val="FFF7F9">
              <a:alpha val="60000"/>
            </a:srgbClr>
          </a:solidFill>
          <a:ln w="8467">
            <a:solidFill>
              <a:srgbClr val="8FBC8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sz="1440"/>
          </a:p>
        </p:txBody>
      </p:sp>
      <p:sp>
        <p:nvSpPr>
          <p:cNvPr id="7" name="Text 5"/>
          <p:cNvSpPr/>
          <p:nvPr/>
        </p:nvSpPr>
        <p:spPr>
          <a:xfrm>
            <a:off x="485758" y="1444981"/>
            <a:ext cx="12100920" cy="2398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0" dirty="0">
                <a:solidFill>
                  <a:schemeClr val="bg2">
                    <a:lumMod val="2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基于</a:t>
            </a:r>
            <a:r>
              <a:rPr lang="en-US" sz="1160" b="1" dirty="0">
                <a:solidFill>
                  <a:schemeClr val="bg2">
                    <a:lumMod val="2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前25%高互动内容</a:t>
            </a:r>
            <a:r>
              <a:rPr lang="en-US" sz="1160" dirty="0">
                <a:solidFill>
                  <a:schemeClr val="bg2">
                    <a:lumMod val="2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的策略特征分析，识别出</a:t>
            </a:r>
            <a:r>
              <a:rPr lang="zh-CN" altLang="en-US" sz="1160" dirty="0">
                <a:solidFill>
                  <a:schemeClr val="bg2">
                    <a:lumMod val="2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总体</a:t>
            </a:r>
            <a:r>
              <a:rPr lang="en-US" sz="1160" b="1" dirty="0" err="1">
                <a:solidFill>
                  <a:schemeClr val="bg2">
                    <a:lumMod val="2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最有效</a:t>
            </a:r>
            <a:r>
              <a:rPr lang="en-US" sz="1160" dirty="0" err="1">
                <a:solidFill>
                  <a:schemeClr val="bg2">
                    <a:lumMod val="2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的语言策略组合模式</a:t>
            </a:r>
            <a:r>
              <a:rPr lang="en-US" sz="1160" dirty="0">
                <a:solidFill>
                  <a:schemeClr val="bg2">
                    <a:lumMod val="2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sz="128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368931" y="1930738"/>
            <a:ext cx="4012119" cy="2822318"/>
          </a:xfrm>
          <a:custGeom>
            <a:avLst/>
            <a:gdLst/>
            <a:ahLst/>
            <a:cxnLst/>
            <a:rect l="l" t="t" r="r" b="b"/>
            <a:pathLst>
              <a:path w="5015149" h="3527898">
                <a:moveTo>
                  <a:pt x="46116" y="0"/>
                </a:moveTo>
                <a:lnTo>
                  <a:pt x="4969033" y="0"/>
                </a:lnTo>
                <a:cubicBezTo>
                  <a:pt x="4994502" y="0"/>
                  <a:pt x="5015149" y="20647"/>
                  <a:pt x="5015149" y="46116"/>
                </a:cubicBezTo>
                <a:lnTo>
                  <a:pt x="5015149" y="3389534"/>
                </a:lnTo>
                <a:cubicBezTo>
                  <a:pt x="5015149" y="3465950"/>
                  <a:pt x="4953201" y="3527898"/>
                  <a:pt x="4876785" y="3527898"/>
                </a:cubicBezTo>
                <a:lnTo>
                  <a:pt x="138364" y="3527898"/>
                </a:lnTo>
                <a:cubicBezTo>
                  <a:pt x="61948" y="3527898"/>
                  <a:pt x="0" y="3465950"/>
                  <a:pt x="0" y="3389534"/>
                </a:cubicBezTo>
                <a:lnTo>
                  <a:pt x="0" y="46116"/>
                </a:lnTo>
                <a:cubicBezTo>
                  <a:pt x="0" y="20647"/>
                  <a:pt x="20647" y="0"/>
                  <a:pt x="46116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72936" dist="11529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 sz="1440"/>
          </a:p>
        </p:txBody>
      </p:sp>
      <p:sp>
        <p:nvSpPr>
          <p:cNvPr id="9" name="Shape 7"/>
          <p:cNvSpPr/>
          <p:nvPr/>
        </p:nvSpPr>
        <p:spPr>
          <a:xfrm>
            <a:off x="368931" y="1930738"/>
            <a:ext cx="4012119" cy="36893"/>
          </a:xfrm>
          <a:custGeom>
            <a:avLst/>
            <a:gdLst/>
            <a:ahLst/>
            <a:cxnLst/>
            <a:rect l="l" t="t" r="r" b="b"/>
            <a:pathLst>
              <a:path w="5015149" h="46116">
                <a:moveTo>
                  <a:pt x="46116" y="0"/>
                </a:moveTo>
                <a:lnTo>
                  <a:pt x="4969033" y="0"/>
                </a:lnTo>
                <a:cubicBezTo>
                  <a:pt x="4994502" y="0"/>
                  <a:pt x="5015149" y="20647"/>
                  <a:pt x="5015149" y="46116"/>
                </a:cubicBezTo>
                <a:lnTo>
                  <a:pt x="5015149" y="46116"/>
                </a:lnTo>
                <a:lnTo>
                  <a:pt x="0" y="46116"/>
                </a:lnTo>
                <a:lnTo>
                  <a:pt x="0" y="46116"/>
                </a:lnTo>
                <a:cubicBezTo>
                  <a:pt x="0" y="20647"/>
                  <a:pt x="20647" y="0"/>
                  <a:pt x="46116" y="0"/>
                </a:cubicBezTo>
                <a:close/>
              </a:path>
            </a:pathLst>
          </a:custGeom>
          <a:solidFill>
            <a:srgbClr val="C17D7D"/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10" name="Text 8"/>
          <p:cNvSpPr/>
          <p:nvPr/>
        </p:nvSpPr>
        <p:spPr>
          <a:xfrm>
            <a:off x="433493" y="2059863"/>
            <a:ext cx="3882994" cy="2582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5" b="1" dirty="0">
                <a:solidFill>
                  <a:srgbClr val="B1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身份具体程度</a:t>
            </a:r>
            <a:endParaRPr lang="en-US" sz="1280" dirty="0">
              <a:solidFill>
                <a:srgbClr val="B10000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9610" y="2428794"/>
            <a:ext cx="3790761" cy="405823"/>
          </a:xfrm>
          <a:custGeom>
            <a:avLst/>
            <a:gdLst/>
            <a:ahLst/>
            <a:cxnLst/>
            <a:rect l="l" t="t" r="r" b="b"/>
            <a:pathLst>
              <a:path w="4738451" h="507279">
                <a:moveTo>
                  <a:pt x="92234" y="0"/>
                </a:moveTo>
                <a:lnTo>
                  <a:pt x="4646218" y="0"/>
                </a:lnTo>
                <a:cubicBezTo>
                  <a:pt x="4697157" y="0"/>
                  <a:pt x="4738451" y="41294"/>
                  <a:pt x="4738451" y="92234"/>
                </a:cubicBezTo>
                <a:lnTo>
                  <a:pt x="4738451" y="415046"/>
                </a:lnTo>
                <a:cubicBezTo>
                  <a:pt x="4738451" y="465985"/>
                  <a:pt x="4697157" y="507279"/>
                  <a:pt x="4646218" y="507279"/>
                </a:cubicBezTo>
                <a:lnTo>
                  <a:pt x="92234" y="507279"/>
                </a:lnTo>
                <a:cubicBezTo>
                  <a:pt x="41328" y="507279"/>
                  <a:pt x="0" y="465951"/>
                  <a:pt x="0" y="415046"/>
                </a:cubicBezTo>
                <a:lnTo>
                  <a:pt x="0" y="92234"/>
                </a:lnTo>
                <a:cubicBezTo>
                  <a:pt x="0" y="41328"/>
                  <a:pt x="41328" y="0"/>
                  <a:pt x="92234" y="0"/>
                </a:cubicBezTo>
                <a:close/>
              </a:path>
            </a:pathLst>
          </a:custGeom>
          <a:solidFill>
            <a:srgbClr val="FFF7F9">
              <a:alpha val="10196"/>
            </a:srgbClr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12" name="Text 10"/>
          <p:cNvSpPr/>
          <p:nvPr/>
        </p:nvSpPr>
        <p:spPr>
          <a:xfrm>
            <a:off x="553397" y="2521027"/>
            <a:ext cx="368930" cy="2213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泛称</a:t>
            </a:r>
            <a:endParaRPr lang="en-US" sz="128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3691131" y="2502580"/>
            <a:ext cx="590289" cy="2582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2D501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58.3%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479610" y="2908404"/>
            <a:ext cx="3790761" cy="405823"/>
          </a:xfrm>
          <a:custGeom>
            <a:avLst/>
            <a:gdLst/>
            <a:ahLst/>
            <a:cxnLst/>
            <a:rect l="l" t="t" r="r" b="b"/>
            <a:pathLst>
              <a:path w="4738451" h="507279">
                <a:moveTo>
                  <a:pt x="92234" y="0"/>
                </a:moveTo>
                <a:lnTo>
                  <a:pt x="4646218" y="0"/>
                </a:lnTo>
                <a:cubicBezTo>
                  <a:pt x="4697157" y="0"/>
                  <a:pt x="4738451" y="41294"/>
                  <a:pt x="4738451" y="92234"/>
                </a:cubicBezTo>
                <a:lnTo>
                  <a:pt x="4738451" y="415046"/>
                </a:lnTo>
                <a:cubicBezTo>
                  <a:pt x="4738451" y="465985"/>
                  <a:pt x="4697157" y="507279"/>
                  <a:pt x="4646218" y="507279"/>
                </a:cubicBezTo>
                <a:lnTo>
                  <a:pt x="92234" y="507279"/>
                </a:lnTo>
                <a:cubicBezTo>
                  <a:pt x="41328" y="507279"/>
                  <a:pt x="0" y="465951"/>
                  <a:pt x="0" y="415046"/>
                </a:cubicBezTo>
                <a:lnTo>
                  <a:pt x="0" y="92234"/>
                </a:lnTo>
                <a:cubicBezTo>
                  <a:pt x="0" y="41328"/>
                  <a:pt x="41328" y="0"/>
                  <a:pt x="92234" y="0"/>
                </a:cubicBezTo>
                <a:close/>
              </a:path>
            </a:pathLst>
          </a:custGeom>
          <a:solidFill>
            <a:srgbClr val="FFF7F9">
              <a:alpha val="10196"/>
            </a:srgbClr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15" name="Text 13"/>
          <p:cNvSpPr/>
          <p:nvPr/>
        </p:nvSpPr>
        <p:spPr>
          <a:xfrm>
            <a:off x="553396" y="3000636"/>
            <a:ext cx="221358" cy="2213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无</a:t>
            </a:r>
            <a:endParaRPr lang="en-US" sz="128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91131" y="2982190"/>
            <a:ext cx="590289" cy="2582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2D501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27.3%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488833" y="3397237"/>
            <a:ext cx="3772314" cy="424270"/>
          </a:xfrm>
          <a:custGeom>
            <a:avLst/>
            <a:gdLst/>
            <a:ahLst/>
            <a:cxnLst/>
            <a:rect l="l" t="t" r="r" b="b"/>
            <a:pathLst>
              <a:path w="4715393" h="530338">
                <a:moveTo>
                  <a:pt x="92231" y="0"/>
                </a:moveTo>
                <a:lnTo>
                  <a:pt x="4623162" y="0"/>
                </a:lnTo>
                <a:cubicBezTo>
                  <a:pt x="4674100" y="0"/>
                  <a:pt x="4715393" y="41293"/>
                  <a:pt x="4715393" y="92231"/>
                </a:cubicBezTo>
                <a:lnTo>
                  <a:pt x="4715393" y="438107"/>
                </a:lnTo>
                <a:cubicBezTo>
                  <a:pt x="4715393" y="489044"/>
                  <a:pt x="4674100" y="530338"/>
                  <a:pt x="4623162" y="530338"/>
                </a:cubicBezTo>
                <a:lnTo>
                  <a:pt x="92231" y="530338"/>
                </a:lnTo>
                <a:cubicBezTo>
                  <a:pt x="41293" y="530338"/>
                  <a:pt x="0" y="489044"/>
                  <a:pt x="0" y="438107"/>
                </a:cubicBezTo>
                <a:lnTo>
                  <a:pt x="0" y="92231"/>
                </a:lnTo>
                <a:cubicBezTo>
                  <a:pt x="0" y="41327"/>
                  <a:pt x="41327" y="0"/>
                  <a:pt x="92231" y="0"/>
                </a:cubicBezTo>
                <a:close/>
              </a:path>
            </a:pathLst>
          </a:custGeom>
          <a:solidFill>
            <a:srgbClr val="FFF7F9">
              <a:alpha val="20000"/>
            </a:srgbClr>
          </a:solidFill>
          <a:ln w="2540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zh-CN" altLang="en-US" sz="1440"/>
          </a:p>
        </p:txBody>
      </p:sp>
      <p:sp>
        <p:nvSpPr>
          <p:cNvPr id="18" name="Text 16"/>
          <p:cNvSpPr/>
          <p:nvPr/>
        </p:nvSpPr>
        <p:spPr>
          <a:xfrm>
            <a:off x="571843" y="3498692"/>
            <a:ext cx="368930" cy="2213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chemeClr val="bg2">
                    <a:lumMod val="2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具体</a:t>
            </a:r>
            <a:endParaRPr lang="en-US" sz="128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3672684" y="3480246"/>
            <a:ext cx="590289" cy="2582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2D501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14.4%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447328" y="3941409"/>
            <a:ext cx="3855324" cy="1844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5" b="1" dirty="0">
                <a:solidFill>
                  <a:schemeClr val="bg2">
                    <a:lumMod val="2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洞察：</a:t>
            </a:r>
            <a:r>
              <a:rPr lang="en-US" sz="1015" dirty="0">
                <a:solidFill>
                  <a:schemeClr val="bg2">
                    <a:lumMod val="2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具体身份虽总体占比低，但在高互动内容中表现突出</a:t>
            </a:r>
            <a:endParaRPr lang="en-US" sz="128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494035" y="1930738"/>
            <a:ext cx="4012119" cy="2822318"/>
          </a:xfrm>
          <a:custGeom>
            <a:avLst/>
            <a:gdLst/>
            <a:ahLst/>
            <a:cxnLst/>
            <a:rect l="l" t="t" r="r" b="b"/>
            <a:pathLst>
              <a:path w="5015149" h="3527898">
                <a:moveTo>
                  <a:pt x="46116" y="0"/>
                </a:moveTo>
                <a:lnTo>
                  <a:pt x="4969033" y="0"/>
                </a:lnTo>
                <a:cubicBezTo>
                  <a:pt x="4994502" y="0"/>
                  <a:pt x="5015149" y="20647"/>
                  <a:pt x="5015149" y="46116"/>
                </a:cubicBezTo>
                <a:lnTo>
                  <a:pt x="5015149" y="3389534"/>
                </a:lnTo>
                <a:cubicBezTo>
                  <a:pt x="5015149" y="3465950"/>
                  <a:pt x="4953201" y="3527898"/>
                  <a:pt x="4876785" y="3527898"/>
                </a:cubicBezTo>
                <a:lnTo>
                  <a:pt x="138364" y="3527898"/>
                </a:lnTo>
                <a:cubicBezTo>
                  <a:pt x="61948" y="3527898"/>
                  <a:pt x="0" y="3465950"/>
                  <a:pt x="0" y="3389534"/>
                </a:cubicBezTo>
                <a:lnTo>
                  <a:pt x="0" y="46116"/>
                </a:lnTo>
                <a:cubicBezTo>
                  <a:pt x="0" y="20647"/>
                  <a:pt x="20647" y="0"/>
                  <a:pt x="46116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72936" dist="11529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 sz="1440"/>
          </a:p>
        </p:txBody>
      </p:sp>
      <p:sp>
        <p:nvSpPr>
          <p:cNvPr id="22" name="Shape 20"/>
          <p:cNvSpPr/>
          <p:nvPr/>
        </p:nvSpPr>
        <p:spPr>
          <a:xfrm>
            <a:off x="4494035" y="1930738"/>
            <a:ext cx="4012119" cy="36893"/>
          </a:xfrm>
          <a:custGeom>
            <a:avLst/>
            <a:gdLst/>
            <a:ahLst/>
            <a:cxnLst/>
            <a:rect l="l" t="t" r="r" b="b"/>
            <a:pathLst>
              <a:path w="5015149" h="46116">
                <a:moveTo>
                  <a:pt x="46116" y="0"/>
                </a:moveTo>
                <a:lnTo>
                  <a:pt x="4969033" y="0"/>
                </a:lnTo>
                <a:cubicBezTo>
                  <a:pt x="4994502" y="0"/>
                  <a:pt x="5015149" y="20647"/>
                  <a:pt x="5015149" y="46116"/>
                </a:cubicBezTo>
                <a:lnTo>
                  <a:pt x="5015149" y="46116"/>
                </a:lnTo>
                <a:lnTo>
                  <a:pt x="0" y="46116"/>
                </a:lnTo>
                <a:lnTo>
                  <a:pt x="0" y="46116"/>
                </a:lnTo>
                <a:cubicBezTo>
                  <a:pt x="0" y="20647"/>
                  <a:pt x="20647" y="0"/>
                  <a:pt x="46116" y="0"/>
                </a:cubicBezTo>
                <a:close/>
              </a:path>
            </a:pathLst>
          </a:custGeom>
          <a:solidFill>
            <a:srgbClr val="C17D7D"/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23" name="Text 21"/>
          <p:cNvSpPr/>
          <p:nvPr/>
        </p:nvSpPr>
        <p:spPr>
          <a:xfrm>
            <a:off x="4558597" y="2059863"/>
            <a:ext cx="3882994" cy="2582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5" b="1" dirty="0">
                <a:solidFill>
                  <a:srgbClr val="B1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证据强度等级</a:t>
            </a:r>
            <a:endParaRPr lang="en-US" sz="1280" dirty="0">
              <a:solidFill>
                <a:srgbClr val="B10000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604714" y="2428794"/>
            <a:ext cx="3790761" cy="405823"/>
          </a:xfrm>
          <a:custGeom>
            <a:avLst/>
            <a:gdLst/>
            <a:ahLst/>
            <a:cxnLst/>
            <a:rect l="l" t="t" r="r" b="b"/>
            <a:pathLst>
              <a:path w="4738451" h="507279">
                <a:moveTo>
                  <a:pt x="92234" y="0"/>
                </a:moveTo>
                <a:lnTo>
                  <a:pt x="4646218" y="0"/>
                </a:lnTo>
                <a:cubicBezTo>
                  <a:pt x="4697157" y="0"/>
                  <a:pt x="4738451" y="41294"/>
                  <a:pt x="4738451" y="92234"/>
                </a:cubicBezTo>
                <a:lnTo>
                  <a:pt x="4738451" y="415046"/>
                </a:lnTo>
                <a:cubicBezTo>
                  <a:pt x="4738451" y="465985"/>
                  <a:pt x="4697157" y="507279"/>
                  <a:pt x="4646218" y="507279"/>
                </a:cubicBezTo>
                <a:lnTo>
                  <a:pt x="92234" y="507279"/>
                </a:lnTo>
                <a:cubicBezTo>
                  <a:pt x="41328" y="507279"/>
                  <a:pt x="0" y="465951"/>
                  <a:pt x="0" y="415046"/>
                </a:cubicBezTo>
                <a:lnTo>
                  <a:pt x="0" y="92234"/>
                </a:lnTo>
                <a:cubicBezTo>
                  <a:pt x="0" y="41328"/>
                  <a:pt x="41328" y="0"/>
                  <a:pt x="92234" y="0"/>
                </a:cubicBezTo>
                <a:close/>
              </a:path>
            </a:pathLst>
          </a:custGeom>
          <a:solidFill>
            <a:srgbClr val="FFF7F9">
              <a:alpha val="10196"/>
            </a:srgbClr>
          </a:solidFill>
        </p:spPr>
        <p:txBody>
          <a:bodyPr/>
          <a:lstStyle/>
          <a:p>
            <a:endParaRPr lang="zh-CN" altLang="en-US" sz="144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4678500" y="2521027"/>
            <a:ext cx="239805" cy="2213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rgbClr val="556B2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L1</a:t>
            </a:r>
            <a:endParaRPr lang="en-US" sz="1280" dirty="0"/>
          </a:p>
        </p:txBody>
      </p:sp>
      <p:sp>
        <p:nvSpPr>
          <p:cNvPr id="26" name="Text 24"/>
          <p:cNvSpPr/>
          <p:nvPr/>
        </p:nvSpPr>
        <p:spPr>
          <a:xfrm>
            <a:off x="7816332" y="2502580"/>
            <a:ext cx="590289" cy="2582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2D501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23.1%</a:t>
            </a:r>
            <a:endParaRPr lang="en-US" sz="1280" dirty="0"/>
          </a:p>
        </p:txBody>
      </p:sp>
      <p:sp>
        <p:nvSpPr>
          <p:cNvPr id="27" name="Shape 25"/>
          <p:cNvSpPr/>
          <p:nvPr/>
        </p:nvSpPr>
        <p:spPr>
          <a:xfrm>
            <a:off x="4604714" y="2908404"/>
            <a:ext cx="3790761" cy="405823"/>
          </a:xfrm>
          <a:custGeom>
            <a:avLst/>
            <a:gdLst/>
            <a:ahLst/>
            <a:cxnLst/>
            <a:rect l="l" t="t" r="r" b="b"/>
            <a:pathLst>
              <a:path w="4738451" h="507279">
                <a:moveTo>
                  <a:pt x="92234" y="0"/>
                </a:moveTo>
                <a:lnTo>
                  <a:pt x="4646218" y="0"/>
                </a:lnTo>
                <a:cubicBezTo>
                  <a:pt x="4697157" y="0"/>
                  <a:pt x="4738451" y="41294"/>
                  <a:pt x="4738451" y="92234"/>
                </a:cubicBezTo>
                <a:lnTo>
                  <a:pt x="4738451" y="415046"/>
                </a:lnTo>
                <a:cubicBezTo>
                  <a:pt x="4738451" y="465985"/>
                  <a:pt x="4697157" y="507279"/>
                  <a:pt x="4646218" y="507279"/>
                </a:cubicBezTo>
                <a:lnTo>
                  <a:pt x="92234" y="507279"/>
                </a:lnTo>
                <a:cubicBezTo>
                  <a:pt x="41328" y="507279"/>
                  <a:pt x="0" y="465951"/>
                  <a:pt x="0" y="415046"/>
                </a:cubicBezTo>
                <a:lnTo>
                  <a:pt x="0" y="92234"/>
                </a:lnTo>
                <a:cubicBezTo>
                  <a:pt x="0" y="41328"/>
                  <a:pt x="41328" y="0"/>
                  <a:pt x="92234" y="0"/>
                </a:cubicBezTo>
                <a:close/>
              </a:path>
            </a:pathLst>
          </a:custGeom>
          <a:solidFill>
            <a:srgbClr val="FFF7F9">
              <a:alpha val="10196"/>
            </a:srgbClr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28" name="Text 26"/>
          <p:cNvSpPr/>
          <p:nvPr/>
        </p:nvSpPr>
        <p:spPr>
          <a:xfrm>
            <a:off x="4678500" y="3000636"/>
            <a:ext cx="239805" cy="2213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L2</a:t>
            </a:r>
            <a:endParaRPr lang="en-US" sz="128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7816332" y="2982190"/>
            <a:ext cx="590289" cy="2582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2D501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16.2%</a:t>
            </a:r>
            <a:endParaRPr lang="en-US" sz="1280" dirty="0"/>
          </a:p>
        </p:txBody>
      </p:sp>
      <p:sp>
        <p:nvSpPr>
          <p:cNvPr id="30" name="Shape 28"/>
          <p:cNvSpPr/>
          <p:nvPr/>
        </p:nvSpPr>
        <p:spPr>
          <a:xfrm>
            <a:off x="4604714" y="3388014"/>
            <a:ext cx="3790761" cy="405823"/>
          </a:xfrm>
          <a:custGeom>
            <a:avLst/>
            <a:gdLst/>
            <a:ahLst/>
            <a:cxnLst/>
            <a:rect l="l" t="t" r="r" b="b"/>
            <a:pathLst>
              <a:path w="4738451" h="507279">
                <a:moveTo>
                  <a:pt x="92234" y="0"/>
                </a:moveTo>
                <a:lnTo>
                  <a:pt x="4646218" y="0"/>
                </a:lnTo>
                <a:cubicBezTo>
                  <a:pt x="4697157" y="0"/>
                  <a:pt x="4738451" y="41294"/>
                  <a:pt x="4738451" y="92234"/>
                </a:cubicBezTo>
                <a:lnTo>
                  <a:pt x="4738451" y="415046"/>
                </a:lnTo>
                <a:cubicBezTo>
                  <a:pt x="4738451" y="465985"/>
                  <a:pt x="4697157" y="507279"/>
                  <a:pt x="4646218" y="507279"/>
                </a:cubicBezTo>
                <a:lnTo>
                  <a:pt x="92234" y="507279"/>
                </a:lnTo>
                <a:cubicBezTo>
                  <a:pt x="41328" y="507279"/>
                  <a:pt x="0" y="465951"/>
                  <a:pt x="0" y="415046"/>
                </a:cubicBezTo>
                <a:lnTo>
                  <a:pt x="0" y="92234"/>
                </a:lnTo>
                <a:cubicBezTo>
                  <a:pt x="0" y="41328"/>
                  <a:pt x="41328" y="0"/>
                  <a:pt x="92234" y="0"/>
                </a:cubicBezTo>
                <a:close/>
              </a:path>
            </a:pathLst>
          </a:custGeom>
          <a:solidFill>
            <a:srgbClr val="FFF7F9">
              <a:alpha val="10196"/>
            </a:srgbClr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31" name="Text 29"/>
          <p:cNvSpPr/>
          <p:nvPr/>
        </p:nvSpPr>
        <p:spPr>
          <a:xfrm>
            <a:off x="4678500" y="3480246"/>
            <a:ext cx="239805" cy="2213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L3</a:t>
            </a:r>
            <a:endParaRPr lang="en-US" sz="128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7816332" y="3461799"/>
            <a:ext cx="590289" cy="2582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2D501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16.7%</a:t>
            </a:r>
            <a:endParaRPr lang="en-US" sz="1280" dirty="0"/>
          </a:p>
        </p:txBody>
      </p:sp>
      <p:sp>
        <p:nvSpPr>
          <p:cNvPr id="33" name="Shape 31"/>
          <p:cNvSpPr/>
          <p:nvPr/>
        </p:nvSpPr>
        <p:spPr>
          <a:xfrm>
            <a:off x="4613937" y="3876847"/>
            <a:ext cx="3772314" cy="424270"/>
          </a:xfrm>
          <a:custGeom>
            <a:avLst/>
            <a:gdLst/>
            <a:ahLst/>
            <a:cxnLst/>
            <a:rect l="l" t="t" r="r" b="b"/>
            <a:pathLst>
              <a:path w="4715393" h="530338">
                <a:moveTo>
                  <a:pt x="92231" y="0"/>
                </a:moveTo>
                <a:lnTo>
                  <a:pt x="4623162" y="0"/>
                </a:lnTo>
                <a:cubicBezTo>
                  <a:pt x="4674100" y="0"/>
                  <a:pt x="4715393" y="41293"/>
                  <a:pt x="4715393" y="92231"/>
                </a:cubicBezTo>
                <a:lnTo>
                  <a:pt x="4715393" y="438107"/>
                </a:lnTo>
                <a:cubicBezTo>
                  <a:pt x="4715393" y="489044"/>
                  <a:pt x="4674100" y="530338"/>
                  <a:pt x="4623162" y="530338"/>
                </a:cubicBezTo>
                <a:lnTo>
                  <a:pt x="92231" y="530338"/>
                </a:lnTo>
                <a:cubicBezTo>
                  <a:pt x="41293" y="530338"/>
                  <a:pt x="0" y="489044"/>
                  <a:pt x="0" y="438107"/>
                </a:cubicBezTo>
                <a:lnTo>
                  <a:pt x="0" y="92231"/>
                </a:lnTo>
                <a:cubicBezTo>
                  <a:pt x="0" y="41327"/>
                  <a:pt x="41327" y="0"/>
                  <a:pt x="92231" y="0"/>
                </a:cubicBezTo>
                <a:close/>
              </a:path>
            </a:pathLst>
          </a:custGeom>
          <a:solidFill>
            <a:srgbClr val="FFF7F9">
              <a:alpha val="20000"/>
            </a:srgbClr>
          </a:solidFill>
          <a:ln w="2540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zh-CN" altLang="en-US" sz="1440"/>
          </a:p>
        </p:txBody>
      </p:sp>
      <p:sp>
        <p:nvSpPr>
          <p:cNvPr id="34" name="Text 32"/>
          <p:cNvSpPr/>
          <p:nvPr/>
        </p:nvSpPr>
        <p:spPr>
          <a:xfrm>
            <a:off x="4696947" y="3978303"/>
            <a:ext cx="249028" cy="2213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L4</a:t>
            </a:r>
            <a:endParaRPr lang="en-US" sz="128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7797885" y="3959855"/>
            <a:ext cx="590289" cy="2582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2D501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44.0%</a:t>
            </a:r>
            <a:endParaRPr lang="en-US" sz="1280" dirty="0"/>
          </a:p>
        </p:txBody>
      </p:sp>
      <p:sp>
        <p:nvSpPr>
          <p:cNvPr id="36" name="Text 34"/>
          <p:cNvSpPr/>
          <p:nvPr/>
        </p:nvSpPr>
        <p:spPr>
          <a:xfrm>
            <a:off x="4572432" y="4421018"/>
            <a:ext cx="3855324" cy="1844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5" b="1" dirty="0">
                <a:solidFill>
                  <a:srgbClr val="4D4D4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洞察：</a:t>
            </a:r>
            <a:r>
              <a:rPr lang="en-US" sz="1015" dirty="0">
                <a:solidFill>
                  <a:srgbClr val="4D4D4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L4级证据在高互动内容中占比最高</a:t>
            </a:r>
            <a:endParaRPr lang="en-US" sz="1280" dirty="0">
              <a:solidFill>
                <a:srgbClr val="4D4D4D"/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619236" y="1930738"/>
            <a:ext cx="4012119" cy="2822318"/>
          </a:xfrm>
          <a:custGeom>
            <a:avLst/>
            <a:gdLst/>
            <a:ahLst/>
            <a:cxnLst/>
            <a:rect l="l" t="t" r="r" b="b"/>
            <a:pathLst>
              <a:path w="5015149" h="3527898">
                <a:moveTo>
                  <a:pt x="46116" y="0"/>
                </a:moveTo>
                <a:lnTo>
                  <a:pt x="4969033" y="0"/>
                </a:lnTo>
                <a:cubicBezTo>
                  <a:pt x="4994502" y="0"/>
                  <a:pt x="5015149" y="20647"/>
                  <a:pt x="5015149" y="46116"/>
                </a:cubicBezTo>
                <a:lnTo>
                  <a:pt x="5015149" y="3389534"/>
                </a:lnTo>
                <a:cubicBezTo>
                  <a:pt x="5015149" y="3465950"/>
                  <a:pt x="4953201" y="3527898"/>
                  <a:pt x="4876785" y="3527898"/>
                </a:cubicBezTo>
                <a:lnTo>
                  <a:pt x="138364" y="3527898"/>
                </a:lnTo>
                <a:cubicBezTo>
                  <a:pt x="61948" y="3527898"/>
                  <a:pt x="0" y="3465950"/>
                  <a:pt x="0" y="3389534"/>
                </a:cubicBezTo>
                <a:lnTo>
                  <a:pt x="0" y="46116"/>
                </a:lnTo>
                <a:cubicBezTo>
                  <a:pt x="0" y="20647"/>
                  <a:pt x="20647" y="0"/>
                  <a:pt x="46116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72936" dist="11529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 sz="1440"/>
          </a:p>
        </p:txBody>
      </p:sp>
      <p:sp>
        <p:nvSpPr>
          <p:cNvPr id="38" name="Shape 36"/>
          <p:cNvSpPr/>
          <p:nvPr/>
        </p:nvSpPr>
        <p:spPr>
          <a:xfrm>
            <a:off x="8619236" y="1930738"/>
            <a:ext cx="4012119" cy="36893"/>
          </a:xfrm>
          <a:custGeom>
            <a:avLst/>
            <a:gdLst/>
            <a:ahLst/>
            <a:cxnLst/>
            <a:rect l="l" t="t" r="r" b="b"/>
            <a:pathLst>
              <a:path w="5015149" h="46116">
                <a:moveTo>
                  <a:pt x="46116" y="0"/>
                </a:moveTo>
                <a:lnTo>
                  <a:pt x="4969033" y="0"/>
                </a:lnTo>
                <a:cubicBezTo>
                  <a:pt x="4994502" y="0"/>
                  <a:pt x="5015149" y="20647"/>
                  <a:pt x="5015149" y="46116"/>
                </a:cubicBezTo>
                <a:lnTo>
                  <a:pt x="5015149" y="46116"/>
                </a:lnTo>
                <a:lnTo>
                  <a:pt x="0" y="46116"/>
                </a:lnTo>
                <a:lnTo>
                  <a:pt x="0" y="46116"/>
                </a:lnTo>
                <a:cubicBezTo>
                  <a:pt x="0" y="20647"/>
                  <a:pt x="20647" y="0"/>
                  <a:pt x="46116" y="0"/>
                </a:cubicBezTo>
                <a:close/>
              </a:path>
            </a:pathLst>
          </a:custGeom>
          <a:solidFill>
            <a:srgbClr val="C17D7D"/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39" name="Text 37"/>
          <p:cNvSpPr/>
          <p:nvPr/>
        </p:nvSpPr>
        <p:spPr>
          <a:xfrm>
            <a:off x="8683797" y="2059863"/>
            <a:ext cx="3882994" cy="2582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5" b="1" dirty="0">
                <a:solidFill>
                  <a:srgbClr val="B1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人称使用倾向</a:t>
            </a:r>
            <a:endParaRPr lang="en-US" sz="1280" dirty="0">
              <a:solidFill>
                <a:srgbClr val="B10000"/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729915" y="2428794"/>
            <a:ext cx="3790761" cy="405823"/>
          </a:xfrm>
          <a:custGeom>
            <a:avLst/>
            <a:gdLst/>
            <a:ahLst/>
            <a:cxnLst/>
            <a:rect l="l" t="t" r="r" b="b"/>
            <a:pathLst>
              <a:path w="4738451" h="507279">
                <a:moveTo>
                  <a:pt x="92234" y="0"/>
                </a:moveTo>
                <a:lnTo>
                  <a:pt x="4646218" y="0"/>
                </a:lnTo>
                <a:cubicBezTo>
                  <a:pt x="4697157" y="0"/>
                  <a:pt x="4738451" y="41294"/>
                  <a:pt x="4738451" y="92234"/>
                </a:cubicBezTo>
                <a:lnTo>
                  <a:pt x="4738451" y="415046"/>
                </a:lnTo>
                <a:cubicBezTo>
                  <a:pt x="4738451" y="465985"/>
                  <a:pt x="4697157" y="507279"/>
                  <a:pt x="4646218" y="507279"/>
                </a:cubicBezTo>
                <a:lnTo>
                  <a:pt x="92234" y="507279"/>
                </a:lnTo>
                <a:cubicBezTo>
                  <a:pt x="41328" y="507279"/>
                  <a:pt x="0" y="465951"/>
                  <a:pt x="0" y="415046"/>
                </a:cubicBezTo>
                <a:lnTo>
                  <a:pt x="0" y="92234"/>
                </a:lnTo>
                <a:cubicBezTo>
                  <a:pt x="0" y="41328"/>
                  <a:pt x="41328" y="0"/>
                  <a:pt x="92234" y="0"/>
                </a:cubicBezTo>
                <a:close/>
              </a:path>
            </a:pathLst>
          </a:custGeom>
          <a:solidFill>
            <a:srgbClr val="FFF7F9">
              <a:alpha val="10196"/>
            </a:srgbClr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41" name="Text 39"/>
          <p:cNvSpPr/>
          <p:nvPr/>
        </p:nvSpPr>
        <p:spPr>
          <a:xfrm>
            <a:off x="8803701" y="2521027"/>
            <a:ext cx="368930" cy="2213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其他</a:t>
            </a:r>
            <a:endParaRPr lang="en-US" sz="128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11941531" y="2502580"/>
            <a:ext cx="590289" cy="2582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2D501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12.0%</a:t>
            </a:r>
            <a:endParaRPr lang="en-US" sz="1280" dirty="0"/>
          </a:p>
        </p:txBody>
      </p:sp>
      <p:sp>
        <p:nvSpPr>
          <p:cNvPr id="43" name="Shape 41"/>
          <p:cNvSpPr/>
          <p:nvPr/>
        </p:nvSpPr>
        <p:spPr>
          <a:xfrm>
            <a:off x="8729915" y="2908404"/>
            <a:ext cx="3790761" cy="405823"/>
          </a:xfrm>
          <a:custGeom>
            <a:avLst/>
            <a:gdLst/>
            <a:ahLst/>
            <a:cxnLst/>
            <a:rect l="l" t="t" r="r" b="b"/>
            <a:pathLst>
              <a:path w="4738451" h="507279">
                <a:moveTo>
                  <a:pt x="92234" y="0"/>
                </a:moveTo>
                <a:lnTo>
                  <a:pt x="4646218" y="0"/>
                </a:lnTo>
                <a:cubicBezTo>
                  <a:pt x="4697157" y="0"/>
                  <a:pt x="4738451" y="41294"/>
                  <a:pt x="4738451" y="92234"/>
                </a:cubicBezTo>
                <a:lnTo>
                  <a:pt x="4738451" y="415046"/>
                </a:lnTo>
                <a:cubicBezTo>
                  <a:pt x="4738451" y="465985"/>
                  <a:pt x="4697157" y="507279"/>
                  <a:pt x="4646218" y="507279"/>
                </a:cubicBezTo>
                <a:lnTo>
                  <a:pt x="92234" y="507279"/>
                </a:lnTo>
                <a:cubicBezTo>
                  <a:pt x="41328" y="507279"/>
                  <a:pt x="0" y="465951"/>
                  <a:pt x="0" y="415046"/>
                </a:cubicBezTo>
                <a:lnTo>
                  <a:pt x="0" y="92234"/>
                </a:lnTo>
                <a:cubicBezTo>
                  <a:pt x="0" y="41328"/>
                  <a:pt x="41328" y="0"/>
                  <a:pt x="92234" y="0"/>
                </a:cubicBezTo>
                <a:close/>
              </a:path>
            </a:pathLst>
          </a:custGeom>
          <a:solidFill>
            <a:srgbClr val="FFF7F9">
              <a:alpha val="10196"/>
            </a:srgbClr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44" name="Text 42"/>
          <p:cNvSpPr/>
          <p:nvPr/>
        </p:nvSpPr>
        <p:spPr>
          <a:xfrm>
            <a:off x="8803700" y="3000636"/>
            <a:ext cx="516502" cy="2213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混合型</a:t>
            </a:r>
            <a:endParaRPr lang="en-US" sz="128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5" name="Text 43"/>
          <p:cNvSpPr/>
          <p:nvPr/>
        </p:nvSpPr>
        <p:spPr>
          <a:xfrm>
            <a:off x="11941531" y="2982190"/>
            <a:ext cx="590289" cy="2582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2D501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22.7%</a:t>
            </a:r>
            <a:endParaRPr lang="en-US" sz="1280" dirty="0"/>
          </a:p>
        </p:txBody>
      </p:sp>
      <p:sp>
        <p:nvSpPr>
          <p:cNvPr id="46" name="Shape 44"/>
          <p:cNvSpPr/>
          <p:nvPr/>
        </p:nvSpPr>
        <p:spPr>
          <a:xfrm>
            <a:off x="8739138" y="3397237"/>
            <a:ext cx="3772314" cy="424270"/>
          </a:xfrm>
          <a:custGeom>
            <a:avLst/>
            <a:gdLst/>
            <a:ahLst/>
            <a:cxnLst/>
            <a:rect l="l" t="t" r="r" b="b"/>
            <a:pathLst>
              <a:path w="4715393" h="530338">
                <a:moveTo>
                  <a:pt x="92231" y="0"/>
                </a:moveTo>
                <a:lnTo>
                  <a:pt x="4623162" y="0"/>
                </a:lnTo>
                <a:cubicBezTo>
                  <a:pt x="4674100" y="0"/>
                  <a:pt x="4715393" y="41293"/>
                  <a:pt x="4715393" y="92231"/>
                </a:cubicBezTo>
                <a:lnTo>
                  <a:pt x="4715393" y="438107"/>
                </a:lnTo>
                <a:cubicBezTo>
                  <a:pt x="4715393" y="489044"/>
                  <a:pt x="4674100" y="530338"/>
                  <a:pt x="4623162" y="530338"/>
                </a:cubicBezTo>
                <a:lnTo>
                  <a:pt x="92231" y="530338"/>
                </a:lnTo>
                <a:cubicBezTo>
                  <a:pt x="41293" y="530338"/>
                  <a:pt x="0" y="489044"/>
                  <a:pt x="0" y="438107"/>
                </a:cubicBezTo>
                <a:lnTo>
                  <a:pt x="0" y="92231"/>
                </a:lnTo>
                <a:cubicBezTo>
                  <a:pt x="0" y="41327"/>
                  <a:pt x="41327" y="0"/>
                  <a:pt x="92231" y="0"/>
                </a:cubicBezTo>
                <a:close/>
              </a:path>
            </a:pathLst>
          </a:custGeom>
          <a:solidFill>
            <a:srgbClr val="FFF7F9">
              <a:alpha val="20000"/>
            </a:srgbClr>
          </a:solidFill>
          <a:ln w="2540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zh-CN" altLang="en-US" sz="1440"/>
          </a:p>
        </p:txBody>
      </p:sp>
      <p:sp>
        <p:nvSpPr>
          <p:cNvPr id="47" name="Text 45"/>
          <p:cNvSpPr/>
          <p:nvPr/>
        </p:nvSpPr>
        <p:spPr>
          <a:xfrm>
            <a:off x="8822147" y="3498692"/>
            <a:ext cx="516502" cy="2213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指导型</a:t>
            </a:r>
            <a:endParaRPr lang="en-US" sz="128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8" name="Text 46"/>
          <p:cNvSpPr/>
          <p:nvPr/>
        </p:nvSpPr>
        <p:spPr>
          <a:xfrm>
            <a:off x="11923084" y="3480246"/>
            <a:ext cx="590289" cy="2582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2D501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31.9%</a:t>
            </a:r>
            <a:endParaRPr lang="en-US" sz="1280" dirty="0"/>
          </a:p>
        </p:txBody>
      </p:sp>
      <p:sp>
        <p:nvSpPr>
          <p:cNvPr id="49" name="Shape 47"/>
          <p:cNvSpPr/>
          <p:nvPr/>
        </p:nvSpPr>
        <p:spPr>
          <a:xfrm>
            <a:off x="8739138" y="3913739"/>
            <a:ext cx="3772314" cy="424270"/>
          </a:xfrm>
          <a:custGeom>
            <a:avLst/>
            <a:gdLst/>
            <a:ahLst/>
            <a:cxnLst/>
            <a:rect l="l" t="t" r="r" b="b"/>
            <a:pathLst>
              <a:path w="4715393" h="530338">
                <a:moveTo>
                  <a:pt x="92231" y="0"/>
                </a:moveTo>
                <a:lnTo>
                  <a:pt x="4623162" y="0"/>
                </a:lnTo>
                <a:cubicBezTo>
                  <a:pt x="4674100" y="0"/>
                  <a:pt x="4715393" y="41293"/>
                  <a:pt x="4715393" y="92231"/>
                </a:cubicBezTo>
                <a:lnTo>
                  <a:pt x="4715393" y="438107"/>
                </a:lnTo>
                <a:cubicBezTo>
                  <a:pt x="4715393" y="489044"/>
                  <a:pt x="4674100" y="530338"/>
                  <a:pt x="4623162" y="530338"/>
                </a:cubicBezTo>
                <a:lnTo>
                  <a:pt x="92231" y="530338"/>
                </a:lnTo>
                <a:cubicBezTo>
                  <a:pt x="41293" y="530338"/>
                  <a:pt x="0" y="489044"/>
                  <a:pt x="0" y="438107"/>
                </a:cubicBezTo>
                <a:lnTo>
                  <a:pt x="0" y="92231"/>
                </a:lnTo>
                <a:cubicBezTo>
                  <a:pt x="0" y="41327"/>
                  <a:pt x="41327" y="0"/>
                  <a:pt x="92231" y="0"/>
                </a:cubicBezTo>
                <a:close/>
              </a:path>
            </a:pathLst>
          </a:custGeom>
          <a:solidFill>
            <a:srgbClr val="FFF7F9">
              <a:alpha val="20000"/>
            </a:srgbClr>
          </a:solidFill>
          <a:ln w="2540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zh-CN" altLang="en-US" sz="1440"/>
          </a:p>
        </p:txBody>
      </p:sp>
      <p:sp>
        <p:nvSpPr>
          <p:cNvPr id="50" name="Text 48"/>
          <p:cNvSpPr/>
          <p:nvPr/>
        </p:nvSpPr>
        <p:spPr>
          <a:xfrm>
            <a:off x="8822147" y="4015195"/>
            <a:ext cx="516502" cy="2213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分享型</a:t>
            </a:r>
            <a:endParaRPr lang="en-US" sz="128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1" name="Text 49"/>
          <p:cNvSpPr/>
          <p:nvPr/>
        </p:nvSpPr>
        <p:spPr>
          <a:xfrm>
            <a:off x="11923084" y="3996749"/>
            <a:ext cx="590289" cy="2582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2D501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33.3%</a:t>
            </a:r>
            <a:endParaRPr lang="en-US" sz="1280" dirty="0"/>
          </a:p>
        </p:txBody>
      </p:sp>
      <p:sp>
        <p:nvSpPr>
          <p:cNvPr id="52" name="Text 50"/>
          <p:cNvSpPr/>
          <p:nvPr/>
        </p:nvSpPr>
        <p:spPr>
          <a:xfrm>
            <a:off x="8697633" y="4457912"/>
            <a:ext cx="3855324" cy="1844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5" b="1" dirty="0">
                <a:solidFill>
                  <a:srgbClr val="4D4D4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洞察：</a:t>
            </a:r>
            <a:r>
              <a:rPr lang="en-US" sz="1015" dirty="0">
                <a:solidFill>
                  <a:srgbClr val="4D4D4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分享型人称略优于指导型，但两者差距不大</a:t>
            </a:r>
            <a:endParaRPr lang="en-US" sz="1280" dirty="0">
              <a:solidFill>
                <a:srgbClr val="4D4D4D"/>
              </a:solidFill>
            </a:endParaRPr>
          </a:p>
        </p:txBody>
      </p:sp>
      <p:sp>
        <p:nvSpPr>
          <p:cNvPr id="53" name="Shape 51"/>
          <p:cNvSpPr/>
          <p:nvPr/>
        </p:nvSpPr>
        <p:spPr>
          <a:xfrm>
            <a:off x="387377" y="4863736"/>
            <a:ext cx="12248493" cy="2075234"/>
          </a:xfrm>
          <a:custGeom>
            <a:avLst/>
            <a:gdLst/>
            <a:ahLst/>
            <a:cxnLst/>
            <a:rect l="l" t="t" r="r" b="b"/>
            <a:pathLst>
              <a:path w="15310616" h="2594043">
                <a:moveTo>
                  <a:pt x="46116" y="0"/>
                </a:moveTo>
                <a:lnTo>
                  <a:pt x="15172275" y="0"/>
                </a:lnTo>
                <a:cubicBezTo>
                  <a:pt x="15248679" y="0"/>
                  <a:pt x="15310616" y="61937"/>
                  <a:pt x="15310616" y="138340"/>
                </a:cubicBezTo>
                <a:lnTo>
                  <a:pt x="15310616" y="2455702"/>
                </a:lnTo>
                <a:cubicBezTo>
                  <a:pt x="15310616" y="2532105"/>
                  <a:pt x="15248679" y="2594043"/>
                  <a:pt x="15172275" y="2594043"/>
                </a:cubicBezTo>
                <a:lnTo>
                  <a:pt x="46116" y="2594043"/>
                </a:lnTo>
                <a:cubicBezTo>
                  <a:pt x="20647" y="2594043"/>
                  <a:pt x="0" y="2573396"/>
                  <a:pt x="0" y="2547926"/>
                </a:cubicBezTo>
                <a:lnTo>
                  <a:pt x="0" y="46116"/>
                </a:lnTo>
                <a:cubicBezTo>
                  <a:pt x="0" y="20647"/>
                  <a:pt x="20647" y="0"/>
                  <a:pt x="46116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72936" dist="11529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 sz="1440"/>
          </a:p>
        </p:txBody>
      </p:sp>
      <p:sp>
        <p:nvSpPr>
          <p:cNvPr id="54" name="Shape 52"/>
          <p:cNvSpPr/>
          <p:nvPr/>
        </p:nvSpPr>
        <p:spPr>
          <a:xfrm>
            <a:off x="387377" y="4863736"/>
            <a:ext cx="36893" cy="2075234"/>
          </a:xfrm>
          <a:custGeom>
            <a:avLst/>
            <a:gdLst/>
            <a:ahLst/>
            <a:cxnLst/>
            <a:rect l="l" t="t" r="r" b="b"/>
            <a:pathLst>
              <a:path w="46116" h="2594043">
                <a:moveTo>
                  <a:pt x="46116" y="0"/>
                </a:moveTo>
                <a:lnTo>
                  <a:pt x="46116" y="0"/>
                </a:lnTo>
                <a:lnTo>
                  <a:pt x="46116" y="2594043"/>
                </a:lnTo>
                <a:lnTo>
                  <a:pt x="46116" y="2594043"/>
                </a:lnTo>
                <a:cubicBezTo>
                  <a:pt x="20647" y="2594043"/>
                  <a:pt x="0" y="2573396"/>
                  <a:pt x="0" y="2547926"/>
                </a:cubicBezTo>
                <a:lnTo>
                  <a:pt x="0" y="46116"/>
                </a:lnTo>
                <a:cubicBezTo>
                  <a:pt x="0" y="20647"/>
                  <a:pt x="20647" y="0"/>
                  <a:pt x="46116" y="0"/>
                </a:cubicBezTo>
                <a:close/>
              </a:path>
            </a:pathLst>
          </a:custGeom>
          <a:solidFill>
            <a:srgbClr val="C17D7D"/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55" name="Shape 53"/>
          <p:cNvSpPr/>
          <p:nvPr/>
        </p:nvSpPr>
        <p:spPr>
          <a:xfrm>
            <a:off x="553396" y="5011308"/>
            <a:ext cx="590289" cy="590289"/>
          </a:xfrm>
          <a:custGeom>
            <a:avLst/>
            <a:gdLst/>
            <a:ahLst/>
            <a:cxnLst/>
            <a:rect l="l" t="t" r="r" b="b"/>
            <a:pathLst>
              <a:path w="737861" h="737861">
                <a:moveTo>
                  <a:pt x="368930" y="0"/>
                </a:moveTo>
                <a:lnTo>
                  <a:pt x="368930" y="0"/>
                </a:lnTo>
                <a:cubicBezTo>
                  <a:pt x="572685" y="0"/>
                  <a:pt x="737861" y="165176"/>
                  <a:pt x="737861" y="368930"/>
                </a:cubicBezTo>
                <a:lnTo>
                  <a:pt x="737861" y="368930"/>
                </a:lnTo>
                <a:cubicBezTo>
                  <a:pt x="737861" y="572685"/>
                  <a:pt x="572685" y="737861"/>
                  <a:pt x="368931" y="737861"/>
                </a:cubicBezTo>
                <a:lnTo>
                  <a:pt x="368930" y="737861"/>
                </a:lnTo>
                <a:cubicBezTo>
                  <a:pt x="165176" y="737861"/>
                  <a:pt x="0" y="572685"/>
                  <a:pt x="0" y="368930"/>
                </a:cubicBezTo>
                <a:lnTo>
                  <a:pt x="0" y="368930"/>
                </a:lnTo>
                <a:cubicBezTo>
                  <a:pt x="0" y="165176"/>
                  <a:pt x="165176" y="0"/>
                  <a:pt x="368930" y="0"/>
                </a:cubicBezTo>
                <a:close/>
              </a:path>
            </a:pathLst>
          </a:custGeom>
          <a:solidFill>
            <a:srgbClr val="C17D7D"/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56" name="Shape 54"/>
          <p:cNvSpPr/>
          <p:nvPr/>
        </p:nvSpPr>
        <p:spPr>
          <a:xfrm>
            <a:off x="712497" y="5168103"/>
            <a:ext cx="276698" cy="276698"/>
          </a:xfrm>
          <a:custGeom>
            <a:avLst/>
            <a:gdLst/>
            <a:ahLst/>
            <a:cxnLst/>
            <a:rect l="l" t="t" r="r" b="b"/>
            <a:pathLst>
              <a:path w="345872" h="345872">
                <a:moveTo>
                  <a:pt x="97479" y="0"/>
                </a:moveTo>
                <a:lnTo>
                  <a:pt x="248798" y="0"/>
                </a:lnTo>
                <a:cubicBezTo>
                  <a:pt x="266700" y="0"/>
                  <a:pt x="281291" y="14727"/>
                  <a:pt x="280616" y="32561"/>
                </a:cubicBezTo>
                <a:cubicBezTo>
                  <a:pt x="280481" y="36141"/>
                  <a:pt x="280346" y="39721"/>
                  <a:pt x="280143" y="43234"/>
                </a:cubicBezTo>
                <a:lnTo>
                  <a:pt x="313649" y="43234"/>
                </a:lnTo>
                <a:cubicBezTo>
                  <a:pt x="331281" y="43234"/>
                  <a:pt x="346818" y="57826"/>
                  <a:pt x="345467" y="76876"/>
                </a:cubicBezTo>
                <a:cubicBezTo>
                  <a:pt x="340401" y="146928"/>
                  <a:pt x="304597" y="185434"/>
                  <a:pt x="265754" y="205564"/>
                </a:cubicBezTo>
                <a:cubicBezTo>
                  <a:pt x="255081" y="211104"/>
                  <a:pt x="244205" y="215224"/>
                  <a:pt x="233869" y="218264"/>
                </a:cubicBezTo>
                <a:cubicBezTo>
                  <a:pt x="220223" y="237585"/>
                  <a:pt x="206037" y="247785"/>
                  <a:pt x="194756" y="253257"/>
                </a:cubicBezTo>
                <a:lnTo>
                  <a:pt x="194756" y="302638"/>
                </a:lnTo>
                <a:lnTo>
                  <a:pt x="237990" y="302638"/>
                </a:lnTo>
                <a:cubicBezTo>
                  <a:pt x="249947" y="302638"/>
                  <a:pt x="259607" y="312298"/>
                  <a:pt x="259607" y="324255"/>
                </a:cubicBezTo>
                <a:cubicBezTo>
                  <a:pt x="259607" y="336212"/>
                  <a:pt x="249947" y="345872"/>
                  <a:pt x="237990" y="345872"/>
                </a:cubicBezTo>
                <a:lnTo>
                  <a:pt x="108288" y="345872"/>
                </a:lnTo>
                <a:cubicBezTo>
                  <a:pt x="96331" y="345872"/>
                  <a:pt x="86671" y="336212"/>
                  <a:pt x="86671" y="324255"/>
                </a:cubicBezTo>
                <a:cubicBezTo>
                  <a:pt x="86671" y="312298"/>
                  <a:pt x="96331" y="302638"/>
                  <a:pt x="108288" y="302638"/>
                </a:cubicBezTo>
                <a:lnTo>
                  <a:pt x="151522" y="302638"/>
                </a:lnTo>
                <a:lnTo>
                  <a:pt x="151522" y="253257"/>
                </a:lnTo>
                <a:cubicBezTo>
                  <a:pt x="140713" y="248055"/>
                  <a:pt x="127270" y="238395"/>
                  <a:pt x="114165" y="220629"/>
                </a:cubicBezTo>
                <a:cubicBezTo>
                  <a:pt x="101735" y="217386"/>
                  <a:pt x="88224" y="212455"/>
                  <a:pt x="75052" y="205024"/>
                </a:cubicBezTo>
                <a:cubicBezTo>
                  <a:pt x="38505" y="184555"/>
                  <a:pt x="5539" y="145982"/>
                  <a:pt x="811" y="76740"/>
                </a:cubicBezTo>
                <a:cubicBezTo>
                  <a:pt x="-473" y="57758"/>
                  <a:pt x="14997" y="43166"/>
                  <a:pt x="32628" y="43166"/>
                </a:cubicBezTo>
                <a:lnTo>
                  <a:pt x="66135" y="43166"/>
                </a:lnTo>
                <a:cubicBezTo>
                  <a:pt x="65932" y="39654"/>
                  <a:pt x="65797" y="36141"/>
                  <a:pt x="65662" y="32493"/>
                </a:cubicBezTo>
                <a:cubicBezTo>
                  <a:pt x="64986" y="14591"/>
                  <a:pt x="79578" y="-68"/>
                  <a:pt x="97479" y="-68"/>
                </a:cubicBezTo>
                <a:close/>
                <a:moveTo>
                  <a:pt x="68566" y="75660"/>
                </a:moveTo>
                <a:lnTo>
                  <a:pt x="33169" y="75660"/>
                </a:lnTo>
                <a:cubicBezTo>
                  <a:pt x="37357" y="132877"/>
                  <a:pt x="63635" y="161520"/>
                  <a:pt x="90724" y="176719"/>
                </a:cubicBezTo>
                <a:cubicBezTo>
                  <a:pt x="80996" y="151522"/>
                  <a:pt x="72957" y="118623"/>
                  <a:pt x="68566" y="75660"/>
                </a:cubicBezTo>
                <a:close/>
                <a:moveTo>
                  <a:pt x="256702" y="173477"/>
                </a:moveTo>
                <a:cubicBezTo>
                  <a:pt x="284061" y="157399"/>
                  <a:pt x="308786" y="128824"/>
                  <a:pt x="312974" y="75660"/>
                </a:cubicBezTo>
                <a:lnTo>
                  <a:pt x="277644" y="75660"/>
                </a:lnTo>
                <a:cubicBezTo>
                  <a:pt x="273455" y="116799"/>
                  <a:pt x="265889" y="148752"/>
                  <a:pt x="256702" y="173477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57" name="Text 55"/>
          <p:cNvSpPr/>
          <p:nvPr/>
        </p:nvSpPr>
        <p:spPr>
          <a:xfrm>
            <a:off x="1291257" y="5011307"/>
            <a:ext cx="11307720" cy="295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5" b="1" dirty="0">
                <a:solidFill>
                  <a:srgbClr val="4D4D4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黄金策略组合</a:t>
            </a:r>
            <a:endParaRPr lang="en-US" sz="1280" dirty="0">
              <a:solidFill>
                <a:srgbClr val="4D4D4D"/>
              </a:solidFill>
            </a:endParaRPr>
          </a:p>
        </p:txBody>
      </p:sp>
      <p:sp>
        <p:nvSpPr>
          <p:cNvPr id="58" name="Shape 56"/>
          <p:cNvSpPr/>
          <p:nvPr/>
        </p:nvSpPr>
        <p:spPr>
          <a:xfrm>
            <a:off x="1291257" y="5417132"/>
            <a:ext cx="3633966" cy="811647"/>
          </a:xfrm>
          <a:custGeom>
            <a:avLst/>
            <a:gdLst/>
            <a:ahLst/>
            <a:cxnLst/>
            <a:rect l="l" t="t" r="r" b="b"/>
            <a:pathLst>
              <a:path w="4542457" h="1014559">
                <a:moveTo>
                  <a:pt x="92234" y="0"/>
                </a:moveTo>
                <a:lnTo>
                  <a:pt x="4450223" y="0"/>
                </a:lnTo>
                <a:cubicBezTo>
                  <a:pt x="4501162" y="0"/>
                  <a:pt x="4542457" y="41294"/>
                  <a:pt x="4542457" y="92234"/>
                </a:cubicBezTo>
                <a:lnTo>
                  <a:pt x="4542457" y="922325"/>
                </a:lnTo>
                <a:cubicBezTo>
                  <a:pt x="4542457" y="973264"/>
                  <a:pt x="4501162" y="1014559"/>
                  <a:pt x="4450223" y="1014559"/>
                </a:cubicBezTo>
                <a:lnTo>
                  <a:pt x="92234" y="1014559"/>
                </a:lnTo>
                <a:cubicBezTo>
                  <a:pt x="41294" y="1014559"/>
                  <a:pt x="0" y="973264"/>
                  <a:pt x="0" y="922325"/>
                </a:cubicBezTo>
                <a:lnTo>
                  <a:pt x="0" y="92234"/>
                </a:lnTo>
                <a:cubicBezTo>
                  <a:pt x="0" y="41328"/>
                  <a:pt x="41328" y="0"/>
                  <a:pt x="92234" y="0"/>
                </a:cubicBezTo>
                <a:close/>
              </a:path>
            </a:pathLst>
          </a:custGeom>
          <a:solidFill>
            <a:srgbClr val="D88C8C">
              <a:alpha val="10196"/>
            </a:srgbClr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59" name="Text 57"/>
          <p:cNvSpPr/>
          <p:nvPr/>
        </p:nvSpPr>
        <p:spPr>
          <a:xfrm>
            <a:off x="1332762" y="5527811"/>
            <a:ext cx="3550956" cy="3320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80" b="1" dirty="0">
                <a:solidFill>
                  <a:srgbClr val="C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具体身份</a:t>
            </a:r>
            <a:endParaRPr lang="en-US" sz="1280" dirty="0">
              <a:solidFill>
                <a:srgbClr val="C00000"/>
              </a:solidFill>
            </a:endParaRPr>
          </a:p>
        </p:txBody>
      </p:sp>
      <p:sp>
        <p:nvSpPr>
          <p:cNvPr id="60" name="Text 58"/>
          <p:cNvSpPr/>
          <p:nvPr/>
        </p:nvSpPr>
        <p:spPr>
          <a:xfrm>
            <a:off x="1365044" y="5896741"/>
            <a:ext cx="3486393" cy="2213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dirty="0">
                <a:solidFill>
                  <a:srgbClr val="C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明确权威来源</a:t>
            </a:r>
            <a:endParaRPr lang="en-US" sz="1280" dirty="0">
              <a:solidFill>
                <a:srgbClr val="C00000"/>
              </a:solidFill>
            </a:endParaRPr>
          </a:p>
        </p:txBody>
      </p:sp>
      <p:sp>
        <p:nvSpPr>
          <p:cNvPr id="61" name="Shape 59"/>
          <p:cNvSpPr/>
          <p:nvPr/>
        </p:nvSpPr>
        <p:spPr>
          <a:xfrm>
            <a:off x="5072026" y="5417132"/>
            <a:ext cx="3633966" cy="811647"/>
          </a:xfrm>
          <a:custGeom>
            <a:avLst/>
            <a:gdLst/>
            <a:ahLst/>
            <a:cxnLst/>
            <a:rect l="l" t="t" r="r" b="b"/>
            <a:pathLst>
              <a:path w="4542457" h="1014559">
                <a:moveTo>
                  <a:pt x="92234" y="0"/>
                </a:moveTo>
                <a:lnTo>
                  <a:pt x="4450223" y="0"/>
                </a:lnTo>
                <a:cubicBezTo>
                  <a:pt x="4501162" y="0"/>
                  <a:pt x="4542457" y="41294"/>
                  <a:pt x="4542457" y="92234"/>
                </a:cubicBezTo>
                <a:lnTo>
                  <a:pt x="4542457" y="922325"/>
                </a:lnTo>
                <a:cubicBezTo>
                  <a:pt x="4542457" y="973264"/>
                  <a:pt x="4501162" y="1014559"/>
                  <a:pt x="4450223" y="1014559"/>
                </a:cubicBezTo>
                <a:lnTo>
                  <a:pt x="92234" y="1014559"/>
                </a:lnTo>
                <a:cubicBezTo>
                  <a:pt x="41294" y="1014559"/>
                  <a:pt x="0" y="973264"/>
                  <a:pt x="0" y="922325"/>
                </a:cubicBezTo>
                <a:lnTo>
                  <a:pt x="0" y="92234"/>
                </a:lnTo>
                <a:cubicBezTo>
                  <a:pt x="0" y="41328"/>
                  <a:pt x="41328" y="0"/>
                  <a:pt x="92234" y="0"/>
                </a:cubicBezTo>
                <a:close/>
              </a:path>
            </a:pathLst>
          </a:custGeom>
          <a:solidFill>
            <a:srgbClr val="D88C8C">
              <a:alpha val="10196"/>
            </a:srgbClr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62" name="Text 60"/>
          <p:cNvSpPr/>
          <p:nvPr/>
        </p:nvSpPr>
        <p:spPr>
          <a:xfrm>
            <a:off x="5113531" y="5527811"/>
            <a:ext cx="3550956" cy="3320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80" b="1" dirty="0">
                <a:solidFill>
                  <a:srgbClr val="C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L4级证据</a:t>
            </a:r>
            <a:endParaRPr lang="en-US" sz="1280" dirty="0">
              <a:solidFill>
                <a:srgbClr val="C00000"/>
              </a:solidFill>
            </a:endParaRPr>
          </a:p>
        </p:txBody>
      </p:sp>
      <p:sp>
        <p:nvSpPr>
          <p:cNvPr id="63" name="Text 61"/>
          <p:cNvSpPr/>
          <p:nvPr/>
        </p:nvSpPr>
        <p:spPr>
          <a:xfrm>
            <a:off x="5145812" y="5896741"/>
            <a:ext cx="3486393" cy="2213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dirty="0">
                <a:solidFill>
                  <a:srgbClr val="C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详细过程说明</a:t>
            </a:r>
            <a:endParaRPr lang="en-US" sz="1280" dirty="0">
              <a:solidFill>
                <a:srgbClr val="C00000"/>
              </a:solidFill>
            </a:endParaRPr>
          </a:p>
        </p:txBody>
      </p:sp>
      <p:sp>
        <p:nvSpPr>
          <p:cNvPr id="64" name="Shape 62"/>
          <p:cNvSpPr/>
          <p:nvPr/>
        </p:nvSpPr>
        <p:spPr>
          <a:xfrm>
            <a:off x="8852891" y="5417132"/>
            <a:ext cx="3633966" cy="811647"/>
          </a:xfrm>
          <a:custGeom>
            <a:avLst/>
            <a:gdLst/>
            <a:ahLst/>
            <a:cxnLst/>
            <a:rect l="l" t="t" r="r" b="b"/>
            <a:pathLst>
              <a:path w="4542457" h="1014559">
                <a:moveTo>
                  <a:pt x="92234" y="0"/>
                </a:moveTo>
                <a:lnTo>
                  <a:pt x="4450223" y="0"/>
                </a:lnTo>
                <a:cubicBezTo>
                  <a:pt x="4501162" y="0"/>
                  <a:pt x="4542457" y="41294"/>
                  <a:pt x="4542457" y="92234"/>
                </a:cubicBezTo>
                <a:lnTo>
                  <a:pt x="4542457" y="922325"/>
                </a:lnTo>
                <a:cubicBezTo>
                  <a:pt x="4542457" y="973264"/>
                  <a:pt x="4501162" y="1014559"/>
                  <a:pt x="4450223" y="1014559"/>
                </a:cubicBezTo>
                <a:lnTo>
                  <a:pt x="92234" y="1014559"/>
                </a:lnTo>
                <a:cubicBezTo>
                  <a:pt x="41294" y="1014559"/>
                  <a:pt x="0" y="973264"/>
                  <a:pt x="0" y="922325"/>
                </a:cubicBezTo>
                <a:lnTo>
                  <a:pt x="0" y="92234"/>
                </a:lnTo>
                <a:cubicBezTo>
                  <a:pt x="0" y="41328"/>
                  <a:pt x="41328" y="0"/>
                  <a:pt x="92234" y="0"/>
                </a:cubicBezTo>
                <a:close/>
              </a:path>
            </a:pathLst>
          </a:custGeom>
          <a:solidFill>
            <a:srgbClr val="D88C8C">
              <a:alpha val="10196"/>
            </a:srgbClr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65" name="Text 63"/>
          <p:cNvSpPr/>
          <p:nvPr/>
        </p:nvSpPr>
        <p:spPr>
          <a:xfrm>
            <a:off x="8894396" y="5527811"/>
            <a:ext cx="3550956" cy="3320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80" b="1" dirty="0">
                <a:solidFill>
                  <a:srgbClr val="C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分享型人称</a:t>
            </a:r>
            <a:endParaRPr lang="en-US" sz="1280" dirty="0">
              <a:solidFill>
                <a:srgbClr val="C00000"/>
              </a:solidFill>
            </a:endParaRPr>
          </a:p>
        </p:txBody>
      </p:sp>
      <p:sp>
        <p:nvSpPr>
          <p:cNvPr id="66" name="Text 64"/>
          <p:cNvSpPr/>
          <p:nvPr/>
        </p:nvSpPr>
        <p:spPr>
          <a:xfrm>
            <a:off x="8926677" y="5896741"/>
            <a:ext cx="3486393" cy="2213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dirty="0">
                <a:solidFill>
                  <a:srgbClr val="C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经验分享口吻</a:t>
            </a:r>
            <a:endParaRPr lang="en-US" sz="1280" dirty="0">
              <a:solidFill>
                <a:srgbClr val="C00000"/>
              </a:solidFill>
            </a:endParaRPr>
          </a:p>
        </p:txBody>
      </p:sp>
      <p:sp>
        <p:nvSpPr>
          <p:cNvPr id="67" name="Shape 65"/>
          <p:cNvSpPr/>
          <p:nvPr/>
        </p:nvSpPr>
        <p:spPr>
          <a:xfrm>
            <a:off x="1294332" y="6342532"/>
            <a:ext cx="11184743" cy="448866"/>
          </a:xfrm>
          <a:custGeom>
            <a:avLst/>
            <a:gdLst/>
            <a:ahLst/>
            <a:cxnLst/>
            <a:rect l="l" t="t" r="r" b="b"/>
            <a:pathLst>
              <a:path w="13980929" h="561082">
                <a:moveTo>
                  <a:pt x="92231" y="0"/>
                </a:moveTo>
                <a:lnTo>
                  <a:pt x="13888698" y="0"/>
                </a:lnTo>
                <a:cubicBezTo>
                  <a:pt x="13939636" y="0"/>
                  <a:pt x="13980929" y="41293"/>
                  <a:pt x="13980929" y="92231"/>
                </a:cubicBezTo>
                <a:lnTo>
                  <a:pt x="13980929" y="468851"/>
                </a:lnTo>
                <a:cubicBezTo>
                  <a:pt x="13980929" y="519789"/>
                  <a:pt x="13939636" y="561082"/>
                  <a:pt x="13888698" y="561082"/>
                </a:cubicBezTo>
                <a:lnTo>
                  <a:pt x="92231" y="561082"/>
                </a:lnTo>
                <a:cubicBezTo>
                  <a:pt x="41293" y="561082"/>
                  <a:pt x="0" y="519789"/>
                  <a:pt x="0" y="468851"/>
                </a:cubicBezTo>
                <a:lnTo>
                  <a:pt x="0" y="92231"/>
                </a:lnTo>
                <a:cubicBezTo>
                  <a:pt x="0" y="41293"/>
                  <a:pt x="41293" y="0"/>
                  <a:pt x="92231" y="0"/>
                </a:cubicBezTo>
                <a:close/>
              </a:path>
            </a:pathLst>
          </a:custGeom>
          <a:solidFill>
            <a:srgbClr val="C17D7D">
              <a:alpha val="9000"/>
            </a:srgbClr>
          </a:solidFill>
          <a:ln w="8467">
            <a:solidFill>
              <a:srgbClr val="2D501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sz="1440"/>
          </a:p>
        </p:txBody>
      </p:sp>
      <p:sp>
        <p:nvSpPr>
          <p:cNvPr id="68" name="Shape 66"/>
          <p:cNvSpPr/>
          <p:nvPr/>
        </p:nvSpPr>
        <p:spPr>
          <a:xfrm>
            <a:off x="4752094" y="6493177"/>
            <a:ext cx="166018" cy="147572"/>
          </a:xfrm>
          <a:custGeom>
            <a:avLst/>
            <a:gdLst/>
            <a:ahLst/>
            <a:cxnLst/>
            <a:rect l="l" t="t" r="r" b="b"/>
            <a:pathLst>
              <a:path w="207523" h="184465">
                <a:moveTo>
                  <a:pt x="111508" y="-6809"/>
                </a:moveTo>
                <a:cubicBezTo>
                  <a:pt x="110031" y="-9692"/>
                  <a:pt x="107040" y="-11529"/>
                  <a:pt x="103798" y="-11529"/>
                </a:cubicBezTo>
                <a:cubicBezTo>
                  <a:pt x="100555" y="-11529"/>
                  <a:pt x="97565" y="-9692"/>
                  <a:pt x="96088" y="-6809"/>
                </a:cubicBezTo>
                <a:lnTo>
                  <a:pt x="69571" y="45144"/>
                </a:lnTo>
                <a:lnTo>
                  <a:pt x="11961" y="54295"/>
                </a:lnTo>
                <a:cubicBezTo>
                  <a:pt x="8755" y="54799"/>
                  <a:pt x="6089" y="57069"/>
                  <a:pt x="5080" y="60167"/>
                </a:cubicBezTo>
                <a:cubicBezTo>
                  <a:pt x="4071" y="63266"/>
                  <a:pt x="4900" y="66652"/>
                  <a:pt x="7170" y="68958"/>
                </a:cubicBezTo>
                <a:lnTo>
                  <a:pt x="48386" y="110211"/>
                </a:lnTo>
                <a:lnTo>
                  <a:pt x="39307" y="167820"/>
                </a:lnTo>
                <a:cubicBezTo>
                  <a:pt x="38803" y="171027"/>
                  <a:pt x="40136" y="174269"/>
                  <a:pt x="42766" y="176179"/>
                </a:cubicBezTo>
                <a:cubicBezTo>
                  <a:pt x="45396" y="178088"/>
                  <a:pt x="48854" y="178376"/>
                  <a:pt x="51773" y="176899"/>
                </a:cubicBezTo>
                <a:lnTo>
                  <a:pt x="103798" y="150454"/>
                </a:lnTo>
                <a:lnTo>
                  <a:pt x="155787" y="176899"/>
                </a:lnTo>
                <a:cubicBezTo>
                  <a:pt x="158669" y="178376"/>
                  <a:pt x="162164" y="178088"/>
                  <a:pt x="164794" y="176179"/>
                </a:cubicBezTo>
                <a:cubicBezTo>
                  <a:pt x="167424" y="174269"/>
                  <a:pt x="168757" y="171063"/>
                  <a:pt x="168252" y="167820"/>
                </a:cubicBezTo>
                <a:lnTo>
                  <a:pt x="159137" y="110211"/>
                </a:lnTo>
                <a:lnTo>
                  <a:pt x="200354" y="68958"/>
                </a:lnTo>
                <a:cubicBezTo>
                  <a:pt x="202660" y="66652"/>
                  <a:pt x="203452" y="63266"/>
                  <a:pt x="202443" y="60167"/>
                </a:cubicBezTo>
                <a:cubicBezTo>
                  <a:pt x="201435" y="57069"/>
                  <a:pt x="198805" y="54799"/>
                  <a:pt x="195562" y="54295"/>
                </a:cubicBezTo>
                <a:lnTo>
                  <a:pt x="137989" y="45144"/>
                </a:lnTo>
                <a:lnTo>
                  <a:pt x="111508" y="-6809"/>
                </a:lnTo>
                <a:close/>
              </a:path>
            </a:pathLst>
          </a:custGeom>
          <a:solidFill>
            <a:srgbClr val="B10000"/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69" name="Text 67"/>
          <p:cNvSpPr/>
          <p:nvPr/>
        </p:nvSpPr>
        <p:spPr>
          <a:xfrm>
            <a:off x="1622640" y="6456284"/>
            <a:ext cx="10779574" cy="2213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b="1" dirty="0">
                <a:solidFill>
                  <a:schemeClr val="bg2">
                    <a:lumMod val="2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最优策略：</a:t>
            </a:r>
            <a:r>
              <a:rPr lang="en-US" sz="1160" dirty="0">
                <a:solidFill>
                  <a:schemeClr val="bg2">
                    <a:lumMod val="2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具体身份 + L4级证据 + 分享型人称 = 最高互动效果</a:t>
            </a:r>
            <a:endParaRPr lang="en-US" sz="128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17245386807-bb43f82c33c4?w=1280&amp;h=720&amp;fit=crop"/>
          <p:cNvPicPr>
            <a:picLocks noChangeAspect="1"/>
          </p:cNvPicPr>
          <p:nvPr/>
        </p:nvPicPr>
        <p:blipFill>
          <a:blip r:embed="rId1">
            <a:alphaModFix amt="15000"/>
          </a:blip>
          <a:srcRect/>
          <a:stretch>
            <a:fillRect/>
          </a:stretch>
        </p:blipFill>
        <p:spPr>
          <a:xfrm>
            <a:off x="0" y="0"/>
            <a:ext cx="13004800" cy="73152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3004800" cy="73152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EFDF7">
                  <a:alpha val="95000"/>
                </a:srgbClr>
              </a:gs>
              <a:gs pos="50000">
                <a:srgbClr val="FEFDF7">
                  <a:alpha val="85000"/>
                </a:srgbClr>
              </a:gs>
              <a:gs pos="100000">
                <a:srgbClr val="CE9A9A"/>
              </a:gs>
            </a:gsLst>
            <a:lin ang="2700000" scaled="1"/>
          </a:gradFill>
        </p:spPr>
        <p:txBody>
          <a:bodyPr/>
          <a:lstStyle/>
          <a:p>
            <a:endParaRPr lang="zh-CN" altLang="en-US" sz="1440"/>
          </a:p>
        </p:txBody>
      </p:sp>
      <p:sp>
        <p:nvSpPr>
          <p:cNvPr id="4" name="Text 1"/>
          <p:cNvSpPr/>
          <p:nvPr/>
        </p:nvSpPr>
        <p:spPr>
          <a:xfrm>
            <a:off x="406400" y="406400"/>
            <a:ext cx="1243584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840" b="1" dirty="0" err="1">
                <a:solidFill>
                  <a:srgbClr val="4D4D4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05 研究总结与展望</a:t>
            </a:r>
            <a:endParaRPr lang="en-US" sz="1280" dirty="0">
              <a:solidFill>
                <a:srgbClr val="4D4D4D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406400" y="1016000"/>
            <a:ext cx="1300480" cy="4064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88C8C"/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6" name="Shape 3"/>
          <p:cNvSpPr/>
          <p:nvPr/>
        </p:nvSpPr>
        <p:spPr>
          <a:xfrm>
            <a:off x="426720" y="1219200"/>
            <a:ext cx="12171680" cy="1584960"/>
          </a:xfrm>
          <a:custGeom>
            <a:avLst/>
            <a:gdLst/>
            <a:ahLst/>
            <a:cxnLst/>
            <a:rect l="l" t="t" r="r" b="b"/>
            <a:pathLst>
              <a:path w="15214600" h="1981200">
                <a:moveTo>
                  <a:pt x="50800" y="0"/>
                </a:moveTo>
                <a:lnTo>
                  <a:pt x="15062206" y="0"/>
                </a:lnTo>
                <a:cubicBezTo>
                  <a:pt x="15146371" y="0"/>
                  <a:pt x="15214600" y="68229"/>
                  <a:pt x="15214600" y="152394"/>
                </a:cubicBezTo>
                <a:lnTo>
                  <a:pt x="15214600" y="1828806"/>
                </a:lnTo>
                <a:cubicBezTo>
                  <a:pt x="15214600" y="1912971"/>
                  <a:pt x="15146371" y="1981200"/>
                  <a:pt x="15062206" y="1981200"/>
                </a:cubicBezTo>
                <a:lnTo>
                  <a:pt x="50800" y="1981200"/>
                </a:lnTo>
                <a:cubicBezTo>
                  <a:pt x="22763" y="1981200"/>
                  <a:pt x="0" y="1958437"/>
                  <a:pt x="0" y="1930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 sz="1440"/>
          </a:p>
        </p:txBody>
      </p:sp>
      <p:sp>
        <p:nvSpPr>
          <p:cNvPr id="7" name="Shape 4"/>
          <p:cNvSpPr/>
          <p:nvPr/>
        </p:nvSpPr>
        <p:spPr>
          <a:xfrm>
            <a:off x="426720" y="1219200"/>
            <a:ext cx="40640" cy="1584960"/>
          </a:xfrm>
          <a:custGeom>
            <a:avLst/>
            <a:gdLst/>
            <a:ahLst/>
            <a:cxnLst/>
            <a:rect l="l" t="t" r="r" b="b"/>
            <a:pathLst>
              <a:path w="50800" h="1981200">
                <a:moveTo>
                  <a:pt x="50800" y="0"/>
                </a:moveTo>
                <a:lnTo>
                  <a:pt x="50800" y="0"/>
                </a:lnTo>
                <a:lnTo>
                  <a:pt x="50800" y="1981200"/>
                </a:lnTo>
                <a:lnTo>
                  <a:pt x="50800" y="1981200"/>
                </a:lnTo>
                <a:cubicBezTo>
                  <a:pt x="22763" y="1981200"/>
                  <a:pt x="0" y="1958437"/>
                  <a:pt x="0" y="1930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ED1C6"/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8" name="Shape 5"/>
          <p:cNvSpPr/>
          <p:nvPr/>
        </p:nvSpPr>
        <p:spPr>
          <a:xfrm>
            <a:off x="635000" y="1422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68870" y="105519"/>
                </a:moveTo>
                <a:lnTo>
                  <a:pt x="129183" y="169019"/>
                </a:lnTo>
                <a:cubicBezTo>
                  <a:pt x="127099" y="172343"/>
                  <a:pt x="123527" y="174427"/>
                  <a:pt x="119608" y="174625"/>
                </a:cubicBezTo>
                <a:cubicBezTo>
                  <a:pt x="115689" y="174823"/>
                  <a:pt x="111919" y="173038"/>
                  <a:pt x="109587" y="169863"/>
                </a:cubicBezTo>
                <a:lnTo>
                  <a:pt x="85775" y="138113"/>
                </a:lnTo>
                <a:cubicBezTo>
                  <a:pt x="81806" y="132854"/>
                  <a:pt x="82897" y="125413"/>
                  <a:pt x="88156" y="121444"/>
                </a:cubicBezTo>
                <a:cubicBezTo>
                  <a:pt x="93414" y="117475"/>
                  <a:pt x="100856" y="118566"/>
                  <a:pt x="104825" y="123825"/>
                </a:cubicBezTo>
                <a:lnTo>
                  <a:pt x="118219" y="141684"/>
                </a:lnTo>
                <a:lnTo>
                  <a:pt x="148679" y="92918"/>
                </a:lnTo>
                <a:cubicBezTo>
                  <a:pt x="152152" y="87362"/>
                  <a:pt x="159494" y="85626"/>
                  <a:pt x="165100" y="89148"/>
                </a:cubicBezTo>
                <a:cubicBezTo>
                  <a:pt x="170706" y="92670"/>
                  <a:pt x="172393" y="99963"/>
                  <a:pt x="168870" y="105569"/>
                </a:cubicBezTo>
                <a:close/>
              </a:path>
            </a:pathLst>
          </a:custGeom>
          <a:solidFill>
            <a:srgbClr val="C17D7D"/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9" name="Text 6"/>
          <p:cNvSpPr/>
          <p:nvPr/>
        </p:nvSpPr>
        <p:spPr>
          <a:xfrm>
            <a:off x="894080" y="1360170"/>
            <a:ext cx="11643360" cy="28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4D4D4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核心研究成果</a:t>
            </a:r>
            <a:endParaRPr lang="en-US" sz="1280" dirty="0">
              <a:solidFill>
                <a:srgbClr val="4D4D4D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619760" y="1828800"/>
            <a:ext cx="182880" cy="16256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22833" y="-7501"/>
                </a:moveTo>
                <a:cubicBezTo>
                  <a:pt x="121206" y="-10676"/>
                  <a:pt x="117912" y="-12700"/>
                  <a:pt x="114340" y="-12700"/>
                </a:cubicBezTo>
                <a:cubicBezTo>
                  <a:pt x="110768" y="-12700"/>
                  <a:pt x="107474" y="-10676"/>
                  <a:pt x="105847" y="-7501"/>
                </a:cubicBezTo>
                <a:lnTo>
                  <a:pt x="76637" y="49728"/>
                </a:lnTo>
                <a:lnTo>
                  <a:pt x="13176" y="59809"/>
                </a:lnTo>
                <a:cubicBezTo>
                  <a:pt x="9644" y="60365"/>
                  <a:pt x="6707" y="62865"/>
                  <a:pt x="5596" y="66278"/>
                </a:cubicBezTo>
                <a:cubicBezTo>
                  <a:pt x="4485" y="69691"/>
                  <a:pt x="5398" y="73422"/>
                  <a:pt x="7898" y="75962"/>
                </a:cubicBezTo>
                <a:lnTo>
                  <a:pt x="53300" y="121404"/>
                </a:lnTo>
                <a:lnTo>
                  <a:pt x="43299" y="184864"/>
                </a:lnTo>
                <a:cubicBezTo>
                  <a:pt x="42743" y="188397"/>
                  <a:pt x="44212" y="191968"/>
                  <a:pt x="47109" y="194072"/>
                </a:cubicBezTo>
                <a:cubicBezTo>
                  <a:pt x="50006" y="196175"/>
                  <a:pt x="53816" y="196493"/>
                  <a:pt x="57031" y="194866"/>
                </a:cubicBezTo>
                <a:lnTo>
                  <a:pt x="114340" y="165735"/>
                </a:lnTo>
                <a:lnTo>
                  <a:pt x="171609" y="194866"/>
                </a:lnTo>
                <a:cubicBezTo>
                  <a:pt x="174784" y="196493"/>
                  <a:pt x="178633" y="196175"/>
                  <a:pt x="181531" y="194072"/>
                </a:cubicBezTo>
                <a:cubicBezTo>
                  <a:pt x="184428" y="191968"/>
                  <a:pt x="185896" y="188436"/>
                  <a:pt x="185341" y="184864"/>
                </a:cubicBezTo>
                <a:lnTo>
                  <a:pt x="175300" y="121404"/>
                </a:lnTo>
                <a:lnTo>
                  <a:pt x="220702" y="75962"/>
                </a:lnTo>
                <a:cubicBezTo>
                  <a:pt x="223242" y="73422"/>
                  <a:pt x="224115" y="69691"/>
                  <a:pt x="223004" y="66278"/>
                </a:cubicBezTo>
                <a:cubicBezTo>
                  <a:pt x="221893" y="62865"/>
                  <a:pt x="218996" y="60365"/>
                  <a:pt x="215424" y="59809"/>
                </a:cubicBezTo>
                <a:lnTo>
                  <a:pt x="152003" y="49728"/>
                </a:lnTo>
                <a:lnTo>
                  <a:pt x="122833" y="-7501"/>
                </a:lnTo>
                <a:close/>
              </a:path>
            </a:pathLst>
          </a:custGeom>
          <a:solidFill>
            <a:srgbClr val="C17D7D"/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11" name="Text 8"/>
          <p:cNvSpPr/>
          <p:nvPr/>
        </p:nvSpPr>
        <p:spPr>
          <a:xfrm>
            <a:off x="894080" y="1734185"/>
            <a:ext cx="4914689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0" b="1" dirty="0">
                <a:solidFill>
                  <a:srgbClr val="4D4D4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身</a:t>
            </a:r>
            <a:r>
              <a:rPr lang="en-US" sz="1280" b="1" dirty="0">
                <a:solidFill>
                  <a:srgbClr val="4D4D4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份展示策略：</a:t>
            </a:r>
            <a:r>
              <a:rPr lang="en-US" sz="1280" dirty="0">
                <a:solidFill>
                  <a:srgbClr val="4D4D4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具体身份尽管使用较少，却在高互动内容中表现更为突出。这表明具体身份更能产生高质量、深度的互动效果。</a:t>
            </a:r>
            <a:endParaRPr lang="en-US" sz="1280" dirty="0">
              <a:solidFill>
                <a:srgbClr val="4D4D4D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593840" y="1537335"/>
            <a:ext cx="182880" cy="16256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22833" y="-7501"/>
                </a:moveTo>
                <a:cubicBezTo>
                  <a:pt x="121206" y="-10676"/>
                  <a:pt x="117912" y="-12700"/>
                  <a:pt x="114340" y="-12700"/>
                </a:cubicBezTo>
                <a:cubicBezTo>
                  <a:pt x="110768" y="-12700"/>
                  <a:pt x="107474" y="-10676"/>
                  <a:pt x="105847" y="-7501"/>
                </a:cubicBezTo>
                <a:lnTo>
                  <a:pt x="76637" y="49728"/>
                </a:lnTo>
                <a:lnTo>
                  <a:pt x="13176" y="59809"/>
                </a:lnTo>
                <a:cubicBezTo>
                  <a:pt x="9644" y="60365"/>
                  <a:pt x="6707" y="62865"/>
                  <a:pt x="5596" y="66278"/>
                </a:cubicBezTo>
                <a:cubicBezTo>
                  <a:pt x="4485" y="69691"/>
                  <a:pt x="5398" y="73422"/>
                  <a:pt x="7898" y="75962"/>
                </a:cubicBezTo>
                <a:lnTo>
                  <a:pt x="53300" y="121404"/>
                </a:lnTo>
                <a:lnTo>
                  <a:pt x="43299" y="184864"/>
                </a:lnTo>
                <a:cubicBezTo>
                  <a:pt x="42743" y="188397"/>
                  <a:pt x="44212" y="191968"/>
                  <a:pt x="47109" y="194072"/>
                </a:cubicBezTo>
                <a:cubicBezTo>
                  <a:pt x="50006" y="196175"/>
                  <a:pt x="53816" y="196493"/>
                  <a:pt x="57031" y="194866"/>
                </a:cubicBezTo>
                <a:lnTo>
                  <a:pt x="114340" y="165735"/>
                </a:lnTo>
                <a:lnTo>
                  <a:pt x="171609" y="194866"/>
                </a:lnTo>
                <a:cubicBezTo>
                  <a:pt x="174784" y="196493"/>
                  <a:pt x="178633" y="196175"/>
                  <a:pt x="181531" y="194072"/>
                </a:cubicBezTo>
                <a:cubicBezTo>
                  <a:pt x="184428" y="191968"/>
                  <a:pt x="185896" y="188436"/>
                  <a:pt x="185341" y="184864"/>
                </a:cubicBezTo>
                <a:lnTo>
                  <a:pt x="175300" y="121404"/>
                </a:lnTo>
                <a:lnTo>
                  <a:pt x="220702" y="75962"/>
                </a:lnTo>
                <a:cubicBezTo>
                  <a:pt x="223242" y="73422"/>
                  <a:pt x="224115" y="69691"/>
                  <a:pt x="223004" y="66278"/>
                </a:cubicBezTo>
                <a:cubicBezTo>
                  <a:pt x="221893" y="62865"/>
                  <a:pt x="218996" y="60365"/>
                  <a:pt x="215424" y="59809"/>
                </a:cubicBezTo>
                <a:lnTo>
                  <a:pt x="152003" y="49728"/>
                </a:lnTo>
                <a:lnTo>
                  <a:pt x="122833" y="-7501"/>
                </a:lnTo>
                <a:close/>
              </a:path>
            </a:pathLst>
          </a:custGeom>
          <a:solidFill>
            <a:srgbClr val="C17D7D"/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13" name="Text 10"/>
          <p:cNvSpPr/>
          <p:nvPr/>
        </p:nvSpPr>
        <p:spPr>
          <a:xfrm>
            <a:off x="6868160" y="1556385"/>
            <a:ext cx="5252720" cy="5759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0" b="1" dirty="0">
                <a:solidFill>
                  <a:srgbClr val="4D4D4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经验证明策略：</a:t>
            </a:r>
            <a:r>
              <a:rPr lang="en-US" sz="1280" dirty="0">
                <a:solidFill>
                  <a:srgbClr val="4D4D4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L4级证据（纯观点/情感表达） 使用最广泛，且在高互动内容中占比最高。这表明在校园内容领域，受众更看重真诚、个性化的经验分享与情感共鸣，而非单纯的数据罗列。</a:t>
            </a:r>
            <a:endParaRPr lang="en-US" sz="1280" dirty="0">
              <a:solidFill>
                <a:srgbClr val="4D4D4D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19760" y="2352040"/>
            <a:ext cx="182880" cy="16256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22833" y="-7501"/>
                </a:moveTo>
                <a:cubicBezTo>
                  <a:pt x="121206" y="-10676"/>
                  <a:pt x="117912" y="-12700"/>
                  <a:pt x="114340" y="-12700"/>
                </a:cubicBezTo>
                <a:cubicBezTo>
                  <a:pt x="110768" y="-12700"/>
                  <a:pt x="107474" y="-10676"/>
                  <a:pt x="105847" y="-7501"/>
                </a:cubicBezTo>
                <a:lnTo>
                  <a:pt x="76637" y="49728"/>
                </a:lnTo>
                <a:lnTo>
                  <a:pt x="13176" y="59809"/>
                </a:lnTo>
                <a:cubicBezTo>
                  <a:pt x="9644" y="60365"/>
                  <a:pt x="6707" y="62865"/>
                  <a:pt x="5596" y="66278"/>
                </a:cubicBezTo>
                <a:cubicBezTo>
                  <a:pt x="4485" y="69691"/>
                  <a:pt x="5398" y="73422"/>
                  <a:pt x="7898" y="75962"/>
                </a:cubicBezTo>
                <a:lnTo>
                  <a:pt x="53300" y="121404"/>
                </a:lnTo>
                <a:lnTo>
                  <a:pt x="43299" y="184864"/>
                </a:lnTo>
                <a:cubicBezTo>
                  <a:pt x="42743" y="188397"/>
                  <a:pt x="44212" y="191968"/>
                  <a:pt x="47109" y="194072"/>
                </a:cubicBezTo>
                <a:cubicBezTo>
                  <a:pt x="50006" y="196175"/>
                  <a:pt x="53816" y="196493"/>
                  <a:pt x="57031" y="194866"/>
                </a:cubicBezTo>
                <a:lnTo>
                  <a:pt x="114340" y="165735"/>
                </a:lnTo>
                <a:lnTo>
                  <a:pt x="171609" y="194866"/>
                </a:lnTo>
                <a:cubicBezTo>
                  <a:pt x="174784" y="196493"/>
                  <a:pt x="178633" y="196175"/>
                  <a:pt x="181531" y="194072"/>
                </a:cubicBezTo>
                <a:cubicBezTo>
                  <a:pt x="184428" y="191968"/>
                  <a:pt x="185896" y="188436"/>
                  <a:pt x="185341" y="184864"/>
                </a:cubicBezTo>
                <a:lnTo>
                  <a:pt x="175300" y="121404"/>
                </a:lnTo>
                <a:lnTo>
                  <a:pt x="220702" y="75962"/>
                </a:lnTo>
                <a:cubicBezTo>
                  <a:pt x="223242" y="73422"/>
                  <a:pt x="224115" y="69691"/>
                  <a:pt x="223004" y="66278"/>
                </a:cubicBezTo>
                <a:cubicBezTo>
                  <a:pt x="221893" y="62865"/>
                  <a:pt x="218996" y="60365"/>
                  <a:pt x="215424" y="59809"/>
                </a:cubicBezTo>
                <a:lnTo>
                  <a:pt x="152003" y="49728"/>
                </a:lnTo>
                <a:lnTo>
                  <a:pt x="122833" y="-7501"/>
                </a:lnTo>
                <a:close/>
              </a:path>
            </a:pathLst>
          </a:custGeom>
          <a:solidFill>
            <a:srgbClr val="C17D7D"/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15" name="Text 12"/>
          <p:cNvSpPr/>
          <p:nvPr/>
        </p:nvSpPr>
        <p:spPr>
          <a:xfrm>
            <a:off x="894080" y="2397760"/>
            <a:ext cx="4982845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0" b="1" dirty="0">
                <a:solidFill>
                  <a:srgbClr val="4D4D4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人称策略：</a:t>
            </a:r>
            <a:r>
              <a:rPr lang="en-US" sz="1280" dirty="0">
                <a:solidFill>
                  <a:srgbClr val="4D4D4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分享型人称最受欢迎，在高互动内容中占比33.3%，证明经验分享口吻比指导说教更有效。</a:t>
            </a:r>
            <a:endParaRPr lang="en-US" sz="1280" dirty="0">
              <a:solidFill>
                <a:srgbClr val="4D4D4D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593840" y="2341245"/>
            <a:ext cx="182880" cy="16256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22833" y="-7501"/>
                </a:moveTo>
                <a:cubicBezTo>
                  <a:pt x="121206" y="-10676"/>
                  <a:pt x="117912" y="-12700"/>
                  <a:pt x="114340" y="-12700"/>
                </a:cubicBezTo>
                <a:cubicBezTo>
                  <a:pt x="110768" y="-12700"/>
                  <a:pt x="107474" y="-10676"/>
                  <a:pt x="105847" y="-7501"/>
                </a:cubicBezTo>
                <a:lnTo>
                  <a:pt x="76637" y="49728"/>
                </a:lnTo>
                <a:lnTo>
                  <a:pt x="13176" y="59809"/>
                </a:lnTo>
                <a:cubicBezTo>
                  <a:pt x="9644" y="60365"/>
                  <a:pt x="6707" y="62865"/>
                  <a:pt x="5596" y="66278"/>
                </a:cubicBezTo>
                <a:cubicBezTo>
                  <a:pt x="4485" y="69691"/>
                  <a:pt x="5398" y="73422"/>
                  <a:pt x="7898" y="75962"/>
                </a:cubicBezTo>
                <a:lnTo>
                  <a:pt x="53300" y="121404"/>
                </a:lnTo>
                <a:lnTo>
                  <a:pt x="43299" y="184864"/>
                </a:lnTo>
                <a:cubicBezTo>
                  <a:pt x="42743" y="188397"/>
                  <a:pt x="44212" y="191968"/>
                  <a:pt x="47109" y="194072"/>
                </a:cubicBezTo>
                <a:cubicBezTo>
                  <a:pt x="50006" y="196175"/>
                  <a:pt x="53816" y="196493"/>
                  <a:pt x="57031" y="194866"/>
                </a:cubicBezTo>
                <a:lnTo>
                  <a:pt x="114340" y="165735"/>
                </a:lnTo>
                <a:lnTo>
                  <a:pt x="171609" y="194866"/>
                </a:lnTo>
                <a:cubicBezTo>
                  <a:pt x="174784" y="196493"/>
                  <a:pt x="178633" y="196175"/>
                  <a:pt x="181531" y="194072"/>
                </a:cubicBezTo>
                <a:cubicBezTo>
                  <a:pt x="184428" y="191968"/>
                  <a:pt x="185896" y="188436"/>
                  <a:pt x="185341" y="184864"/>
                </a:cubicBezTo>
                <a:lnTo>
                  <a:pt x="175300" y="121404"/>
                </a:lnTo>
                <a:lnTo>
                  <a:pt x="220702" y="75962"/>
                </a:lnTo>
                <a:cubicBezTo>
                  <a:pt x="223242" y="73422"/>
                  <a:pt x="224115" y="69691"/>
                  <a:pt x="223004" y="66278"/>
                </a:cubicBezTo>
                <a:cubicBezTo>
                  <a:pt x="221893" y="62865"/>
                  <a:pt x="218996" y="60365"/>
                  <a:pt x="215424" y="59809"/>
                </a:cubicBezTo>
                <a:lnTo>
                  <a:pt x="152003" y="49728"/>
                </a:lnTo>
                <a:lnTo>
                  <a:pt x="122833" y="-7501"/>
                </a:lnTo>
                <a:close/>
              </a:path>
            </a:pathLst>
          </a:custGeom>
          <a:solidFill>
            <a:srgbClr val="C17D7D"/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17" name="Text 14"/>
          <p:cNvSpPr/>
          <p:nvPr/>
        </p:nvSpPr>
        <p:spPr>
          <a:xfrm>
            <a:off x="6868160" y="2397760"/>
            <a:ext cx="544576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0" b="1" dirty="0">
                <a:solidFill>
                  <a:srgbClr val="4D4D4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组合策略：</a:t>
            </a:r>
            <a:r>
              <a:rPr lang="en-US" sz="1280" dirty="0">
                <a:solidFill>
                  <a:srgbClr val="4D4D4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“具体身份+L4证据+分享型人称”为最优组合，验证了多维策略的协同效应。</a:t>
            </a:r>
            <a:endParaRPr lang="en-US" sz="1280" dirty="0">
              <a:solidFill>
                <a:srgbClr val="4D4D4D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26720" y="2926080"/>
            <a:ext cx="12171680" cy="1544320"/>
          </a:xfrm>
          <a:custGeom>
            <a:avLst/>
            <a:gdLst/>
            <a:ahLst/>
            <a:cxnLst/>
            <a:rect l="l" t="t" r="r" b="b"/>
            <a:pathLst>
              <a:path w="15214600" h="1930400">
                <a:moveTo>
                  <a:pt x="50800" y="0"/>
                </a:moveTo>
                <a:lnTo>
                  <a:pt x="15062195" y="0"/>
                </a:lnTo>
                <a:cubicBezTo>
                  <a:pt x="15146366" y="0"/>
                  <a:pt x="15214600" y="68234"/>
                  <a:pt x="15214600" y="152405"/>
                </a:cubicBezTo>
                <a:lnTo>
                  <a:pt x="15214600" y="1777995"/>
                </a:lnTo>
                <a:cubicBezTo>
                  <a:pt x="15214600" y="1862166"/>
                  <a:pt x="15146366" y="1930400"/>
                  <a:pt x="15062195" y="1930400"/>
                </a:cubicBezTo>
                <a:lnTo>
                  <a:pt x="50800" y="1930400"/>
                </a:lnTo>
                <a:cubicBezTo>
                  <a:pt x="22744" y="1930400"/>
                  <a:pt x="0" y="1907656"/>
                  <a:pt x="0" y="187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 sz="1440"/>
          </a:p>
        </p:txBody>
      </p:sp>
      <p:sp>
        <p:nvSpPr>
          <p:cNvPr id="19" name="Shape 16"/>
          <p:cNvSpPr/>
          <p:nvPr/>
        </p:nvSpPr>
        <p:spPr>
          <a:xfrm>
            <a:off x="426720" y="2926080"/>
            <a:ext cx="40640" cy="1544320"/>
          </a:xfrm>
          <a:custGeom>
            <a:avLst/>
            <a:gdLst/>
            <a:ahLst/>
            <a:cxnLst/>
            <a:rect l="l" t="t" r="r" b="b"/>
            <a:pathLst>
              <a:path w="50800" h="1930400">
                <a:moveTo>
                  <a:pt x="50800" y="0"/>
                </a:moveTo>
                <a:lnTo>
                  <a:pt x="50800" y="0"/>
                </a:lnTo>
                <a:lnTo>
                  <a:pt x="50800" y="1930400"/>
                </a:lnTo>
                <a:lnTo>
                  <a:pt x="50800" y="1930400"/>
                </a:lnTo>
                <a:cubicBezTo>
                  <a:pt x="22763" y="1930400"/>
                  <a:pt x="0" y="1907637"/>
                  <a:pt x="0" y="187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ED1C6"/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20" name="Shape 17"/>
          <p:cNvSpPr/>
          <p:nvPr/>
        </p:nvSpPr>
        <p:spPr>
          <a:xfrm>
            <a:off x="660400" y="312928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45306" y="190500"/>
                </a:moveTo>
                <a:cubicBezTo>
                  <a:pt x="148927" y="179437"/>
                  <a:pt x="156170" y="169416"/>
                  <a:pt x="164356" y="160784"/>
                </a:cubicBezTo>
                <a:cubicBezTo>
                  <a:pt x="180578" y="143718"/>
                  <a:pt x="190500" y="120650"/>
                  <a:pt x="190500" y="95250"/>
                </a:cubicBezTo>
                <a:cubicBezTo>
                  <a:pt x="190500" y="42664"/>
                  <a:pt x="147836" y="0"/>
                  <a:pt x="95250" y="0"/>
                </a:cubicBezTo>
                <a:cubicBezTo>
                  <a:pt x="42664" y="0"/>
                  <a:pt x="0" y="42664"/>
                  <a:pt x="0" y="95250"/>
                </a:cubicBezTo>
                <a:cubicBezTo>
                  <a:pt x="0" y="120650"/>
                  <a:pt x="9922" y="143718"/>
                  <a:pt x="26144" y="160784"/>
                </a:cubicBezTo>
                <a:cubicBezTo>
                  <a:pt x="34330" y="169416"/>
                  <a:pt x="41622" y="179437"/>
                  <a:pt x="45194" y="190500"/>
                </a:cubicBezTo>
                <a:lnTo>
                  <a:pt x="145256" y="190500"/>
                </a:lnTo>
                <a:close/>
                <a:moveTo>
                  <a:pt x="142875" y="214313"/>
                </a:moveTo>
                <a:lnTo>
                  <a:pt x="47625" y="214313"/>
                </a:lnTo>
                <a:lnTo>
                  <a:pt x="47625" y="222250"/>
                </a:lnTo>
                <a:cubicBezTo>
                  <a:pt x="47625" y="244177"/>
                  <a:pt x="65385" y="261937"/>
                  <a:pt x="87313" y="261937"/>
                </a:cubicBezTo>
                <a:lnTo>
                  <a:pt x="103188" y="261937"/>
                </a:lnTo>
                <a:cubicBezTo>
                  <a:pt x="125115" y="261937"/>
                  <a:pt x="142875" y="244177"/>
                  <a:pt x="142875" y="222250"/>
                </a:cubicBezTo>
                <a:lnTo>
                  <a:pt x="142875" y="214313"/>
                </a:lnTo>
                <a:close/>
                <a:moveTo>
                  <a:pt x="91281" y="55563"/>
                </a:moveTo>
                <a:cubicBezTo>
                  <a:pt x="71537" y="55563"/>
                  <a:pt x="55563" y="71537"/>
                  <a:pt x="55563" y="91281"/>
                </a:cubicBezTo>
                <a:cubicBezTo>
                  <a:pt x="55563" y="97879"/>
                  <a:pt x="50254" y="103188"/>
                  <a:pt x="43656" y="103188"/>
                </a:cubicBezTo>
                <a:cubicBezTo>
                  <a:pt x="37058" y="103188"/>
                  <a:pt x="31750" y="97879"/>
                  <a:pt x="31750" y="91281"/>
                </a:cubicBezTo>
                <a:cubicBezTo>
                  <a:pt x="31750" y="58390"/>
                  <a:pt x="58390" y="31750"/>
                  <a:pt x="91281" y="31750"/>
                </a:cubicBezTo>
                <a:cubicBezTo>
                  <a:pt x="97879" y="31750"/>
                  <a:pt x="103188" y="37058"/>
                  <a:pt x="103188" y="43656"/>
                </a:cubicBezTo>
                <a:cubicBezTo>
                  <a:pt x="103188" y="50254"/>
                  <a:pt x="97879" y="55563"/>
                  <a:pt x="91281" y="55563"/>
                </a:cubicBezTo>
                <a:close/>
              </a:path>
            </a:pathLst>
          </a:custGeom>
          <a:solidFill>
            <a:srgbClr val="FFD1D1"/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21" name="Text 18"/>
          <p:cNvSpPr/>
          <p:nvPr/>
        </p:nvSpPr>
        <p:spPr>
          <a:xfrm>
            <a:off x="863600" y="3088640"/>
            <a:ext cx="11673840" cy="28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4D4D4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实践建议</a:t>
            </a:r>
            <a:endParaRPr lang="en-US" sz="1280" dirty="0">
              <a:solidFill>
                <a:srgbClr val="4D4D4D"/>
              </a:solidFill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09600" y="3495040"/>
            <a:ext cx="3860800" cy="812800"/>
          </a:xfrm>
          <a:custGeom>
            <a:avLst/>
            <a:gdLst/>
            <a:ahLst/>
            <a:cxnLst/>
            <a:rect l="l" t="t" r="r" b="b"/>
            <a:pathLst>
              <a:path w="4826000" h="1016000">
                <a:moveTo>
                  <a:pt x="101600" y="0"/>
                </a:moveTo>
                <a:lnTo>
                  <a:pt x="4724400" y="0"/>
                </a:lnTo>
                <a:cubicBezTo>
                  <a:pt x="4780475" y="0"/>
                  <a:pt x="4826000" y="45525"/>
                  <a:pt x="4826000" y="101600"/>
                </a:cubicBezTo>
                <a:lnTo>
                  <a:pt x="4826000" y="914400"/>
                </a:lnTo>
                <a:cubicBezTo>
                  <a:pt x="4826000" y="970475"/>
                  <a:pt x="4780475" y="1016000"/>
                  <a:pt x="47244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CE9A9A">
              <a:alpha val="10196"/>
            </a:srgbClr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23" name="Text 20"/>
          <p:cNvSpPr/>
          <p:nvPr/>
        </p:nvSpPr>
        <p:spPr>
          <a:xfrm>
            <a:off x="731520" y="3616960"/>
            <a:ext cx="369824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0" b="1" dirty="0">
                <a:solidFill>
                  <a:srgbClr val="4D4D4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身份策略</a:t>
            </a:r>
            <a:endParaRPr lang="en-US" sz="1280" dirty="0">
              <a:solidFill>
                <a:srgbClr val="4D4D4D"/>
              </a:solidFill>
            </a:endParaRPr>
          </a:p>
        </p:txBody>
      </p:sp>
      <p:sp>
        <p:nvSpPr>
          <p:cNvPr id="24" name="Text 21"/>
          <p:cNvSpPr/>
          <p:nvPr/>
        </p:nvSpPr>
        <p:spPr>
          <a:xfrm>
            <a:off x="731520" y="3942080"/>
            <a:ext cx="369824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0" dirty="0">
                <a:solidFill>
                  <a:srgbClr val="4D4D4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适度使用具体身份建立权威，但不必过度强调</a:t>
            </a:r>
            <a:endParaRPr lang="en-US" sz="1280" dirty="0">
              <a:solidFill>
                <a:srgbClr val="4D4D4D"/>
              </a:solidFill>
            </a:endParaRPr>
          </a:p>
        </p:txBody>
      </p:sp>
      <p:sp>
        <p:nvSpPr>
          <p:cNvPr id="25" name="Shape 22"/>
          <p:cNvSpPr/>
          <p:nvPr/>
        </p:nvSpPr>
        <p:spPr>
          <a:xfrm>
            <a:off x="4592320" y="3495040"/>
            <a:ext cx="3860800" cy="812800"/>
          </a:xfrm>
          <a:custGeom>
            <a:avLst/>
            <a:gdLst/>
            <a:ahLst/>
            <a:cxnLst/>
            <a:rect l="l" t="t" r="r" b="b"/>
            <a:pathLst>
              <a:path w="4826000" h="1016000">
                <a:moveTo>
                  <a:pt x="101600" y="0"/>
                </a:moveTo>
                <a:lnTo>
                  <a:pt x="4724400" y="0"/>
                </a:lnTo>
                <a:cubicBezTo>
                  <a:pt x="4780475" y="0"/>
                  <a:pt x="4826000" y="45525"/>
                  <a:pt x="4826000" y="101600"/>
                </a:cubicBezTo>
                <a:lnTo>
                  <a:pt x="4826000" y="914400"/>
                </a:lnTo>
                <a:cubicBezTo>
                  <a:pt x="4826000" y="970475"/>
                  <a:pt x="4780475" y="1016000"/>
                  <a:pt x="47244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CE9A9A">
              <a:alpha val="10196"/>
            </a:srgbClr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26" name="Text 23"/>
          <p:cNvSpPr/>
          <p:nvPr/>
        </p:nvSpPr>
        <p:spPr>
          <a:xfrm>
            <a:off x="4714240" y="3616960"/>
            <a:ext cx="369824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0" b="1" dirty="0">
                <a:solidFill>
                  <a:srgbClr val="4D4D4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证据策略</a:t>
            </a:r>
            <a:endParaRPr lang="en-US" sz="1280" dirty="0">
              <a:solidFill>
                <a:srgbClr val="4D4D4D"/>
              </a:solidFill>
            </a:endParaRPr>
          </a:p>
        </p:txBody>
      </p:sp>
      <p:sp>
        <p:nvSpPr>
          <p:cNvPr id="27" name="Text 24"/>
          <p:cNvSpPr/>
          <p:nvPr/>
        </p:nvSpPr>
        <p:spPr>
          <a:xfrm>
            <a:off x="4714240" y="3942080"/>
            <a:ext cx="369824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0" dirty="0">
                <a:solidFill>
                  <a:srgbClr val="4D4D4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优先采用L4级证据，提供详细过程和量化数据</a:t>
            </a:r>
            <a:endParaRPr lang="en-US" sz="1280" dirty="0">
              <a:solidFill>
                <a:srgbClr val="4D4D4D"/>
              </a:solidFill>
            </a:endParaRPr>
          </a:p>
        </p:txBody>
      </p:sp>
      <p:sp>
        <p:nvSpPr>
          <p:cNvPr id="28" name="Shape 25"/>
          <p:cNvSpPr/>
          <p:nvPr/>
        </p:nvSpPr>
        <p:spPr>
          <a:xfrm>
            <a:off x="8575040" y="3495040"/>
            <a:ext cx="3860800" cy="812800"/>
          </a:xfrm>
          <a:custGeom>
            <a:avLst/>
            <a:gdLst/>
            <a:ahLst/>
            <a:cxnLst/>
            <a:rect l="l" t="t" r="r" b="b"/>
            <a:pathLst>
              <a:path w="4826000" h="1016000">
                <a:moveTo>
                  <a:pt x="101600" y="0"/>
                </a:moveTo>
                <a:lnTo>
                  <a:pt x="4724400" y="0"/>
                </a:lnTo>
                <a:cubicBezTo>
                  <a:pt x="4780475" y="0"/>
                  <a:pt x="4826000" y="45525"/>
                  <a:pt x="4826000" y="101600"/>
                </a:cubicBezTo>
                <a:lnTo>
                  <a:pt x="4826000" y="914400"/>
                </a:lnTo>
                <a:cubicBezTo>
                  <a:pt x="4826000" y="970475"/>
                  <a:pt x="4780475" y="1016000"/>
                  <a:pt x="47244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CE9A9A">
              <a:alpha val="10196"/>
            </a:srgbClr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29" name="Text 26"/>
          <p:cNvSpPr/>
          <p:nvPr/>
        </p:nvSpPr>
        <p:spPr>
          <a:xfrm>
            <a:off x="8696960" y="3616960"/>
            <a:ext cx="369824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0" b="1" dirty="0">
                <a:solidFill>
                  <a:srgbClr val="4D4D4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人称策略</a:t>
            </a:r>
            <a:endParaRPr lang="en-US" sz="1280" dirty="0">
              <a:solidFill>
                <a:srgbClr val="4D4D4D"/>
              </a:solidFill>
            </a:endParaRPr>
          </a:p>
        </p:txBody>
      </p:sp>
      <p:sp>
        <p:nvSpPr>
          <p:cNvPr id="30" name="Text 27"/>
          <p:cNvSpPr/>
          <p:nvPr/>
        </p:nvSpPr>
        <p:spPr>
          <a:xfrm>
            <a:off x="8696960" y="3942080"/>
            <a:ext cx="369824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0" dirty="0">
                <a:solidFill>
                  <a:srgbClr val="4D4D4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采用分享型人称，以经验分享而非指导口吻</a:t>
            </a:r>
            <a:endParaRPr lang="en-US" sz="1280" dirty="0">
              <a:solidFill>
                <a:srgbClr val="4D4D4D"/>
              </a:solidFill>
            </a:endParaRPr>
          </a:p>
        </p:txBody>
      </p:sp>
      <p:sp>
        <p:nvSpPr>
          <p:cNvPr id="31" name="Shape 28"/>
          <p:cNvSpPr/>
          <p:nvPr/>
        </p:nvSpPr>
        <p:spPr>
          <a:xfrm>
            <a:off x="426720" y="4592320"/>
            <a:ext cx="12171680" cy="1463040"/>
          </a:xfrm>
          <a:custGeom>
            <a:avLst/>
            <a:gdLst/>
            <a:ahLst/>
            <a:cxnLst/>
            <a:rect l="l" t="t" r="r" b="b"/>
            <a:pathLst>
              <a:path w="15214600" h="1828800">
                <a:moveTo>
                  <a:pt x="50800" y="0"/>
                </a:moveTo>
                <a:lnTo>
                  <a:pt x="15062206" y="0"/>
                </a:lnTo>
                <a:cubicBezTo>
                  <a:pt x="15146371" y="0"/>
                  <a:pt x="15214600" y="68229"/>
                  <a:pt x="15214600" y="152394"/>
                </a:cubicBezTo>
                <a:lnTo>
                  <a:pt x="15214600" y="1676406"/>
                </a:lnTo>
                <a:cubicBezTo>
                  <a:pt x="15214600" y="1760571"/>
                  <a:pt x="15146371" y="1828800"/>
                  <a:pt x="15062206" y="1828800"/>
                </a:cubicBezTo>
                <a:lnTo>
                  <a:pt x="50800" y="1828800"/>
                </a:lnTo>
                <a:cubicBezTo>
                  <a:pt x="22763" y="1828800"/>
                  <a:pt x="0" y="1806037"/>
                  <a:pt x="0" y="1778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 sz="1440"/>
          </a:p>
        </p:txBody>
      </p:sp>
      <p:sp>
        <p:nvSpPr>
          <p:cNvPr id="32" name="Shape 29"/>
          <p:cNvSpPr/>
          <p:nvPr/>
        </p:nvSpPr>
        <p:spPr>
          <a:xfrm>
            <a:off x="426720" y="4592320"/>
            <a:ext cx="40640" cy="1463040"/>
          </a:xfrm>
          <a:custGeom>
            <a:avLst/>
            <a:gdLst/>
            <a:ahLst/>
            <a:cxnLst/>
            <a:rect l="l" t="t" r="r" b="b"/>
            <a:pathLst>
              <a:path w="50800" h="1828800">
                <a:moveTo>
                  <a:pt x="50800" y="0"/>
                </a:moveTo>
                <a:lnTo>
                  <a:pt x="50800" y="0"/>
                </a:lnTo>
                <a:lnTo>
                  <a:pt x="50800" y="1828800"/>
                </a:lnTo>
                <a:lnTo>
                  <a:pt x="50800" y="1828800"/>
                </a:lnTo>
                <a:cubicBezTo>
                  <a:pt x="22763" y="1828800"/>
                  <a:pt x="0" y="1806037"/>
                  <a:pt x="0" y="1778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ED1C6"/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33" name="Shape 30"/>
          <p:cNvSpPr/>
          <p:nvPr/>
        </p:nvSpPr>
        <p:spPr>
          <a:xfrm>
            <a:off x="635000" y="479552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158750"/>
                </a:moveTo>
                <a:lnTo>
                  <a:pt x="12154" y="158750"/>
                </a:lnTo>
                <a:cubicBezTo>
                  <a:pt x="-198" y="158750"/>
                  <a:pt x="-7789" y="145306"/>
                  <a:pt x="-1439" y="134689"/>
                </a:cubicBezTo>
                <a:lnTo>
                  <a:pt x="24805" y="90934"/>
                </a:lnTo>
                <a:cubicBezTo>
                  <a:pt x="29121" y="83741"/>
                  <a:pt x="36860" y="79375"/>
                  <a:pt x="45244" y="79375"/>
                </a:cubicBezTo>
                <a:lnTo>
                  <a:pt x="92373" y="79375"/>
                </a:lnTo>
                <a:cubicBezTo>
                  <a:pt x="130125" y="15429"/>
                  <a:pt x="186432" y="12204"/>
                  <a:pt x="224086" y="17711"/>
                </a:cubicBezTo>
                <a:cubicBezTo>
                  <a:pt x="230436" y="18653"/>
                  <a:pt x="235396" y="23614"/>
                  <a:pt x="236289" y="29914"/>
                </a:cubicBezTo>
                <a:cubicBezTo>
                  <a:pt x="241796" y="67568"/>
                  <a:pt x="238571" y="123875"/>
                  <a:pt x="174625" y="161627"/>
                </a:cubicBezTo>
                <a:lnTo>
                  <a:pt x="174625" y="208756"/>
                </a:lnTo>
                <a:cubicBezTo>
                  <a:pt x="174625" y="217140"/>
                  <a:pt x="170259" y="224879"/>
                  <a:pt x="163066" y="229195"/>
                </a:cubicBezTo>
                <a:lnTo>
                  <a:pt x="119311" y="255439"/>
                </a:lnTo>
                <a:cubicBezTo>
                  <a:pt x="108744" y="261789"/>
                  <a:pt x="95250" y="254149"/>
                  <a:pt x="95250" y="241846"/>
                </a:cubicBezTo>
                <a:lnTo>
                  <a:pt x="95250" y="190500"/>
                </a:lnTo>
                <a:cubicBezTo>
                  <a:pt x="95250" y="172988"/>
                  <a:pt x="81012" y="158750"/>
                  <a:pt x="63500" y="158750"/>
                </a:cubicBezTo>
                <a:lnTo>
                  <a:pt x="63450" y="158750"/>
                </a:lnTo>
                <a:close/>
                <a:moveTo>
                  <a:pt x="198438" y="79375"/>
                </a:moveTo>
                <a:cubicBezTo>
                  <a:pt x="198438" y="66233"/>
                  <a:pt x="187767" y="55563"/>
                  <a:pt x="174625" y="55563"/>
                </a:cubicBezTo>
                <a:cubicBezTo>
                  <a:pt x="161483" y="55563"/>
                  <a:pt x="150813" y="66233"/>
                  <a:pt x="150813" y="79375"/>
                </a:cubicBezTo>
                <a:cubicBezTo>
                  <a:pt x="150813" y="92517"/>
                  <a:pt x="161483" y="103188"/>
                  <a:pt x="174625" y="103188"/>
                </a:cubicBezTo>
                <a:cubicBezTo>
                  <a:pt x="187767" y="103188"/>
                  <a:pt x="198438" y="92517"/>
                  <a:pt x="198438" y="79375"/>
                </a:cubicBezTo>
                <a:close/>
              </a:path>
            </a:pathLst>
          </a:custGeom>
          <a:solidFill>
            <a:srgbClr val="CE9A9A"/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34" name="Text 31"/>
          <p:cNvSpPr/>
          <p:nvPr/>
        </p:nvSpPr>
        <p:spPr>
          <a:xfrm>
            <a:off x="863600" y="4754880"/>
            <a:ext cx="11673840" cy="28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4D4D4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未来研究方向</a:t>
            </a:r>
            <a:endParaRPr lang="en-US" sz="1280" dirty="0">
              <a:solidFill>
                <a:srgbClr val="4D4D4D"/>
              </a:solidFill>
            </a:endParaRPr>
          </a:p>
        </p:txBody>
      </p:sp>
      <p:sp>
        <p:nvSpPr>
          <p:cNvPr id="35" name="Shape 32"/>
          <p:cNvSpPr/>
          <p:nvPr/>
        </p:nvSpPr>
        <p:spPr>
          <a:xfrm>
            <a:off x="609600" y="5161280"/>
            <a:ext cx="284480" cy="28448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cubicBezTo>
                  <a:pt x="275930" y="0"/>
                  <a:pt x="355600" y="79670"/>
                  <a:pt x="355600" y="177800"/>
                </a:cubicBezTo>
                <a:lnTo>
                  <a:pt x="355600" y="177800"/>
                </a:lnTo>
                <a:cubicBezTo>
                  <a:pt x="355600" y="275930"/>
                  <a:pt x="275930" y="355600"/>
                  <a:pt x="1778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C17D7D"/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36" name="Text 33"/>
          <p:cNvSpPr/>
          <p:nvPr/>
        </p:nvSpPr>
        <p:spPr>
          <a:xfrm>
            <a:off x="574040" y="5161280"/>
            <a:ext cx="355600" cy="28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2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280" dirty="0"/>
          </a:p>
        </p:txBody>
      </p:sp>
      <p:sp>
        <p:nvSpPr>
          <p:cNvPr id="37" name="Text 34"/>
          <p:cNvSpPr/>
          <p:nvPr/>
        </p:nvSpPr>
        <p:spPr>
          <a:xfrm>
            <a:off x="975360" y="5181600"/>
            <a:ext cx="5527675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0" dirty="0">
                <a:solidFill>
                  <a:srgbClr val="4D4D4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将研究框架</a:t>
            </a:r>
            <a:r>
              <a:rPr lang="zh-CN" altLang="en-US" sz="1280" dirty="0">
                <a:solidFill>
                  <a:srgbClr val="4D4D4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延申</a:t>
            </a:r>
            <a:r>
              <a:rPr lang="en-US" sz="1280" dirty="0">
                <a:solidFill>
                  <a:srgbClr val="4D4D4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应用于美妆、穿搭等其他内容垂直领域，验证策略的普适性</a:t>
            </a:r>
            <a:endParaRPr lang="en-US" sz="1280" dirty="0">
              <a:solidFill>
                <a:srgbClr val="4D4D4D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6604000" y="5161280"/>
            <a:ext cx="284480" cy="28448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cubicBezTo>
                  <a:pt x="275930" y="0"/>
                  <a:pt x="355600" y="79670"/>
                  <a:pt x="355600" y="177800"/>
                </a:cubicBezTo>
                <a:lnTo>
                  <a:pt x="355600" y="177800"/>
                </a:lnTo>
                <a:cubicBezTo>
                  <a:pt x="355600" y="275930"/>
                  <a:pt x="275930" y="355600"/>
                  <a:pt x="1778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C17D7D"/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39" name="Text 36"/>
          <p:cNvSpPr/>
          <p:nvPr/>
        </p:nvSpPr>
        <p:spPr>
          <a:xfrm>
            <a:off x="6568440" y="5161280"/>
            <a:ext cx="355600" cy="28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2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280" dirty="0"/>
          </a:p>
        </p:txBody>
      </p:sp>
      <p:sp>
        <p:nvSpPr>
          <p:cNvPr id="40" name="Text 37"/>
          <p:cNvSpPr/>
          <p:nvPr/>
        </p:nvSpPr>
        <p:spPr>
          <a:xfrm>
            <a:off x="6969760" y="5181600"/>
            <a:ext cx="417322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0" dirty="0">
                <a:solidFill>
                  <a:srgbClr val="4D4D4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深入分析不同</a:t>
            </a:r>
            <a:r>
              <a:rPr lang="zh-CN" altLang="en-US" sz="1280" dirty="0">
                <a:solidFill>
                  <a:srgbClr val="4D4D4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细分</a:t>
            </a:r>
            <a:r>
              <a:rPr lang="en-US" sz="1280" dirty="0">
                <a:solidFill>
                  <a:srgbClr val="4D4D4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内容类型的策略偏好差异</a:t>
            </a:r>
            <a:endParaRPr lang="en-US" sz="1280" dirty="0">
              <a:solidFill>
                <a:srgbClr val="4D4D4D"/>
              </a:solidFill>
            </a:endParaRPr>
          </a:p>
        </p:txBody>
      </p:sp>
      <p:sp>
        <p:nvSpPr>
          <p:cNvPr id="41" name="Shape 38"/>
          <p:cNvSpPr/>
          <p:nvPr/>
        </p:nvSpPr>
        <p:spPr>
          <a:xfrm>
            <a:off x="609600" y="5608320"/>
            <a:ext cx="284480" cy="28448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cubicBezTo>
                  <a:pt x="275930" y="0"/>
                  <a:pt x="355600" y="79670"/>
                  <a:pt x="355600" y="177800"/>
                </a:cubicBezTo>
                <a:lnTo>
                  <a:pt x="355600" y="177800"/>
                </a:lnTo>
                <a:cubicBezTo>
                  <a:pt x="355600" y="275930"/>
                  <a:pt x="275930" y="355600"/>
                  <a:pt x="1778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C17D7D"/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42" name="Text 39"/>
          <p:cNvSpPr/>
          <p:nvPr/>
        </p:nvSpPr>
        <p:spPr>
          <a:xfrm>
            <a:off x="574040" y="5608320"/>
            <a:ext cx="355600" cy="28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2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endParaRPr lang="en-US" sz="1280" dirty="0"/>
          </a:p>
        </p:txBody>
      </p:sp>
      <p:sp>
        <p:nvSpPr>
          <p:cNvPr id="43" name="Text 40"/>
          <p:cNvSpPr/>
          <p:nvPr/>
        </p:nvSpPr>
        <p:spPr>
          <a:xfrm>
            <a:off x="975360" y="5628640"/>
            <a:ext cx="507873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0" dirty="0">
                <a:solidFill>
                  <a:srgbClr val="4D4D4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对比分析不同社交媒体平台（如B站、抖音）的</a:t>
            </a:r>
            <a:r>
              <a:rPr lang="zh-CN" altLang="en-US" sz="1280" dirty="0">
                <a:solidFill>
                  <a:srgbClr val="4D4D4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校园博主</a:t>
            </a:r>
            <a:r>
              <a:rPr lang="en-US" sz="1280" dirty="0">
                <a:solidFill>
                  <a:srgbClr val="4D4D4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语言策略差异</a:t>
            </a:r>
            <a:endParaRPr lang="en-US" sz="1280" dirty="0">
              <a:solidFill>
                <a:srgbClr val="4D4D4D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6604000" y="5608320"/>
            <a:ext cx="284480" cy="28448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cubicBezTo>
                  <a:pt x="275930" y="0"/>
                  <a:pt x="355600" y="79670"/>
                  <a:pt x="355600" y="177800"/>
                </a:cubicBezTo>
                <a:lnTo>
                  <a:pt x="355600" y="177800"/>
                </a:lnTo>
                <a:cubicBezTo>
                  <a:pt x="355600" y="275930"/>
                  <a:pt x="275930" y="355600"/>
                  <a:pt x="1778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C17D7D"/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45" name="Text 42"/>
          <p:cNvSpPr/>
          <p:nvPr/>
        </p:nvSpPr>
        <p:spPr>
          <a:xfrm>
            <a:off x="6568440" y="5608320"/>
            <a:ext cx="355600" cy="28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2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</a:t>
            </a:r>
            <a:endParaRPr lang="en-US" sz="1280" dirty="0"/>
          </a:p>
        </p:txBody>
      </p:sp>
      <p:sp>
        <p:nvSpPr>
          <p:cNvPr id="46" name="Text 43"/>
          <p:cNvSpPr/>
          <p:nvPr/>
        </p:nvSpPr>
        <p:spPr>
          <a:xfrm>
            <a:off x="6969760" y="5628640"/>
            <a:ext cx="3913505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0" dirty="0">
                <a:solidFill>
                  <a:srgbClr val="4D4D4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进行长期纵向研究，观察策略效果随时间的变化趋势</a:t>
            </a:r>
            <a:endParaRPr lang="en-US" sz="1280" dirty="0">
              <a:solidFill>
                <a:srgbClr val="4D4D4D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416560" y="6268720"/>
            <a:ext cx="12171680" cy="629920"/>
          </a:xfrm>
          <a:custGeom>
            <a:avLst/>
            <a:gdLst/>
            <a:ahLst/>
            <a:cxnLst/>
            <a:rect l="l" t="t" r="r" b="b"/>
            <a:pathLst>
              <a:path w="15214600" h="787400">
                <a:moveTo>
                  <a:pt x="152401" y="0"/>
                </a:moveTo>
                <a:lnTo>
                  <a:pt x="15062199" y="0"/>
                </a:lnTo>
                <a:cubicBezTo>
                  <a:pt x="15146368" y="0"/>
                  <a:pt x="15214600" y="68232"/>
                  <a:pt x="15214600" y="152401"/>
                </a:cubicBezTo>
                <a:lnTo>
                  <a:pt x="15214600" y="634999"/>
                </a:lnTo>
                <a:cubicBezTo>
                  <a:pt x="15214600" y="719168"/>
                  <a:pt x="15146368" y="787400"/>
                  <a:pt x="15062199" y="787400"/>
                </a:cubicBezTo>
                <a:lnTo>
                  <a:pt x="152401" y="787400"/>
                </a:lnTo>
                <a:cubicBezTo>
                  <a:pt x="68232" y="787400"/>
                  <a:pt x="0" y="719168"/>
                  <a:pt x="0" y="634999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D88C8C">
              <a:alpha val="10196"/>
            </a:srgbClr>
          </a:solidFill>
          <a:ln w="25400">
            <a:solidFill>
              <a:srgbClr val="8FBC8F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 sz="1440"/>
          </a:p>
        </p:txBody>
      </p:sp>
      <p:sp>
        <p:nvSpPr>
          <p:cNvPr id="48" name="Shape 45"/>
          <p:cNvSpPr/>
          <p:nvPr/>
        </p:nvSpPr>
        <p:spPr>
          <a:xfrm>
            <a:off x="5808769" y="648208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19559" y="43210"/>
                </a:moveTo>
                <a:lnTo>
                  <a:pt x="127000" y="53479"/>
                </a:lnTo>
                <a:lnTo>
                  <a:pt x="134441" y="43210"/>
                </a:lnTo>
                <a:cubicBezTo>
                  <a:pt x="146844" y="26045"/>
                  <a:pt x="166787" y="15875"/>
                  <a:pt x="187970" y="15875"/>
                </a:cubicBezTo>
                <a:cubicBezTo>
                  <a:pt x="224433" y="15875"/>
                  <a:pt x="254000" y="45442"/>
                  <a:pt x="254000" y="81905"/>
                </a:cubicBezTo>
                <a:lnTo>
                  <a:pt x="254000" y="83195"/>
                </a:lnTo>
                <a:cubicBezTo>
                  <a:pt x="254000" y="138857"/>
                  <a:pt x="184596" y="203498"/>
                  <a:pt x="148382" y="231130"/>
                </a:cubicBezTo>
                <a:cubicBezTo>
                  <a:pt x="142230" y="235793"/>
                  <a:pt x="134689" y="238125"/>
                  <a:pt x="127000" y="238125"/>
                </a:cubicBezTo>
                <a:cubicBezTo>
                  <a:pt x="119311" y="238125"/>
                  <a:pt x="111720" y="235843"/>
                  <a:pt x="105618" y="231130"/>
                </a:cubicBezTo>
                <a:cubicBezTo>
                  <a:pt x="69404" y="203498"/>
                  <a:pt x="0" y="138857"/>
                  <a:pt x="0" y="83195"/>
                </a:cubicBezTo>
                <a:lnTo>
                  <a:pt x="0" y="81905"/>
                </a:lnTo>
                <a:cubicBezTo>
                  <a:pt x="0" y="45442"/>
                  <a:pt x="29567" y="15875"/>
                  <a:pt x="66030" y="15875"/>
                </a:cubicBezTo>
                <a:cubicBezTo>
                  <a:pt x="87213" y="15875"/>
                  <a:pt x="107156" y="26045"/>
                  <a:pt x="119559" y="43210"/>
                </a:cubicBezTo>
                <a:close/>
              </a:path>
            </a:pathLst>
          </a:custGeom>
          <a:solidFill>
            <a:srgbClr val="C17D7D"/>
          </a:solidFill>
        </p:spPr>
        <p:txBody>
          <a:bodyPr/>
          <a:lstStyle/>
          <a:p>
            <a:endParaRPr lang="zh-CN" altLang="en-US" sz="1440"/>
          </a:p>
        </p:txBody>
      </p:sp>
      <p:sp>
        <p:nvSpPr>
          <p:cNvPr id="49" name="Text 46"/>
          <p:cNvSpPr/>
          <p:nvPr/>
        </p:nvSpPr>
        <p:spPr>
          <a:xfrm>
            <a:off x="914400" y="6441440"/>
            <a:ext cx="11551920" cy="28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4D4D4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感谢观看！</a:t>
            </a:r>
            <a:endParaRPr lang="en-US" sz="1280" dirty="0">
              <a:solidFill>
                <a:srgbClr val="4D4D4D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5504815" y="248920"/>
            <a:ext cx="709358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通过对863份有效样本的量化分析，本研究系统解构并验证了小红书校园博主构建读者信任的语言策略。核心研究发现如下：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COMMONDATA" val="eyJoZGlkIjoiY2I5NDQxNTBiMDk3YjQ4NmFkNzBlZmU2NWUxNThmYzMifQ==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4731</Words>
  <Application>WPS 演示</Application>
  <PresentationFormat>自定义</PresentationFormat>
  <Paragraphs>681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14</vt:i4>
      </vt:variant>
    </vt:vector>
  </HeadingPairs>
  <TitlesOfParts>
    <vt:vector size="39" baseType="lpstr">
      <vt:lpstr>Arial</vt:lpstr>
      <vt:lpstr>宋体</vt:lpstr>
      <vt:lpstr>Wingdings</vt:lpstr>
      <vt:lpstr>华文中宋</vt:lpstr>
      <vt:lpstr>Noto Sans SC</vt:lpstr>
      <vt:lpstr>Noto Sans SC Medium</vt:lpstr>
      <vt:lpstr>Noto Serif SC Medium</vt:lpstr>
      <vt:lpstr>Noto Sans SC</vt:lpstr>
      <vt:lpstr>MiSans</vt:lpstr>
      <vt:lpstr>FFont-Family</vt:lpstr>
      <vt:lpstr>MiSans</vt:lpstr>
      <vt:lpstr>MiSans</vt:lpstr>
      <vt:lpstr>Calibri</vt:lpstr>
      <vt:lpstr>等线</vt:lpstr>
      <vt:lpstr>quote-cjk-patch</vt:lpstr>
      <vt:lpstr>仿宋</vt:lpstr>
      <vt:lpstr>新宋体</vt:lpstr>
      <vt:lpstr>微软雅黑</vt:lpstr>
      <vt:lpstr>Arial Unicode MS</vt:lpstr>
      <vt:lpstr>MingLiU-ExtB</vt:lpstr>
      <vt:lpstr>Calibri</vt:lpstr>
      <vt:lpstr>quote-cjk-patch</vt:lpstr>
      <vt:lpstr>Custom Theme</vt:lpstr>
      <vt:lpstr>1_Custom Theme</vt:lpstr>
      <vt:lpstr>2_Custom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xiaohongshu_trust_analysis</dc:title>
  <dc:creator>Kimi</dc:creator>
  <dc:subject>xiaohongshu_trust_analysis</dc:subject>
  <cp:lastModifiedBy>ASUS</cp:lastModifiedBy>
  <cp:revision>29</cp:revision>
  <dcterms:created xsi:type="dcterms:W3CDTF">2025-12-07T14:58:00Z</dcterms:created>
  <dcterms:modified xsi:type="dcterms:W3CDTF">2026-10-03T14:49:54Z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{"Label":"xiaohongshu_trust_analysis","ContentProducer":"001191110108MACG2KBH8F10000","ProduceID":"d4qpbq2f7cat29sc0obg","ReservedCode1":"","ContentPropagator":"001191110108MACG2KBH8F20000","PropagateID":"d4qpbq2f7cat29sc0obg","ReservedCode2":""}</vt:lpwstr>
  </property>
  <property fmtid="{D5CDD505-2E9C-101B-9397-08002B2CF9AE}" pid="3" name="ICV">
    <vt:lpwstr>06AEB7F2AF8B4EEBB58AB0F001F81649_13</vt:lpwstr>
  </property>
  <property fmtid="{D5CDD505-2E9C-101B-9397-08002B2CF9AE}" pid="4" name="KSOProductBuildVer">
    <vt:lpwstr>2052-12.1.0.25225</vt:lpwstr>
  </property>
</Properties>
</file>